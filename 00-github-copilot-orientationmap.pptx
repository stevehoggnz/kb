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4"/>
  </p:notesMasterIdLst>
  <p:sldIdLst>
    <p:sldId id="273" r:id="rId2"/>
    <p:sldId id="272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36"/>
    <p:restoredTop sz="94722"/>
  </p:normalViewPr>
  <p:slideViewPr>
    <p:cSldViewPr snapToGrid="0">
      <p:cViewPr varScale="1">
        <p:scale>
          <a:sx n="161" d="100"/>
          <a:sy n="161" d="100"/>
        </p:scale>
        <p:origin x="888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29408-5D1F-A34E-974E-CDD20D288C6D}" type="datetimeFigureOut">
              <a:rPr lang="en-US" smtClean="0"/>
              <a:t>4/2/26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BA7490-3389-0F4D-B7EB-D0554B420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238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BA7490-3389-0F4D-B7EB-D0554B4203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687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 is probably the weakest suggestion with the state-of-the-art agents, they’re very good at planning multiple changes and tracking progress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BA7490-3389-0F4D-B7EB-D0554B42036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302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5C281-A7CA-BB67-5592-7EFB510950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2EFADA-BEDF-F8AC-2587-807FFE379C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64C27-4A86-4661-F913-2103537D4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8EFDD-AB31-6447-AD1F-82F80EBD3F6C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4B2ED-5A09-A301-DCE8-6BE3141EC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FBF30-A413-F22B-D88E-8655C67C9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E4002-5089-964B-9229-B480AD8C6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551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4B83F-9792-4B97-3DEC-F4523C81B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989CD-F71A-28E9-EBD2-9C63AB6C0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943854-7F19-B1A9-DC9C-07A93956F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8EFDD-AB31-6447-AD1F-82F80EBD3F6C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69311B-CC2C-DB19-D8BA-DC557D353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1016B-1835-6124-28F9-CA8B75E0D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E4002-5089-964B-9229-B480AD8C6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406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D92D9-30C2-3C53-0935-57867AC95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34BEBF-454A-CEFB-3230-F1C163290E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49344-7130-72F9-2C04-F6D025133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8EFDD-AB31-6447-AD1F-82F80EBD3F6C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69B20-34AA-7545-9E02-86C1DF630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E1EC0-2568-CDEA-4B0A-73003DB4B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E4002-5089-964B-9229-B480AD8C6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31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30E35-861B-6698-C7AE-2E7F3F22C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85D30-72A0-976E-FA29-85F6500626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C51F1-D702-F102-A263-0C298A6D09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364CD4-368D-EED5-4A92-3DB3E8E96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8EFDD-AB31-6447-AD1F-82F80EBD3F6C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ED4F34-9B44-0861-8F41-350D29A8C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B8FB8B-2BDC-BE2D-F0AA-4ACD8F9B3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E4002-5089-964B-9229-B480AD8C6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173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FB605-7715-EBA2-A9AA-10CCDF1F2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CDD343-8279-2311-1D1C-F5BFF81C7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105927-55EF-F881-284A-0693DF478E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856037-17E8-4A76-08D2-8EB9743119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2DD344-255A-1012-DB34-CD5F35C564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3E189D-A9B0-4041-8A62-9245A72E3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8EFDD-AB31-6447-AD1F-82F80EBD3F6C}" type="datetimeFigureOut">
              <a:rPr lang="en-US" smtClean="0"/>
              <a:t>4/2/26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CFB593-BE30-8E7D-B845-C9FD8F184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693B1F-963D-D0EF-85A7-222213808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E4002-5089-964B-9229-B480AD8C6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96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2FBDB-2555-84B9-DBD3-70C1815F6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30A804-94B0-7272-41E4-D7E91A82E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8EFDD-AB31-6447-AD1F-82F80EBD3F6C}" type="datetimeFigureOut">
              <a:rPr lang="en-US" smtClean="0"/>
              <a:t>4/2/26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E8AB8E-FDEE-DA6A-B1AA-1EAA148F0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8900D0-D8B2-055A-394C-D8C9321A2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E4002-5089-964B-9229-B480AD8C6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331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9FD7C2-6701-E14B-8D10-D4F44D529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8EFDD-AB31-6447-AD1F-82F80EBD3F6C}" type="datetimeFigureOut">
              <a:rPr lang="en-US" smtClean="0"/>
              <a:t>4/2/26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E4E7B7-A55B-0CE8-DB06-B6B64C819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21013-5A61-5F4B-B7C8-3DE2C7A59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E4002-5089-964B-9229-B480AD8C6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488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853A-C744-0BAE-7ACA-862FC99BC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A1F6E-3C3A-D085-5968-C2375BC82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92374C-E971-E1C9-55F9-1B33C4BF59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D66A9C-9B04-BEC3-02CA-9861E283F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8EFDD-AB31-6447-AD1F-82F80EBD3F6C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5FEEC1-B044-16CC-2296-1494F7D33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9BEE5C-1109-102A-E871-D4633E188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E4002-5089-964B-9229-B480AD8C6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992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A0A9A-9982-B9F0-F82D-67F5C2F14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BD1939-0475-2A55-D60A-4071A6D26E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878B1-F984-378B-CE20-8CA305B9C3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445054-AA11-ADF3-5627-FDE008CCB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8EFDD-AB31-6447-AD1F-82F80EBD3F6C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E03CA8-E32E-3B5B-E3B6-FB5F7981B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9FC644-94BF-36CC-09A3-4793F472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E4002-5089-964B-9229-B480AD8C6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887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F018-DA5E-CC29-26B1-DF63249D0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EB8986-4F78-AC0C-2497-856C7F44D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22FB8-3F1A-2766-CE4C-7EA24BA00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8EFDD-AB31-6447-AD1F-82F80EBD3F6C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E5E07-7C69-7111-597A-6D51CCB47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5339B-BDAE-EA4C-D7B8-410AED879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E4002-5089-964B-9229-B480AD8C6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598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C64DEE-7460-79E3-8560-66F8FD66CF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24BEC5-09F9-ED45-8441-757A5A555B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6000B-B0D9-46BC-84FA-418DA805D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8EFDD-AB31-6447-AD1F-82F80EBD3F6C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4CE1E-F210-E3C0-82E4-EAD0C67EC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C12BA-72B9-1530-93D2-0AD4B90F1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E4002-5089-964B-9229-B480AD8C6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436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A0BD3E-2907-E99C-56DA-8010E1839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66D4D9-8198-1A3B-39E8-7943C4542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27DE6-635D-2FB8-A13B-F6A73FC702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F8EFDD-AB31-6447-AD1F-82F80EBD3F6C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3FBF9-187C-37C5-9553-CFCE19F34D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FF0A8-7D77-E4B6-544E-A00B6C8B38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0E4002-5089-964B-9229-B480AD8C6CFD}" type="slidenum">
              <a:rPr lang="en-US" smtClean="0"/>
              <a:t>‹#›</a:t>
            </a:fld>
            <a:endParaRPr lang="en-US"/>
          </a:p>
        </p:txBody>
      </p:sp>
      <p:sp>
        <p:nvSpPr>
          <p:cNvPr id="100" name="AccentBar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58906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0F6FC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C9D1D9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rgbClr val="C9D1D9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radientBar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gradFill>
            <a:gsLst>
              <a:gs pos="0">
                <a:srgbClr val="3FB950"/>
              </a:gs>
              <a:gs pos="50000">
                <a:srgbClr val="58A6FF"/>
              </a:gs>
              <a:gs pos="100000">
                <a:srgbClr val="BC8CFF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itle"/>
          <p:cNvSpPr/>
          <p:nvPr/>
        </p:nvSpPr>
        <p:spPr>
          <a:xfrm>
            <a:off x="457200" y="127000"/>
            <a:ext cx="11277600" cy="5588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ctr"/>
          <a:lstStyle/>
          <a:p>
            <a:pPr algn="l"/>
            <a:r>
              <a:rPr lang="en-US" sz="2200" b="1" dirty="0">
                <a:solidFill>
                  <a:srgbClr val="3FB950"/>
                </a:solidFill>
                <a:latin typeface="Segoe UI Semibold"/>
              </a:rPr>
              <a:t>GitHub Copilot Proficiency Matrix</a:t>
            </a:r>
            <a:r>
              <a:rPr lang="en-US" sz="1400" dirty="0">
                <a:solidFill>
                  <a:srgbClr val="8B949E"/>
                </a:solidFill>
                <a:latin typeface="Segoe UI"/>
              </a:rPr>
              <a:t>  |  Feature Threads × Advancement Zones</a:t>
            </a:r>
          </a:p>
        </p:txBody>
      </p:sp>
      <p:sp>
        <p:nvSpPr>
          <p:cNvPr id="11" name="CornerCell"/>
          <p:cNvSpPr/>
          <p:nvPr/>
        </p:nvSpPr>
        <p:spPr>
          <a:xfrm>
            <a:off x="457200" y="787400"/>
            <a:ext cx="1860804" cy="4826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lIns="54000" tIns="36000" rIns="54000" bIns="36000" anchor="ctr"/>
          <a:lstStyle/>
          <a:p>
            <a:pPr algn="ctr"/>
            <a:r>
              <a:rPr lang="en-US" sz="1000" dirty="0">
                <a:solidFill>
                  <a:srgbClr val="8B949E"/>
                </a:solidFill>
                <a:latin typeface="Segoe UI"/>
              </a:rPr>
              <a:t>FEATURE →</a:t>
            </a:r>
          </a:p>
        </p:txBody>
      </p:sp>
      <p:sp>
        <p:nvSpPr>
          <p:cNvPr id="12" name="ZoneHeader1"/>
          <p:cNvSpPr/>
          <p:nvPr/>
        </p:nvSpPr>
        <p:spPr>
          <a:xfrm>
            <a:off x="2343404" y="787400"/>
            <a:ext cx="3088132" cy="4826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lIns="54000" tIns="36000" rIns="54000" bIns="36000" anchor="ctr"/>
          <a:lstStyle/>
          <a:p>
            <a:pPr algn="ctr"/>
            <a:r>
              <a:rPr lang="en-US" sz="1100" b="1" dirty="0">
                <a:solidFill>
                  <a:srgbClr val="3FB950"/>
                </a:solidFill>
                <a:latin typeface="Segoe UI Semibold"/>
              </a:rPr>
              <a:t>Zone 1: Foundational</a:t>
            </a:r>
          </a:p>
          <a:p>
            <a:pPr algn="ctr"/>
            <a:r>
              <a:rPr lang="en-US" sz="800" dirty="0">
                <a:solidFill>
                  <a:srgbClr val="8B949E"/>
                </a:solidFill>
                <a:latin typeface="Segoe UI"/>
              </a:rPr>
              <a:t>Assistive • IDE Editor Level</a:t>
            </a:r>
          </a:p>
        </p:txBody>
      </p:sp>
      <p:sp>
        <p:nvSpPr>
          <p:cNvPr id="13" name="ZoneHeader2"/>
          <p:cNvSpPr/>
          <p:nvPr/>
        </p:nvSpPr>
        <p:spPr>
          <a:xfrm>
            <a:off x="5482336" y="787400"/>
            <a:ext cx="3088132" cy="4826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lIns="54000" tIns="36000" rIns="54000" bIns="36000" anchor="ctr"/>
          <a:lstStyle/>
          <a:p>
            <a:pPr algn="ctr"/>
            <a:r>
              <a:rPr lang="en-US" sz="1100" b="1" dirty="0">
                <a:solidFill>
                  <a:srgbClr val="58A6FF"/>
                </a:solidFill>
                <a:latin typeface="Segoe UI Semibold"/>
              </a:rPr>
              <a:t>Zone 2: Intermediate</a:t>
            </a:r>
          </a:p>
          <a:p>
            <a:pPr algn="ctr"/>
            <a:r>
              <a:rPr lang="en-US" sz="800" dirty="0">
                <a:solidFill>
                  <a:srgbClr val="8B949E"/>
                </a:solidFill>
                <a:latin typeface="Segoe UI"/>
              </a:rPr>
              <a:t>Collaborative • Repository/Team Level</a:t>
            </a:r>
          </a:p>
        </p:txBody>
      </p:sp>
      <p:sp>
        <p:nvSpPr>
          <p:cNvPr id="14" name="ZoneHeader3"/>
          <p:cNvSpPr/>
          <p:nvPr/>
        </p:nvSpPr>
        <p:spPr>
          <a:xfrm>
            <a:off x="8621268" y="787400"/>
            <a:ext cx="3088132" cy="4826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lIns="54000" tIns="36000" rIns="54000" bIns="36000" anchor="ctr"/>
          <a:lstStyle/>
          <a:p>
            <a:pPr algn="ctr"/>
            <a:r>
              <a:rPr lang="en-US" sz="1100" b="1" dirty="0">
                <a:solidFill>
                  <a:srgbClr val="BC8CFF"/>
                </a:solidFill>
                <a:latin typeface="Segoe UI Semibold"/>
              </a:rPr>
              <a:t>Zone 3: Advanced</a:t>
            </a:r>
          </a:p>
          <a:p>
            <a:pPr algn="ctr"/>
            <a:r>
              <a:rPr lang="en-US" sz="800" dirty="0">
                <a:solidFill>
                  <a:srgbClr val="8B949E"/>
                </a:solidFill>
                <a:latin typeface="Segoe UI"/>
              </a:rPr>
              <a:t>Agentic • Architect/Org Level</a:t>
            </a:r>
          </a:p>
        </p:txBody>
      </p:sp>
      <p:sp>
        <p:nvSpPr>
          <p:cNvPr id="15" name="FeatureLabel1"/>
          <p:cNvSpPr/>
          <p:nvPr/>
        </p:nvSpPr>
        <p:spPr>
          <a:xfrm>
            <a:off x="457200" y="1308100"/>
            <a:ext cx="1835404" cy="12065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lIns="54000" tIns="36000" rIns="54000" bIns="36000" anchor="ctr"/>
          <a:lstStyle/>
          <a:p>
            <a:pPr algn="ctr">
              <a:lnSpc>
                <a:spcPts val="1200"/>
              </a:lnSpc>
            </a:pPr>
            <a:r>
              <a:rPr lang="en-US" sz="1100" b="1" dirty="0">
                <a:solidFill>
                  <a:srgbClr val="3FB950"/>
                </a:solidFill>
                <a:latin typeface="Segoe UI Semibold"/>
              </a:rPr>
              <a:t>IDE Workflow</a:t>
            </a:r>
          </a:p>
          <a:p>
            <a:pPr algn="ctr">
              <a:lnSpc>
                <a:spcPts val="1000"/>
              </a:lnSpc>
            </a:pPr>
            <a:r>
              <a:rPr lang="en-US" sz="800" i="1" dirty="0">
                <a:solidFill>
                  <a:srgbClr val="8B949E"/>
                </a:solidFill>
                <a:latin typeface="Segoe UI"/>
              </a:rPr>
              <a:t>The Editor</a:t>
            </a:r>
          </a:p>
        </p:txBody>
      </p:sp>
      <p:sp>
        <p:nvSpPr>
          <p:cNvPr id="16" name="Cell_1_1"/>
          <p:cNvSpPr/>
          <p:nvPr/>
        </p:nvSpPr>
        <p:spPr>
          <a:xfrm>
            <a:off x="2343404" y="1308100"/>
            <a:ext cx="3088132" cy="12065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lIns="54000" tIns="36000" rIns="54000" bIns="36000" anchor="ctr"/>
          <a:lstStyle/>
          <a:p>
            <a:pPr algn="l">
              <a:lnSpc>
                <a:spcPts val="1200"/>
              </a:lnSpc>
              <a:spcAft>
                <a:spcPts val="200"/>
              </a:spcAft>
            </a:pPr>
            <a:r>
              <a:rPr lang="en-US" sz="1000" b="1" dirty="0">
                <a:solidFill>
                  <a:srgbClr val="3FB950"/>
                </a:solidFill>
                <a:latin typeface="Segoe UI Semibold"/>
              </a:rPr>
              <a:t>Ghost Text</a:t>
            </a:r>
          </a:p>
          <a:p>
            <a:pPr algn="l">
              <a:lnSpc>
                <a:spcPts val="1100"/>
              </a:lnSpc>
            </a:pPr>
            <a:r>
              <a:rPr lang="en-US" sz="900" dirty="0">
                <a:solidFill>
                  <a:srgbClr val="C9D1D9"/>
                </a:solidFill>
                <a:latin typeface="Segoe UI"/>
              </a:rPr>
              <a:t>Inline code and comment completion</a:t>
            </a:r>
          </a:p>
        </p:txBody>
      </p:sp>
      <p:sp>
        <p:nvSpPr>
          <p:cNvPr id="17" name="Cell_1_2"/>
          <p:cNvSpPr/>
          <p:nvPr/>
        </p:nvSpPr>
        <p:spPr>
          <a:xfrm>
            <a:off x="5482336" y="1308100"/>
            <a:ext cx="3088132" cy="12065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lIns="54000" tIns="36000" rIns="54000" bIns="36000" anchor="ctr"/>
          <a:lstStyle/>
          <a:p>
            <a:pPr algn="l">
              <a:lnSpc>
                <a:spcPts val="1200"/>
              </a:lnSpc>
              <a:spcAft>
                <a:spcPts val="200"/>
              </a:spcAft>
            </a:pPr>
            <a:r>
              <a:rPr lang="en-US" sz="1000" b="1" dirty="0">
                <a:solidFill>
                  <a:srgbClr val="58A6FF"/>
                </a:solidFill>
                <a:latin typeface="Segoe UI Semibold"/>
              </a:rPr>
              <a:t>Chat &amp; Workspace</a:t>
            </a:r>
          </a:p>
          <a:p>
            <a:pPr algn="l">
              <a:lnSpc>
                <a:spcPts val="1100"/>
              </a:lnSpc>
            </a:pPr>
            <a:r>
              <a:rPr lang="en-US" sz="900" dirty="0">
                <a:solidFill>
                  <a:srgbClr val="C9D1D9"/>
                </a:solidFill>
                <a:latin typeface="Segoe UI"/>
              </a:rPr>
              <a:t>Multi-file context via @workspace. /explain and /tests commands</a:t>
            </a:r>
          </a:p>
        </p:txBody>
      </p:sp>
      <p:sp>
        <p:nvSpPr>
          <p:cNvPr id="18" name="Cell_1_3"/>
          <p:cNvSpPr/>
          <p:nvPr/>
        </p:nvSpPr>
        <p:spPr>
          <a:xfrm>
            <a:off x="8621268" y="1308100"/>
            <a:ext cx="3088132" cy="12065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lIns="54000" tIns="36000" rIns="54000" bIns="36000" anchor="ctr"/>
          <a:lstStyle/>
          <a:p>
            <a:pPr algn="l">
              <a:lnSpc>
                <a:spcPts val="1200"/>
              </a:lnSpc>
              <a:spcAft>
                <a:spcPts val="200"/>
              </a:spcAft>
            </a:pPr>
            <a:r>
              <a:rPr lang="en-US" sz="1000" b="1" dirty="0">
                <a:solidFill>
                  <a:srgbClr val="BC8CFF"/>
                </a:solidFill>
                <a:latin typeface="Segoe UI Semibold"/>
              </a:rPr>
              <a:t>Copilot Spaces</a:t>
            </a:r>
          </a:p>
          <a:p>
            <a:pPr algn="l">
              <a:lnSpc>
                <a:spcPts val="1100"/>
              </a:lnSpc>
            </a:pPr>
            <a:r>
              <a:rPr lang="en-US" sz="900" dirty="0">
                <a:solidFill>
                  <a:srgbClr val="C9D1D9"/>
                </a:solidFill>
                <a:latin typeface="Segoe UI"/>
              </a:rPr>
              <a:t>Visual workspace for architecture visualization and complex refactoring</a:t>
            </a:r>
          </a:p>
        </p:txBody>
      </p:sp>
      <p:sp>
        <p:nvSpPr>
          <p:cNvPr id="19" name="FeatureLabel2"/>
          <p:cNvSpPr/>
          <p:nvPr/>
        </p:nvSpPr>
        <p:spPr>
          <a:xfrm>
            <a:off x="457200" y="2654300"/>
            <a:ext cx="1835404" cy="12065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lIns="54000" tIns="36000" rIns="54000" bIns="36000" anchor="ctr"/>
          <a:lstStyle/>
          <a:p>
            <a:pPr algn="ctr">
              <a:lnSpc>
                <a:spcPts val="1200"/>
              </a:lnSpc>
            </a:pPr>
            <a:r>
              <a:rPr lang="en-US" sz="1100" b="1" dirty="0">
                <a:solidFill>
                  <a:srgbClr val="58A6FF"/>
                </a:solidFill>
                <a:latin typeface="Segoe UI Semibold"/>
              </a:rPr>
              <a:t>Agentic Automation</a:t>
            </a:r>
          </a:p>
          <a:p>
            <a:pPr algn="ctr">
              <a:lnSpc>
                <a:spcPts val="1000"/>
              </a:lnSpc>
            </a:pPr>
            <a:r>
              <a:rPr lang="en-US" sz="800" i="1" dirty="0">
                <a:solidFill>
                  <a:srgbClr val="8B949E"/>
                </a:solidFill>
                <a:latin typeface="Segoe UI"/>
              </a:rPr>
              <a:t>CLI &amp; SDK</a:t>
            </a:r>
          </a:p>
        </p:txBody>
      </p:sp>
      <p:sp>
        <p:nvSpPr>
          <p:cNvPr id="20" name="Cell_2_1"/>
          <p:cNvSpPr/>
          <p:nvPr/>
        </p:nvSpPr>
        <p:spPr>
          <a:xfrm>
            <a:off x="2343404" y="2654300"/>
            <a:ext cx="3088132" cy="12065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lIns="54000" tIns="36000" rIns="54000" bIns="36000" anchor="ctr"/>
          <a:lstStyle/>
          <a:p>
            <a:pPr algn="l">
              <a:lnSpc>
                <a:spcPts val="1200"/>
              </a:lnSpc>
              <a:spcAft>
                <a:spcPts val="200"/>
              </a:spcAft>
            </a:pPr>
            <a:r>
              <a:rPr lang="en-US" sz="1000" b="1" dirty="0">
                <a:solidFill>
                  <a:srgbClr val="3FB950"/>
                </a:solidFill>
                <a:latin typeface="Segoe UI Semibold"/>
              </a:rPr>
              <a:t>Command Suggestion</a:t>
            </a:r>
          </a:p>
          <a:p>
            <a:pPr algn="l">
              <a:lnSpc>
                <a:spcPts val="1100"/>
              </a:lnSpc>
            </a:pPr>
            <a:r>
              <a:rPr lang="en-US" sz="900" dirty="0">
                <a:solidFill>
                  <a:srgbClr val="C9D1D9"/>
                </a:solidFill>
                <a:latin typeface="Segoe UI"/>
              </a:rPr>
              <a:t>Basic gh copilot suggest in terminal</a:t>
            </a:r>
          </a:p>
        </p:txBody>
      </p:sp>
      <p:sp>
        <p:nvSpPr>
          <p:cNvPr id="21" name="Cell_2_2"/>
          <p:cNvSpPr/>
          <p:nvPr/>
        </p:nvSpPr>
        <p:spPr>
          <a:xfrm>
            <a:off x="5482336" y="2654300"/>
            <a:ext cx="3088132" cy="12065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lIns="54000" tIns="36000" rIns="54000" bIns="36000" anchor="ctr"/>
          <a:lstStyle/>
          <a:p>
            <a:pPr algn="l">
              <a:lnSpc>
                <a:spcPts val="1200"/>
              </a:lnSpc>
              <a:spcAft>
                <a:spcPts val="200"/>
              </a:spcAft>
            </a:pPr>
            <a:r>
              <a:rPr lang="en-US" sz="1000" b="1" dirty="0">
                <a:solidFill>
                  <a:srgbClr val="58A6FF"/>
                </a:solidFill>
                <a:latin typeface="Segoe UI Semibold"/>
              </a:rPr>
              <a:t>Interactive CLI Chat</a:t>
            </a:r>
          </a:p>
          <a:p>
            <a:pPr algn="l">
              <a:lnSpc>
                <a:spcPts val="1100"/>
              </a:lnSpc>
            </a:pPr>
            <a:r>
              <a:rPr lang="en-US" sz="900" dirty="0">
                <a:solidFill>
                  <a:srgbClr val="C9D1D9"/>
                </a:solidFill>
                <a:latin typeface="Segoe UI"/>
              </a:rPr>
              <a:t>Debugging terminal errors and shell scripts</a:t>
            </a:r>
          </a:p>
        </p:txBody>
      </p:sp>
      <p:sp>
        <p:nvSpPr>
          <p:cNvPr id="22" name="Cell_2_3"/>
          <p:cNvSpPr/>
          <p:nvPr/>
        </p:nvSpPr>
        <p:spPr>
          <a:xfrm>
            <a:off x="8621268" y="2654300"/>
            <a:ext cx="3088132" cy="12065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lIns="54000" tIns="36000" rIns="54000" bIns="36000" anchor="ctr"/>
          <a:lstStyle/>
          <a:p>
            <a:pPr algn="l">
              <a:lnSpc>
                <a:spcPts val="1200"/>
              </a:lnSpc>
              <a:spcAft>
                <a:spcPts val="200"/>
              </a:spcAft>
            </a:pPr>
            <a:r>
              <a:rPr lang="en-US" sz="1000" b="1" dirty="0">
                <a:solidFill>
                  <a:srgbClr val="BC8CFF"/>
                </a:solidFill>
                <a:latin typeface="Segoe UI Semibold"/>
              </a:rPr>
              <a:t>CLI Autopilot Mode</a:t>
            </a:r>
          </a:p>
          <a:p>
            <a:pPr algn="l">
              <a:lnSpc>
                <a:spcPts val="1100"/>
              </a:lnSpc>
            </a:pPr>
            <a:r>
              <a:rPr lang="en-US" sz="900" dirty="0">
                <a:solidFill>
                  <a:srgbClr val="C9D1D9"/>
                </a:solidFill>
                <a:latin typeface="Segoe UI"/>
              </a:rPr>
              <a:t>Autonomous plan-act-review loops for complex file operations</a:t>
            </a:r>
          </a:p>
        </p:txBody>
      </p:sp>
      <p:sp>
        <p:nvSpPr>
          <p:cNvPr id="23" name="FeatureLabel3"/>
          <p:cNvSpPr/>
          <p:nvPr/>
        </p:nvSpPr>
        <p:spPr>
          <a:xfrm>
            <a:off x="457200" y="4000500"/>
            <a:ext cx="1835404" cy="12065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lIns="54000" tIns="36000" rIns="54000" bIns="36000" anchor="ctr"/>
          <a:lstStyle/>
          <a:p>
            <a:pPr algn="ctr">
              <a:lnSpc>
                <a:spcPts val="1200"/>
              </a:lnSpc>
            </a:pPr>
            <a:r>
              <a:rPr lang="en-US" sz="1100" b="1" dirty="0">
                <a:solidFill>
                  <a:srgbClr val="D29922"/>
                </a:solidFill>
                <a:latin typeface="Segoe UI Semibold"/>
              </a:rPr>
              <a:t>Enterprise Knowledge</a:t>
            </a:r>
          </a:p>
          <a:p>
            <a:pPr algn="ctr">
              <a:lnSpc>
                <a:spcPts val="1000"/>
              </a:lnSpc>
            </a:pPr>
            <a:r>
              <a:rPr lang="en-US" sz="800" i="1" dirty="0">
                <a:solidFill>
                  <a:srgbClr val="8B949E"/>
                </a:solidFill>
                <a:latin typeface="Segoe UI"/>
              </a:rPr>
              <a:t>Governance</a:t>
            </a:r>
          </a:p>
        </p:txBody>
      </p:sp>
      <p:sp>
        <p:nvSpPr>
          <p:cNvPr id="24" name="Cell_3_1"/>
          <p:cNvSpPr/>
          <p:nvPr/>
        </p:nvSpPr>
        <p:spPr>
          <a:xfrm>
            <a:off x="2343404" y="4000500"/>
            <a:ext cx="3088132" cy="12065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lIns="54000" tIns="36000" rIns="54000" bIns="36000" anchor="ctr"/>
          <a:lstStyle/>
          <a:p>
            <a:pPr algn="l">
              <a:lnSpc>
                <a:spcPts val="1200"/>
              </a:lnSpc>
              <a:spcAft>
                <a:spcPts val="200"/>
              </a:spcAft>
            </a:pPr>
            <a:r>
              <a:rPr lang="en-US" sz="1000" b="1" dirty="0">
                <a:solidFill>
                  <a:srgbClr val="3FB950"/>
                </a:solidFill>
                <a:latin typeface="Segoe UI Semibold"/>
              </a:rPr>
              <a:t>Content Exclusion</a:t>
            </a:r>
          </a:p>
          <a:p>
            <a:pPr algn="l">
              <a:lnSpc>
                <a:spcPts val="1100"/>
              </a:lnSpc>
            </a:pPr>
            <a:r>
              <a:rPr lang="en-US" sz="900" dirty="0">
                <a:solidFill>
                  <a:srgbClr val="C9D1D9"/>
                </a:solidFill>
                <a:latin typeface="Segoe UI"/>
              </a:rPr>
              <a:t>Basic safety controls on file visibility</a:t>
            </a:r>
          </a:p>
        </p:txBody>
      </p:sp>
      <p:sp>
        <p:nvSpPr>
          <p:cNvPr id="25" name="Cell_3_2"/>
          <p:cNvSpPr/>
          <p:nvPr/>
        </p:nvSpPr>
        <p:spPr>
          <a:xfrm>
            <a:off x="5482336" y="4000500"/>
            <a:ext cx="3088132" cy="12065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lIns="54000" tIns="36000" rIns="54000" bIns="36000" anchor="ctr"/>
          <a:lstStyle/>
          <a:p>
            <a:pPr algn="l">
              <a:lnSpc>
                <a:spcPts val="1200"/>
              </a:lnSpc>
              <a:spcAft>
                <a:spcPts val="200"/>
              </a:spcAft>
            </a:pPr>
            <a:r>
              <a:rPr lang="en-US" sz="1000" b="1" dirty="0">
                <a:solidFill>
                  <a:srgbClr val="58A6FF"/>
                </a:solidFill>
                <a:latin typeface="Segoe UI Semibold"/>
              </a:rPr>
              <a:t>Knowledge Bases</a:t>
            </a:r>
          </a:p>
          <a:p>
            <a:pPr algn="l">
              <a:lnSpc>
                <a:spcPts val="1100"/>
              </a:lnSpc>
            </a:pPr>
            <a:r>
              <a:rPr lang="en-US" sz="900" dirty="0">
                <a:solidFill>
                  <a:srgbClr val="C9D1D9"/>
                </a:solidFill>
                <a:latin typeface="Segoe UI"/>
              </a:rPr>
              <a:t>Indexing internal docs/Wikis for contextual answers</a:t>
            </a:r>
          </a:p>
        </p:txBody>
      </p:sp>
      <p:sp>
        <p:nvSpPr>
          <p:cNvPr id="26" name="Cell_3_3"/>
          <p:cNvSpPr/>
          <p:nvPr/>
        </p:nvSpPr>
        <p:spPr>
          <a:xfrm>
            <a:off x="8621268" y="4000500"/>
            <a:ext cx="3088132" cy="12065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lIns="54000" tIns="36000" rIns="54000" bIns="36000" anchor="ctr"/>
          <a:lstStyle/>
          <a:p>
            <a:pPr algn="l">
              <a:lnSpc>
                <a:spcPts val="1200"/>
              </a:lnSpc>
              <a:spcAft>
                <a:spcPts val="200"/>
              </a:spcAft>
            </a:pPr>
            <a:r>
              <a:rPr lang="en-US" sz="1000" b="1" dirty="0">
                <a:solidFill>
                  <a:srgbClr val="BC8CFF"/>
                </a:solidFill>
                <a:latin typeface="Segoe UI Semibold"/>
              </a:rPr>
              <a:t>AI Code Review Agent</a:t>
            </a:r>
          </a:p>
          <a:p>
            <a:pPr algn="l">
              <a:lnSpc>
                <a:spcPts val="1100"/>
              </a:lnSpc>
            </a:pPr>
            <a:r>
              <a:rPr lang="en-US" sz="900" dirty="0">
                <a:solidFill>
                  <a:srgbClr val="C9D1D9"/>
                </a:solidFill>
                <a:latin typeface="Segoe UI"/>
              </a:rPr>
              <a:t>Autonomous security and standards auditing on PRs</a:t>
            </a:r>
          </a:p>
        </p:txBody>
      </p:sp>
      <p:sp>
        <p:nvSpPr>
          <p:cNvPr id="27" name="FeatureLabel4"/>
          <p:cNvSpPr/>
          <p:nvPr/>
        </p:nvSpPr>
        <p:spPr>
          <a:xfrm>
            <a:off x="457200" y="5346700"/>
            <a:ext cx="1835404" cy="12065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lIns="54000" tIns="36000" rIns="54000" bIns="36000" anchor="ctr"/>
          <a:lstStyle/>
          <a:p>
            <a:pPr algn="ctr">
              <a:lnSpc>
                <a:spcPts val="1200"/>
              </a:lnSpc>
            </a:pPr>
            <a:r>
              <a:rPr lang="en-US" sz="1100" b="1" dirty="0">
                <a:solidFill>
                  <a:srgbClr val="F85149"/>
                </a:solidFill>
                <a:latin typeface="Segoe UI Semibold"/>
              </a:rPr>
              <a:t>Extensions &amp; Modernization</a:t>
            </a:r>
          </a:p>
          <a:p>
            <a:pPr algn="ctr">
              <a:lnSpc>
                <a:spcPts val="1000"/>
              </a:lnSpc>
            </a:pPr>
            <a:r>
              <a:rPr lang="en-US" sz="800" i="1" dirty="0">
                <a:solidFill>
                  <a:srgbClr val="8B949E"/>
                </a:solidFill>
                <a:latin typeface="Segoe UI"/>
              </a:rPr>
              <a:t>Ecosystem</a:t>
            </a:r>
          </a:p>
        </p:txBody>
      </p:sp>
      <p:sp>
        <p:nvSpPr>
          <p:cNvPr id="28" name="Cell_4_1"/>
          <p:cNvSpPr/>
          <p:nvPr/>
        </p:nvSpPr>
        <p:spPr>
          <a:xfrm>
            <a:off x="2343404" y="5346700"/>
            <a:ext cx="3088132" cy="12065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lIns="54000" tIns="36000" rIns="54000" bIns="36000" anchor="ctr"/>
          <a:lstStyle/>
          <a:p>
            <a:pPr algn="l">
              <a:lnSpc>
                <a:spcPts val="1200"/>
              </a:lnSpc>
              <a:spcAft>
                <a:spcPts val="200"/>
              </a:spcAft>
            </a:pPr>
            <a:r>
              <a:rPr lang="en-US" sz="1000" b="1" dirty="0">
                <a:solidFill>
                  <a:srgbClr val="3FB950"/>
                </a:solidFill>
                <a:latin typeface="Segoe UI Semibold"/>
              </a:rPr>
              <a:t>Slash Commands</a:t>
            </a:r>
          </a:p>
          <a:p>
            <a:pPr algn="l">
              <a:lnSpc>
                <a:spcPts val="1100"/>
              </a:lnSpc>
            </a:pPr>
            <a:r>
              <a:rPr lang="en-US" sz="900" dirty="0">
                <a:solidFill>
                  <a:srgbClr val="C9D1D9"/>
                </a:solidFill>
                <a:latin typeface="Segoe UI"/>
              </a:rPr>
              <a:t>Basic code refactoring (/fix)</a:t>
            </a:r>
          </a:p>
        </p:txBody>
      </p:sp>
      <p:sp>
        <p:nvSpPr>
          <p:cNvPr id="29" name="Cell_4_2"/>
          <p:cNvSpPr/>
          <p:nvPr/>
        </p:nvSpPr>
        <p:spPr>
          <a:xfrm>
            <a:off x="5482336" y="5346700"/>
            <a:ext cx="3088132" cy="12065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lIns="54000" tIns="36000" rIns="54000" bIns="36000" anchor="ctr"/>
          <a:lstStyle/>
          <a:p>
            <a:pPr algn="l">
              <a:lnSpc>
                <a:spcPts val="1200"/>
              </a:lnSpc>
              <a:spcAft>
                <a:spcPts val="200"/>
              </a:spcAft>
            </a:pPr>
            <a:r>
              <a:rPr lang="en-US" sz="1000" b="1" dirty="0">
                <a:solidFill>
                  <a:srgbClr val="58A6FF"/>
                </a:solidFill>
                <a:latin typeface="Segoe UI Semibold"/>
              </a:rPr>
              <a:t>1st Party Extensions</a:t>
            </a:r>
          </a:p>
          <a:p>
            <a:pPr algn="l">
              <a:lnSpc>
                <a:spcPts val="1100"/>
              </a:lnSpc>
            </a:pPr>
            <a:r>
              <a:rPr lang="en-US" sz="900" dirty="0">
                <a:solidFill>
                  <a:srgbClr val="C9D1D9"/>
                </a:solidFill>
                <a:latin typeface="Segoe UI"/>
              </a:rPr>
              <a:t>Connecting to Azure Database, Teams, and more</a:t>
            </a:r>
          </a:p>
        </p:txBody>
      </p:sp>
      <p:sp>
        <p:nvSpPr>
          <p:cNvPr id="30" name="Cell_4_3"/>
          <p:cNvSpPr/>
          <p:nvPr/>
        </p:nvSpPr>
        <p:spPr>
          <a:xfrm>
            <a:off x="8621268" y="5346700"/>
            <a:ext cx="3088132" cy="12065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lIns="54000" tIns="36000" rIns="54000" bIns="36000" anchor="ctr"/>
          <a:lstStyle/>
          <a:p>
            <a:pPr algn="l">
              <a:lnSpc>
                <a:spcPts val="1100"/>
              </a:lnSpc>
              <a:spcAft>
                <a:spcPts val="100"/>
              </a:spcAft>
            </a:pPr>
            <a:r>
              <a:rPr lang="en-US" sz="1000" b="1" dirty="0">
                <a:solidFill>
                  <a:srgbClr val="BC8CFF"/>
                </a:solidFill>
                <a:latin typeface="Segoe UI Semibold"/>
              </a:rPr>
              <a:t>Modernization Agent</a:t>
            </a:r>
          </a:p>
          <a:p>
            <a:pPr algn="l">
              <a:lnSpc>
                <a:spcPts val="1000"/>
              </a:lnSpc>
              <a:spcAft>
                <a:spcPts val="100"/>
              </a:spcAft>
            </a:pPr>
            <a:r>
              <a:rPr lang="en-US" sz="800" dirty="0">
                <a:solidFill>
                  <a:srgbClr val="C9D1D9"/>
                </a:solidFill>
                <a:latin typeface="Segoe UI"/>
              </a:rPr>
              <a:t>Assess → Plan → Execute: .NET/Java to Azure migration</a:t>
            </a:r>
          </a:p>
          <a:p>
            <a:pPr algn="l">
              <a:lnSpc>
                <a:spcPts val="1000"/>
              </a:lnSpc>
            </a:pPr>
            <a:r>
              <a:rPr lang="en-US" sz="900" b="1" i="1" dirty="0">
                <a:solidFill>
                  <a:srgbClr val="BC8CFF"/>
                </a:solidFill>
                <a:latin typeface="Segoe UI Semibold"/>
              </a:rPr>
              <a:t>+ Vibe Coding (Agent Mode)</a:t>
            </a:r>
          </a:p>
        </p:txBody>
      </p:sp>
      <p:sp>
        <p:nvSpPr>
          <p:cNvPr id="32" name="ArrowLabel0"/>
          <p:cNvSpPr/>
          <p:nvPr/>
        </p:nvSpPr>
        <p:spPr>
          <a:xfrm>
            <a:off x="2343404" y="6667500"/>
            <a:ext cx="3088132" cy="1778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ctr"/>
          <a:lstStyle/>
          <a:p>
            <a:pPr algn="l"/>
            <a:r>
              <a:rPr lang="en-US" sz="1000" dirty="0">
                <a:solidFill>
                  <a:srgbClr val="3FB950"/>
                </a:solidFill>
                <a:latin typeface="Segoe UI"/>
              </a:rPr>
              <a:t>◀ Reactive • Single-task</a:t>
            </a:r>
          </a:p>
        </p:txBody>
      </p:sp>
      <p:sp>
        <p:nvSpPr>
          <p:cNvPr id="33" name="ArrowLabel1"/>
          <p:cNvSpPr/>
          <p:nvPr/>
        </p:nvSpPr>
        <p:spPr>
          <a:xfrm>
            <a:off x="5482336" y="6667500"/>
            <a:ext cx="3088132" cy="1778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ctr"/>
          <a:lstStyle/>
          <a:p>
            <a:pPr algn="ctr"/>
            <a:r>
              <a:rPr lang="en-US" sz="1000" dirty="0">
                <a:solidFill>
                  <a:srgbClr val="58A6FF"/>
                </a:solidFill>
                <a:latin typeface="Segoe UI"/>
              </a:rPr>
              <a:t>Multi-file • Context-aware</a:t>
            </a:r>
          </a:p>
        </p:txBody>
      </p:sp>
      <p:sp>
        <p:nvSpPr>
          <p:cNvPr id="34" name="ArrowLabel2"/>
          <p:cNvSpPr/>
          <p:nvPr/>
        </p:nvSpPr>
        <p:spPr>
          <a:xfrm>
            <a:off x="8621268" y="6667500"/>
            <a:ext cx="3088132" cy="1778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ctr"/>
          <a:lstStyle/>
          <a:p>
            <a:pPr algn="r"/>
            <a:r>
              <a:rPr lang="en-US" sz="1000" dirty="0">
                <a:solidFill>
                  <a:srgbClr val="BC8CFF"/>
                </a:solidFill>
                <a:latin typeface="Segoe UI"/>
              </a:rPr>
              <a:t>Autonomous • Goal-oriented ▶</a:t>
            </a:r>
          </a:p>
        </p:txBody>
      </p:sp>
      <p:sp>
        <p:nvSpPr>
          <p:cNvPr id="40" name="4SBadge"/>
          <p:cNvSpPr/>
          <p:nvPr/>
        </p:nvSpPr>
        <p:spPr>
          <a:xfrm>
            <a:off x="457200" y="6604000"/>
            <a:ext cx="1841500" cy="22860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2700">
            <a:solidFill>
              <a:srgbClr val="D29922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800" b="1" dirty="0">
                <a:solidFill>
                  <a:srgbClr val="D29922"/>
                </a:solidFill>
                <a:latin typeface="Segoe UI Semibold"/>
              </a:rPr>
              <a:t>⚡ 4S Prompting Method</a:t>
            </a:r>
          </a:p>
        </p:txBody>
      </p:sp>
    </p:spTree>
    <p:extLst>
      <p:ext uri="{BB962C8B-B14F-4D97-AF65-F5344CB8AC3E}">
        <p14:creationId xmlns:p14="http://schemas.microsoft.com/office/powerpoint/2010/main" val="3794512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lideTitle"/>
          <p:cNvSpPr/>
          <p:nvPr/>
        </p:nvSpPr>
        <p:spPr>
          <a:xfrm>
            <a:off x="457200" y="101600"/>
            <a:ext cx="11277600" cy="533400"/>
          </a:xfrm>
          <a:prstGeom prst="rect">
            <a:avLst/>
          </a:prstGeom>
          <a:noFill/>
          <a:ln>
            <a:noFill/>
          </a:ln>
        </p:spPr>
        <p:txBody>
          <a:bodyPr wrap="square" lIns="72000" tIns="54000" rIns="72000" bIns="45720" anchor="t"/>
          <a:lstStyle/>
          <a:p>
            <a:pPr algn="l"/>
            <a:r>
              <a:rPr lang="en-US" sz="2200" b="1" dirty="0">
                <a:solidFill>
                  <a:srgbClr val="F0F6FC"/>
                </a:solidFill>
                <a:latin typeface="Segoe UI Semibold"/>
              </a:rPr>
              <a:t>The 4S Prompting Framework</a:t>
            </a:r>
            <a:r>
              <a:rPr lang="en-US" sz="1400" dirty="0">
                <a:solidFill>
                  <a:srgbClr val="8B949E"/>
                </a:solidFill>
                <a:latin typeface="Segoe UI"/>
              </a:rPr>
              <a:t>  |  Context Crafting for GitHub Copilot</a:t>
            </a:r>
          </a:p>
        </p:txBody>
      </p:sp>
      <p:sp>
        <p:nvSpPr>
          <p:cNvPr id="81" name="Quad1"/>
          <p:cNvSpPr/>
          <p:nvPr/>
        </p:nvSpPr>
        <p:spPr>
          <a:xfrm>
            <a:off x="457200" y="685800"/>
            <a:ext cx="5588000" cy="29718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lIns="72000" tIns="54000" rIns="72000" bIns="45720" anchor="t"/>
          <a:lstStyle/>
          <a:p>
            <a:pPr algn="l">
              <a:lnSpc>
                <a:spcPts val="2000"/>
              </a:lnSpc>
              <a:spcAft>
                <a:spcPts val="100"/>
              </a:spcAft>
            </a:pPr>
            <a:r>
              <a:rPr lang="en-US" sz="1200" dirty="0">
                <a:solidFill>
                  <a:srgbClr val="3FB950">
                    <a:alpha val="50000"/>
                  </a:srgbClr>
                </a:solidFill>
                <a:latin typeface="Segoe UI"/>
              </a:rPr>
              <a:t>01  </a:t>
            </a:r>
            <a:r>
              <a:rPr lang="en-US" sz="2000" b="1" dirty="0">
                <a:solidFill>
                  <a:srgbClr val="3FB950"/>
                </a:solidFill>
                <a:latin typeface="Segoe UI Semibold"/>
              </a:rPr>
              <a:t>SINGLE</a:t>
            </a:r>
            <a:r>
              <a:rPr lang="en-US" sz="1200" dirty="0">
                <a:solidFill>
                  <a:srgbClr val="8B949E"/>
                </a:solidFill>
                <a:latin typeface="Segoe UI"/>
              </a:rPr>
              <a:t>   One task, one prompt</a:t>
            </a:r>
          </a:p>
          <a:p>
            <a:pPr algn="l">
              <a:lnSpc>
                <a:spcPts val="2000"/>
              </a:lnSpc>
              <a:spcAft>
                <a:spcPts val="100"/>
              </a:spcAft>
            </a:pPr>
            <a:endParaRPr lang="en-US" sz="1200" dirty="0">
              <a:solidFill>
                <a:srgbClr val="8B949E"/>
              </a:solidFill>
              <a:latin typeface="Segoe UI"/>
            </a:endParaRPr>
          </a:p>
          <a:p>
            <a:pPr algn="l">
              <a:lnSpc>
                <a:spcPts val="1500"/>
              </a:lnSpc>
              <a:spcAft>
                <a:spcPts val="300"/>
              </a:spcAft>
            </a:pPr>
            <a:r>
              <a:rPr lang="en-US" sz="1200" dirty="0">
                <a:solidFill>
                  <a:srgbClr val="C9D1D9"/>
                </a:solidFill>
                <a:latin typeface="Segoe UI"/>
              </a:rPr>
              <a:t>Decompose complex requests into atomic tasks.</a:t>
            </a:r>
          </a:p>
          <a:p>
            <a:pPr algn="l">
              <a:lnSpc>
                <a:spcPts val="1400"/>
              </a:lnSpc>
              <a:spcAft>
                <a:spcPts val="150"/>
              </a:spcAft>
            </a:pPr>
            <a:endParaRPr lang="en-US" sz="1100" dirty="0">
              <a:solidFill>
                <a:srgbClr val="F85149"/>
              </a:solidFill>
              <a:latin typeface="Cascadia Code"/>
            </a:endParaRPr>
          </a:p>
          <a:p>
            <a:pPr algn="l">
              <a:lnSpc>
                <a:spcPts val="1400"/>
              </a:lnSpc>
              <a:spcAft>
                <a:spcPts val="150"/>
              </a:spcAft>
            </a:pPr>
            <a:r>
              <a:rPr lang="en-US" sz="1100" dirty="0">
                <a:solidFill>
                  <a:srgbClr val="F85149"/>
                </a:solidFill>
                <a:latin typeface="Cascadia Code"/>
              </a:rPr>
              <a:t>✘ "Add OAuth, write tests, update README"</a:t>
            </a:r>
          </a:p>
          <a:p>
            <a:pPr algn="l">
              <a:lnSpc>
                <a:spcPts val="1400"/>
              </a:lnSpc>
              <a:spcAft>
                <a:spcPts val="300"/>
              </a:spcAft>
            </a:pPr>
            <a:r>
              <a:rPr lang="en-US" sz="1100" dirty="0">
                <a:solidFill>
                  <a:srgbClr val="3FB950"/>
                </a:solidFill>
                <a:latin typeface="Cascadia Code"/>
              </a:rPr>
              <a:t>✔ "Add OAuth2 login using passport for Express"</a:t>
            </a:r>
          </a:p>
          <a:p>
            <a:pPr algn="l">
              <a:lnSpc>
                <a:spcPts val="1200"/>
              </a:lnSpc>
            </a:pPr>
            <a:endParaRPr lang="en-US" sz="1000" i="1" dirty="0">
              <a:solidFill>
                <a:srgbClr val="3FB950">
                  <a:alpha val="70000"/>
                </a:srgbClr>
              </a:solidFill>
              <a:latin typeface="Segoe UI"/>
            </a:endParaRPr>
          </a:p>
          <a:p>
            <a:pPr algn="l">
              <a:lnSpc>
                <a:spcPts val="1200"/>
              </a:lnSpc>
            </a:pPr>
            <a:r>
              <a:rPr lang="en-US" sz="1000" i="1" dirty="0">
                <a:solidFill>
                  <a:srgbClr val="3FB950">
                    <a:alpha val="70000"/>
                  </a:srgbClr>
                </a:solidFill>
                <a:latin typeface="Segoe UI"/>
              </a:rPr>
              <a:t>↗ Foundation for Agent Mode decomposition</a:t>
            </a:r>
          </a:p>
        </p:txBody>
      </p:sp>
      <p:sp>
        <p:nvSpPr>
          <p:cNvPr id="82" name="Quad2"/>
          <p:cNvSpPr/>
          <p:nvPr/>
        </p:nvSpPr>
        <p:spPr>
          <a:xfrm>
            <a:off x="6146800" y="685800"/>
            <a:ext cx="5588000" cy="29718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lIns="72000" tIns="54000" rIns="72000" bIns="45720" anchor="t"/>
          <a:lstStyle/>
          <a:p>
            <a:pPr algn="l">
              <a:lnSpc>
                <a:spcPts val="2000"/>
              </a:lnSpc>
              <a:spcAft>
                <a:spcPts val="100"/>
              </a:spcAft>
            </a:pPr>
            <a:r>
              <a:rPr lang="en-US" sz="1200" dirty="0">
                <a:solidFill>
                  <a:srgbClr val="58A6FF">
                    <a:alpha val="50000"/>
                  </a:srgbClr>
                </a:solidFill>
                <a:latin typeface="Segoe UI"/>
              </a:rPr>
              <a:t>02  </a:t>
            </a:r>
            <a:r>
              <a:rPr lang="en-US" sz="2000" b="1" dirty="0">
                <a:solidFill>
                  <a:srgbClr val="58A6FF"/>
                </a:solidFill>
                <a:latin typeface="Segoe UI Semibold"/>
              </a:rPr>
              <a:t>SPECIFIC</a:t>
            </a:r>
            <a:r>
              <a:rPr lang="en-US" sz="1200" dirty="0">
                <a:solidFill>
                  <a:srgbClr val="8B949E"/>
                </a:solidFill>
                <a:latin typeface="Segoe UI"/>
              </a:rPr>
              <a:t>   Define constraints and versions</a:t>
            </a:r>
          </a:p>
          <a:p>
            <a:pPr algn="l">
              <a:lnSpc>
                <a:spcPts val="2000"/>
              </a:lnSpc>
              <a:spcAft>
                <a:spcPts val="100"/>
              </a:spcAft>
            </a:pPr>
            <a:endParaRPr lang="en-US" sz="1200" dirty="0">
              <a:solidFill>
                <a:srgbClr val="8B949E"/>
              </a:solidFill>
              <a:latin typeface="Segoe UI"/>
            </a:endParaRPr>
          </a:p>
          <a:p>
            <a:pPr algn="l">
              <a:lnSpc>
                <a:spcPts val="1500"/>
              </a:lnSpc>
              <a:spcAft>
                <a:spcPts val="300"/>
              </a:spcAft>
            </a:pPr>
            <a:r>
              <a:rPr lang="en-US" sz="1200" dirty="0">
                <a:solidFill>
                  <a:srgbClr val="C9D1D9"/>
                </a:solidFill>
                <a:latin typeface="Segoe UI"/>
              </a:rPr>
              <a:t>Name exact libraries, versions, and patterns.</a:t>
            </a:r>
          </a:p>
          <a:p>
            <a:pPr algn="l">
              <a:lnSpc>
                <a:spcPts val="1400"/>
              </a:lnSpc>
              <a:spcAft>
                <a:spcPts val="150"/>
              </a:spcAft>
            </a:pPr>
            <a:endParaRPr lang="en-US" sz="1100" dirty="0">
              <a:solidFill>
                <a:srgbClr val="F85149"/>
              </a:solidFill>
              <a:latin typeface="Cascadia Code"/>
            </a:endParaRPr>
          </a:p>
          <a:p>
            <a:pPr algn="l">
              <a:lnSpc>
                <a:spcPts val="1400"/>
              </a:lnSpc>
              <a:spcAft>
                <a:spcPts val="150"/>
              </a:spcAft>
            </a:pPr>
            <a:r>
              <a:rPr lang="en-US" sz="1100" dirty="0">
                <a:solidFill>
                  <a:srgbClr val="F85149"/>
                </a:solidFill>
                <a:latin typeface="Cascadia Code"/>
              </a:rPr>
              <a:t>✘ "Connect to the database"</a:t>
            </a:r>
          </a:p>
          <a:p>
            <a:pPr algn="l">
              <a:lnSpc>
                <a:spcPts val="1400"/>
              </a:lnSpc>
              <a:spcAft>
                <a:spcPts val="300"/>
              </a:spcAft>
            </a:pPr>
            <a:r>
              <a:rPr lang="en-US" sz="1100" dirty="0">
                <a:solidFill>
                  <a:srgbClr val="3FB950"/>
                </a:solidFill>
                <a:latin typeface="Cascadia Code"/>
              </a:rPr>
              <a:t>✔ "Create a PostgreSQL 16 pool via pg-pool, SSL on"</a:t>
            </a:r>
          </a:p>
          <a:p>
            <a:pPr algn="l">
              <a:lnSpc>
                <a:spcPts val="1200"/>
              </a:lnSpc>
            </a:pPr>
            <a:endParaRPr lang="en-US" sz="1000" i="1" dirty="0">
              <a:solidFill>
                <a:srgbClr val="58A6FF">
                  <a:alpha val="70000"/>
                </a:srgbClr>
              </a:solidFill>
              <a:latin typeface="Segoe UI"/>
            </a:endParaRPr>
          </a:p>
          <a:p>
            <a:pPr algn="l">
              <a:lnSpc>
                <a:spcPts val="1200"/>
              </a:lnSpc>
            </a:pPr>
            <a:r>
              <a:rPr lang="en-US" sz="1000" i="1" dirty="0">
                <a:solidFill>
                  <a:srgbClr val="58A6FF">
                    <a:alpha val="70000"/>
                  </a:srgbClr>
                </a:solidFill>
                <a:latin typeface="Segoe UI"/>
              </a:rPr>
              <a:t>↗ Drives precision in Knowledge Base queries</a:t>
            </a:r>
          </a:p>
        </p:txBody>
      </p:sp>
      <p:sp>
        <p:nvSpPr>
          <p:cNvPr id="83" name="Quad3"/>
          <p:cNvSpPr/>
          <p:nvPr/>
        </p:nvSpPr>
        <p:spPr>
          <a:xfrm>
            <a:off x="457200" y="3759200"/>
            <a:ext cx="5588000" cy="29718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lIns="72000" tIns="54000" rIns="72000" bIns="45720" anchor="t"/>
          <a:lstStyle/>
          <a:p>
            <a:pPr algn="l">
              <a:lnSpc>
                <a:spcPts val="2000"/>
              </a:lnSpc>
              <a:spcAft>
                <a:spcPts val="100"/>
              </a:spcAft>
            </a:pPr>
            <a:r>
              <a:rPr lang="en-US" sz="1200" dirty="0">
                <a:solidFill>
                  <a:srgbClr val="D29922">
                    <a:alpha val="50000"/>
                  </a:srgbClr>
                </a:solidFill>
                <a:latin typeface="Segoe UI"/>
              </a:rPr>
              <a:t>03  </a:t>
            </a:r>
            <a:r>
              <a:rPr lang="en-US" sz="2000" b="1" dirty="0">
                <a:solidFill>
                  <a:srgbClr val="D29922"/>
                </a:solidFill>
                <a:latin typeface="Segoe UI Semibold"/>
              </a:rPr>
              <a:t>SHORT</a:t>
            </a:r>
            <a:r>
              <a:rPr lang="en-US" sz="1200" dirty="0">
                <a:solidFill>
                  <a:srgbClr val="8B949E"/>
                </a:solidFill>
                <a:latin typeface="Segoe UI"/>
              </a:rPr>
              <a:t>   Protect the context window</a:t>
            </a:r>
          </a:p>
          <a:p>
            <a:pPr algn="l">
              <a:lnSpc>
                <a:spcPts val="2000"/>
              </a:lnSpc>
              <a:spcAft>
                <a:spcPts val="100"/>
              </a:spcAft>
            </a:pPr>
            <a:endParaRPr lang="en-US" sz="1200" dirty="0">
              <a:solidFill>
                <a:srgbClr val="8B949E"/>
              </a:solidFill>
              <a:latin typeface="Segoe UI"/>
            </a:endParaRPr>
          </a:p>
          <a:p>
            <a:pPr algn="l">
              <a:lnSpc>
                <a:spcPts val="1500"/>
              </a:lnSpc>
              <a:spcAft>
                <a:spcPts val="300"/>
              </a:spcAft>
            </a:pPr>
            <a:r>
              <a:rPr lang="en-US" sz="1200" dirty="0">
                <a:solidFill>
                  <a:srgbClr val="C9D1D9"/>
                </a:solidFill>
                <a:latin typeface="Segoe UI"/>
              </a:rPr>
              <a:t>Bullet points over paragraphs. Concise = focused output.</a:t>
            </a:r>
          </a:p>
          <a:p>
            <a:pPr algn="l">
              <a:lnSpc>
                <a:spcPts val="1400"/>
              </a:lnSpc>
              <a:spcAft>
                <a:spcPts val="150"/>
              </a:spcAft>
            </a:pPr>
            <a:endParaRPr lang="en-US" sz="1100" dirty="0">
              <a:solidFill>
                <a:srgbClr val="F85149"/>
              </a:solidFill>
              <a:latin typeface="Cascadia Code"/>
            </a:endParaRPr>
          </a:p>
          <a:p>
            <a:pPr algn="l">
              <a:lnSpc>
                <a:spcPts val="1400"/>
              </a:lnSpc>
              <a:spcAft>
                <a:spcPts val="150"/>
              </a:spcAft>
            </a:pPr>
            <a:r>
              <a:rPr lang="en-US" sz="1100" dirty="0">
                <a:solidFill>
                  <a:srgbClr val="F85149"/>
                </a:solidFill>
                <a:latin typeface="Cascadia Code"/>
              </a:rPr>
              <a:t>✘ "I need a function that filters users by age, sorts by name, returns top 10..."</a:t>
            </a:r>
          </a:p>
          <a:p>
            <a:pPr algn="l">
              <a:lnSpc>
                <a:spcPts val="1400"/>
              </a:lnSpc>
              <a:spcAft>
                <a:spcPts val="300"/>
              </a:spcAft>
            </a:pPr>
            <a:r>
              <a:rPr lang="en-US" sz="1100" dirty="0">
                <a:solidFill>
                  <a:srgbClr val="3FB950"/>
                </a:solidFill>
                <a:latin typeface="Cascadia Code"/>
              </a:rPr>
              <a:t>✔ "Filter users: age &gt; 25, sort name, limit 10"</a:t>
            </a:r>
          </a:p>
          <a:p>
            <a:pPr algn="l">
              <a:lnSpc>
                <a:spcPts val="1200"/>
              </a:lnSpc>
            </a:pPr>
            <a:endParaRPr lang="en-US" sz="1000" i="1" dirty="0">
              <a:solidFill>
                <a:srgbClr val="D29922">
                  <a:alpha val="70000"/>
                </a:srgbClr>
              </a:solidFill>
              <a:latin typeface="Segoe UI"/>
            </a:endParaRPr>
          </a:p>
          <a:p>
            <a:pPr algn="l">
              <a:lnSpc>
                <a:spcPts val="1200"/>
              </a:lnSpc>
            </a:pPr>
            <a:r>
              <a:rPr lang="en-US" sz="1000" i="1" dirty="0">
                <a:solidFill>
                  <a:srgbClr val="D29922">
                    <a:alpha val="70000"/>
                  </a:srgbClr>
                </a:solidFill>
                <a:latin typeface="Segoe UI"/>
              </a:rPr>
              <a:t>↗ Maximizes Copilot’s extended context window</a:t>
            </a:r>
          </a:p>
        </p:txBody>
      </p:sp>
      <p:sp>
        <p:nvSpPr>
          <p:cNvPr id="84" name="Quad4"/>
          <p:cNvSpPr/>
          <p:nvPr/>
        </p:nvSpPr>
        <p:spPr>
          <a:xfrm>
            <a:off x="6146800" y="3759200"/>
            <a:ext cx="5588000" cy="29718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lIns="72000" tIns="54000" rIns="72000" bIns="45720" anchor="t"/>
          <a:lstStyle/>
          <a:p>
            <a:pPr algn="l">
              <a:lnSpc>
                <a:spcPts val="2000"/>
              </a:lnSpc>
              <a:spcAft>
                <a:spcPts val="100"/>
              </a:spcAft>
            </a:pPr>
            <a:r>
              <a:rPr lang="en-US" sz="1200" dirty="0">
                <a:solidFill>
                  <a:srgbClr val="BC8CFF">
                    <a:alpha val="50000"/>
                  </a:srgbClr>
                </a:solidFill>
                <a:latin typeface="Segoe UI"/>
              </a:rPr>
              <a:t>04  </a:t>
            </a:r>
            <a:r>
              <a:rPr lang="en-US" sz="2000" b="1" dirty="0">
                <a:solidFill>
                  <a:srgbClr val="BC8CFF"/>
                </a:solidFill>
                <a:latin typeface="Segoe UI Semibold"/>
              </a:rPr>
              <a:t>SURROUND</a:t>
            </a:r>
            <a:r>
              <a:rPr lang="en-US" sz="1200" dirty="0">
                <a:solidFill>
                  <a:srgbClr val="8B949E"/>
                </a:solidFill>
                <a:latin typeface="Segoe UI"/>
              </a:rPr>
              <a:t>   Ground the AI with open files</a:t>
            </a:r>
          </a:p>
          <a:p>
            <a:pPr algn="l">
              <a:lnSpc>
                <a:spcPts val="2000"/>
              </a:lnSpc>
              <a:spcAft>
                <a:spcPts val="100"/>
              </a:spcAft>
            </a:pPr>
            <a:endParaRPr lang="en-US" sz="1200" dirty="0">
              <a:solidFill>
                <a:srgbClr val="8B949E"/>
              </a:solidFill>
              <a:latin typeface="Segoe UI"/>
            </a:endParaRPr>
          </a:p>
          <a:p>
            <a:pPr algn="l">
              <a:lnSpc>
                <a:spcPts val="1500"/>
              </a:lnSpc>
              <a:spcAft>
                <a:spcPts val="300"/>
              </a:spcAft>
            </a:pPr>
            <a:r>
              <a:rPr lang="en-US" sz="1200" dirty="0">
                <a:solidFill>
                  <a:srgbClr val="C9D1D9"/>
                </a:solidFill>
                <a:latin typeface="Segoe UI"/>
              </a:rPr>
              <a:t>Copilot reads your Active File + Open Tabs for context.</a:t>
            </a:r>
          </a:p>
          <a:p>
            <a:pPr algn="l">
              <a:lnSpc>
                <a:spcPts val="1400"/>
              </a:lnSpc>
              <a:spcAft>
                <a:spcPts val="150"/>
              </a:spcAft>
            </a:pPr>
            <a:endParaRPr lang="en-US" sz="1100" dirty="0">
              <a:solidFill>
                <a:srgbClr val="F85149"/>
              </a:solidFill>
              <a:latin typeface="Cascadia Code"/>
            </a:endParaRPr>
          </a:p>
          <a:p>
            <a:pPr algn="l">
              <a:lnSpc>
                <a:spcPts val="1400"/>
              </a:lnSpc>
              <a:spcAft>
                <a:spcPts val="150"/>
              </a:spcAft>
            </a:pPr>
            <a:r>
              <a:rPr lang="en-US" sz="1100" dirty="0">
                <a:solidFill>
                  <a:srgbClr val="F85149"/>
                </a:solidFill>
                <a:latin typeface="Cascadia Code"/>
              </a:rPr>
              <a:t>✘ Only target file open — Copilot guesses types</a:t>
            </a:r>
          </a:p>
          <a:p>
            <a:pPr algn="l">
              <a:lnSpc>
                <a:spcPts val="1400"/>
              </a:lnSpc>
              <a:spcAft>
                <a:spcPts val="300"/>
              </a:spcAft>
            </a:pPr>
            <a:r>
              <a:rPr lang="en-US" sz="1100" dirty="0">
                <a:solidFill>
                  <a:srgbClr val="3FB950"/>
                </a:solidFill>
                <a:latin typeface="Cascadia Code"/>
              </a:rPr>
              <a:t>✔ types.ts + config.ts + target.ts all open</a:t>
            </a:r>
          </a:p>
          <a:p>
            <a:pPr algn="l">
              <a:lnSpc>
                <a:spcPts val="1200"/>
              </a:lnSpc>
            </a:pPr>
            <a:endParaRPr lang="en-US" sz="1000" i="1" dirty="0">
              <a:solidFill>
                <a:srgbClr val="BC8CFF">
                  <a:alpha val="70000"/>
                </a:srgbClr>
              </a:solidFill>
              <a:latin typeface="Segoe UI"/>
            </a:endParaRPr>
          </a:p>
          <a:p>
            <a:pPr algn="l">
              <a:lnSpc>
                <a:spcPts val="1200"/>
              </a:lnSpc>
            </a:pPr>
            <a:r>
              <a:rPr lang="en-US" sz="1000" i="1" dirty="0">
                <a:solidFill>
                  <a:srgbClr val="BC8CFF">
                    <a:alpha val="70000"/>
                  </a:srgbClr>
                </a:solidFill>
                <a:latin typeface="Segoe UI"/>
              </a:rPr>
              <a:t>↗ Precursor to Copilot Spaces orchestration</a:t>
            </a:r>
          </a:p>
        </p:txBody>
      </p:sp>
    </p:spTree>
    <p:extLst>
      <p:ext uri="{BB962C8B-B14F-4D97-AF65-F5344CB8AC3E}">
        <p14:creationId xmlns:p14="http://schemas.microsoft.com/office/powerpoint/2010/main" val="2617213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5084256612]">
  <a:themeElements>
    <a:clrScheme name="GitHub Dark">
      <a:dk1>
        <a:srgbClr val="F0F6FC"/>
      </a:dk1>
      <a:lt1>
        <a:srgbClr val="0D1117"/>
      </a:lt1>
      <a:dk2>
        <a:srgbClr val="C9D1D9"/>
      </a:dk2>
      <a:lt2>
        <a:srgbClr val="161B22"/>
      </a:lt2>
      <a:accent1>
        <a:srgbClr val="58A6FF"/>
      </a:accent1>
      <a:accent2>
        <a:srgbClr val="3FB950"/>
      </a:accent2>
      <a:accent3>
        <a:srgbClr val="D29922"/>
      </a:accent3>
      <a:accent4>
        <a:srgbClr val="BC8CFF"/>
      </a:accent4>
      <a:accent5>
        <a:srgbClr val="F85149"/>
      </a:accent5>
      <a:accent6>
        <a:srgbClr val="79C0FF"/>
      </a:accent6>
      <a:hlink>
        <a:srgbClr val="467886"/>
      </a:hlink>
      <a:folHlink>
        <a:srgbClr val="96607D"/>
      </a:folHlink>
    </a:clrScheme>
    <a:fontScheme name="GitHub">
      <a:majorFont>
        <a:latin typeface="Segoe UI Semi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F7AC36B-7933-2145-81D6-B009D203D031}">
  <we:reference id="wa200010001" version="1.0.0.1" store="en-US" storeType="OMEX"/>
  <we:alternateReferences>
    <we:reference id="wa200010001" version="1.0.0.1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423</Words>
  <Application>Microsoft Macintosh PowerPoint</Application>
  <PresentationFormat>Widescreen</PresentationFormat>
  <Paragraphs>81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Arial</vt:lpstr>
      <vt:lpstr>Cascadia Code</vt:lpstr>
      <vt:lpstr>Segoe UI</vt:lpstr>
      <vt:lpstr>Segoe UI Semibold</vt:lpstr>
      <vt:lpstr>Office Theme [1775084256612]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Hogg - Arinco</dc:creator>
  <cp:lastModifiedBy>Stephen Hogg - Arinco</cp:lastModifiedBy>
  <cp:revision>6</cp:revision>
  <dcterms:created xsi:type="dcterms:W3CDTF">2026-04-01T21:15:15Z</dcterms:created>
  <dcterms:modified xsi:type="dcterms:W3CDTF">2026-04-01T23:38:10Z</dcterms:modified>
</cp:coreProperties>
</file>