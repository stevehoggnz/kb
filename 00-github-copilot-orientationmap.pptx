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"/>
          <p:cNvSpPr/>
          <p:nvPr/>
        </p:nvSpPr>
        <p:spPr>
          <a:xfrm>
            <a:off x="457200" y="127000"/>
            <a:ext cx="11277600" cy="5588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36000" anchor="ctr"/>
          <a:lstStyle/>
          <a:p>
            <a:pPr algn="l"/>
            <a:r>
              <a:rPr lang="en-US" sz="2200" b="1" dirty="0">
                <a:solidFill>
                  <a:srgbClr val="3FB950"/>
                </a:solidFill>
                <a:latin typeface="Segoe UI Semibold"/>
              </a:rPr>
              <a:t>GitHub Copilot Proficiency Matrix</a:t>
            </a:r>
            <a:r>
              <a:rPr lang="en-US" sz="1400" dirty="0">
                <a:solidFill>
                  <a:srgbClr val="8B949E"/>
                </a:solidFill>
                <a:latin typeface="Segoe UI"/>
              </a:rPr>
              <a:t xml:space="preserve">  |  Feature Threads × Advancement Zones</a:t>
            </a:r>
          </a:p>
        </p:txBody>
      </p:sp>
      <p:sp>
        <p:nvSpPr>
          <p:cNvPr id="11" name="CornerCell"/>
          <p:cNvSpPr/>
          <p:nvPr/>
        </p:nvSpPr>
        <p:spPr>
          <a:xfrm>
            <a:off x="457200" y="787400"/>
            <a:ext cx="1860804" cy="482600"/>
          </a:xfrm>
          <a:prstGeom prst="roundRect">
            <a:avLst>
              <a:gd name="adj" fmla="val 5000"/>
            </a:avLst>
          </a:prstGeom>
          <a:ln w="12700">
            <a:solidFill>
              <a:srgbClr val="30363D"/>
            </a:solidFill>
          </a:ln>
        </p:spPr>
        <p:txBody>
          <a:bodyPr wrap="square" lIns="54000" tIns="36000" rIns="54000" bIns="36000" anchor="ctr"/>
          <a:lstStyle/>
          <a:p>
            <a:pPr algn="ctr"/>
            <a:r>
              <a:rPr lang="en-US" sz="1000" dirty="0">
                <a:solidFill>
                  <a:srgbClr val="8B949E"/>
                </a:solidFill>
                <a:latin typeface="Segoe UI"/>
              </a:rPr>
              <a:t>FEATURE →</a:t>
            </a:r>
          </a:p>
        </p:txBody>
      </p:sp>
      <p:sp>
        <p:nvSpPr>
          <p:cNvPr id="12" name="ZoneHeader1"/>
          <p:cNvSpPr/>
          <p:nvPr/>
        </p:nvSpPr>
        <p:spPr>
          <a:xfrm>
            <a:off x="2343404" y="787400"/>
            <a:ext cx="3088132" cy="482600"/>
          </a:xfrm>
          <a:prstGeom prst="roundRect">
            <a:avLst>
              <a:gd name="adj" fmla="val 5000"/>
            </a:avLst>
          </a:prstGeom>
          <a:ln w="12700">
            <a:solidFill>
              <a:srgbClr val="30363D"/>
            </a:solidFill>
          </a:ln>
        </p:spPr>
        <p:txBody>
          <a:bodyPr wrap="square" lIns="54000" tIns="36000" rIns="54000" bIns="36000" anchor="ctr"/>
          <a:lstStyle/>
          <a:p>
            <a:pPr algn="ctr"/>
            <a:r>
              <a:rPr lang="en-US" sz="1400" b="1" dirty="0">
                <a:solidFill>
                  <a:srgbClr val="3FB950"/>
                </a:solidFill>
                <a:latin typeface="Segoe UI Semibold"/>
              </a:rPr>
              <a:t>Zone 1: Foundational</a:t>
            </a:r>
          </a:p>
          <a:p>
            <a:pPr algn="ctr"/>
            <a:r>
              <a:rPr lang="en-US" sz="900" dirty="0">
                <a:solidFill>
                  <a:srgbClr val="8B949E"/>
                </a:solidFill>
                <a:latin typeface="Segoe UI"/>
              </a:rPr>
              <a:t>Assistive • IDE Editor Level</a:t>
            </a:r>
          </a:p>
        </p:txBody>
      </p:sp>
      <p:sp>
        <p:nvSpPr>
          <p:cNvPr id="13" name="ZoneHeader2"/>
          <p:cNvSpPr/>
          <p:nvPr/>
        </p:nvSpPr>
        <p:spPr>
          <a:xfrm>
            <a:off x="5482336" y="787400"/>
            <a:ext cx="3088132" cy="482600"/>
          </a:xfrm>
          <a:prstGeom prst="roundRect">
            <a:avLst>
              <a:gd name="adj" fmla="val 5000"/>
            </a:avLst>
          </a:prstGeom>
          <a:ln w="12700">
            <a:solidFill>
              <a:srgbClr val="30363D"/>
            </a:solidFill>
          </a:ln>
        </p:spPr>
        <p:txBody>
          <a:bodyPr wrap="square" lIns="54000" tIns="36000" rIns="54000" bIns="36000" anchor="ctr"/>
          <a:lstStyle/>
          <a:p>
            <a:pPr algn="ctr"/>
            <a:r>
              <a:rPr lang="en-US" sz="1400" b="1" dirty="0">
                <a:solidFill>
                  <a:srgbClr val="58A6FF"/>
                </a:solidFill>
                <a:latin typeface="Segoe UI Semibold"/>
              </a:rPr>
              <a:t>Zone 2: Intermediate</a:t>
            </a:r>
          </a:p>
          <a:p>
            <a:pPr algn="ctr"/>
            <a:r>
              <a:rPr lang="en-US" sz="900" dirty="0">
                <a:solidFill>
                  <a:srgbClr val="8B949E"/>
                </a:solidFill>
                <a:latin typeface="Segoe UI"/>
              </a:rPr>
              <a:t>Collaborative • Repository/Team Level</a:t>
            </a:r>
          </a:p>
        </p:txBody>
      </p:sp>
      <p:sp>
        <p:nvSpPr>
          <p:cNvPr id="14" name="ZoneHeader3"/>
          <p:cNvSpPr/>
          <p:nvPr/>
        </p:nvSpPr>
        <p:spPr>
          <a:xfrm>
            <a:off x="8621268" y="787400"/>
            <a:ext cx="3088132" cy="482600"/>
          </a:xfrm>
          <a:prstGeom prst="roundRect">
            <a:avLst>
              <a:gd name="adj" fmla="val 5000"/>
            </a:avLst>
          </a:prstGeom>
          <a:ln w="12700">
            <a:solidFill>
              <a:srgbClr val="30363D"/>
            </a:solidFill>
          </a:ln>
        </p:spPr>
        <p:txBody>
          <a:bodyPr wrap="square" lIns="54000" tIns="36000" rIns="54000" bIns="36000" anchor="ctr"/>
          <a:lstStyle/>
          <a:p>
            <a:pPr algn="ctr"/>
            <a:r>
              <a:rPr lang="en-US" sz="1400" b="1" dirty="0">
                <a:solidFill>
                  <a:srgbClr val="BC8CFF"/>
                </a:solidFill>
                <a:latin typeface="Segoe UI Semibold"/>
              </a:rPr>
              <a:t>Zone 3: Advanced</a:t>
            </a:r>
          </a:p>
          <a:p>
            <a:pPr algn="ctr"/>
            <a:r>
              <a:rPr lang="en-US" sz="900" dirty="0">
                <a:solidFill>
                  <a:srgbClr val="8B949E"/>
                </a:solidFill>
                <a:latin typeface="Segoe UI"/>
              </a:rPr>
              <a:t>Agentic • Architect/Org Level</a:t>
            </a:r>
          </a:p>
        </p:txBody>
      </p:sp>
      <p:sp>
        <p:nvSpPr>
          <p:cNvPr id="15" name="FeatureLabel1"/>
          <p:cNvSpPr/>
          <p:nvPr/>
        </p:nvSpPr>
        <p:spPr>
          <a:xfrm>
            <a:off x="457200" y="1308100"/>
            <a:ext cx="1835404" cy="1206500"/>
          </a:xfrm>
          <a:prstGeom prst="roundRect">
            <a:avLst>
              <a:gd name="adj" fmla="val 5000"/>
            </a:avLst>
          </a:prstGeom>
          <a:ln w="12700">
            <a:solidFill>
              <a:srgbClr val="30363D"/>
            </a:solidFill>
          </a:ln>
        </p:spPr>
        <p:txBody>
          <a:bodyPr wrap="square" lIns="54000" tIns="36000" rIns="54000" bIns="36000" anchor="ctr"/>
          <a:lstStyle/>
          <a:p>
            <a:pPr algn="ctr">
              <a:lnSpc>
                <a:spcPts val="1200"/>
              </a:lnSpc>
            </a:pPr>
            <a:r>
              <a:rPr lang="en-US" sz="1100" b="1" dirty="0">
                <a:solidFill>
                  <a:srgbClr val="3FB950"/>
                </a:solidFill>
                <a:latin typeface="Segoe UI Semibold"/>
              </a:rPr>
              <a:t>IDE Workflow</a:t>
            </a:r>
          </a:p>
          <a:p>
            <a:pPr algn="ctr">
              <a:lnSpc>
                <a:spcPts val="1000"/>
              </a:lnSpc>
            </a:pPr>
            <a:r>
              <a:rPr lang="en-US" sz="800" i="1" dirty="0">
                <a:solidFill>
                  <a:srgbClr val="8B949E"/>
                </a:solidFill>
                <a:latin typeface="Segoe UI"/>
              </a:rPr>
              <a:t>The Editor</a:t>
            </a:r>
          </a:p>
        </p:txBody>
      </p:sp>
      <p:sp>
        <p:nvSpPr>
          <p:cNvPr id="16" name="Cell_1_1"/>
          <p:cNvSpPr/>
          <p:nvPr/>
        </p:nvSpPr>
        <p:spPr>
          <a:xfrm>
            <a:off x="2343404" y="1308100"/>
            <a:ext cx="3088132" cy="1206500"/>
          </a:xfrm>
          <a:prstGeom prst="roundRect">
            <a:avLst>
              <a:gd name="adj" fmla="val 5000"/>
            </a:avLst>
          </a:prstGeom>
          <a:ln w="12700">
            <a:solidFill>
              <a:srgbClr val="30363D"/>
            </a:solidFill>
          </a:ln>
        </p:spPr>
        <p:txBody>
          <a:bodyPr wrap="square" lIns="54000" tIns="36000" rIns="54000" bIns="36000" anchor="ctr"/>
          <a:lstStyle/>
          <a:p>
            <a:pPr algn="l">
              <a:lnSpc>
                <a:spcPts val="1200"/>
              </a:lnSpc>
              <a:spcAft>
                <a:spcPts val="200"/>
              </a:spcAft>
            </a:pPr>
            <a:r>
              <a:rPr lang="en-US" sz="1000" b="1" dirty="0">
                <a:solidFill>
                  <a:srgbClr val="3FB950"/>
                </a:solidFill>
                <a:latin typeface="Segoe UI Semibold"/>
              </a:rPr>
              <a:t>Ghost Text</a:t>
            </a:r>
          </a:p>
          <a:p>
            <a:pPr algn="l">
              <a:lnSpc>
                <a:spcPts val="1100"/>
              </a:lnSpc>
            </a:pPr>
            <a:r>
              <a:rPr lang="en-US" sz="900" dirty="0">
                <a:solidFill>
                  <a:srgbClr val="C9D1D9"/>
                </a:solidFill>
                <a:latin typeface="Segoe UI"/>
              </a:rPr>
              <a:t>Inline code and comment completion</a:t>
            </a:r>
          </a:p>
        </p:txBody>
      </p:sp>
      <p:sp>
        <p:nvSpPr>
          <p:cNvPr id="17" name="Cell_1_2"/>
          <p:cNvSpPr/>
          <p:nvPr/>
        </p:nvSpPr>
        <p:spPr>
          <a:xfrm>
            <a:off x="5482336" y="1308100"/>
            <a:ext cx="3088132" cy="1206500"/>
          </a:xfrm>
          <a:prstGeom prst="roundRect">
            <a:avLst>
              <a:gd name="adj" fmla="val 5000"/>
            </a:avLst>
          </a:prstGeom>
          <a:ln w="12700">
            <a:solidFill>
              <a:srgbClr val="30363D"/>
            </a:solidFill>
          </a:ln>
        </p:spPr>
        <p:txBody>
          <a:bodyPr wrap="square" lIns="54000" tIns="36000" rIns="54000" bIns="36000" anchor="ctr"/>
          <a:lstStyle/>
          <a:p>
            <a:pPr algn="l">
              <a:lnSpc>
                <a:spcPts val="1200"/>
              </a:lnSpc>
              <a:spcAft>
                <a:spcPts val="200"/>
              </a:spcAft>
            </a:pPr>
            <a:r>
              <a:rPr lang="en-US" sz="1000" b="1" dirty="0">
                <a:solidFill>
                  <a:srgbClr val="58A6FF"/>
                </a:solidFill>
                <a:latin typeface="Segoe UI Semibold"/>
              </a:rPr>
              <a:t>Chat &amp; Workspace</a:t>
            </a:r>
          </a:p>
          <a:p>
            <a:pPr algn="l">
              <a:lnSpc>
                <a:spcPts val="1100"/>
              </a:lnSpc>
            </a:pPr>
            <a:r>
              <a:rPr lang="en-US" sz="900" dirty="0">
                <a:solidFill>
                  <a:srgbClr val="C9D1D9"/>
                </a:solidFill>
                <a:latin typeface="Segoe UI"/>
              </a:rPr>
              <a:t>Multi-file context via @workspace. /explain and /tests commands</a:t>
            </a:r>
          </a:p>
        </p:txBody>
      </p:sp>
      <p:sp>
        <p:nvSpPr>
          <p:cNvPr id="18" name="Cell_1_3"/>
          <p:cNvSpPr/>
          <p:nvPr/>
        </p:nvSpPr>
        <p:spPr>
          <a:xfrm>
            <a:off x="8621268" y="1308100"/>
            <a:ext cx="3088132" cy="1206500"/>
          </a:xfrm>
          <a:prstGeom prst="roundRect">
            <a:avLst>
              <a:gd name="adj" fmla="val 5000"/>
            </a:avLst>
          </a:prstGeom>
          <a:ln w="12700">
            <a:solidFill>
              <a:srgbClr val="30363D"/>
            </a:solidFill>
          </a:ln>
        </p:spPr>
        <p:txBody>
          <a:bodyPr wrap="square" lIns="54000" tIns="36000" rIns="54000" bIns="36000" anchor="ctr"/>
          <a:lstStyle/>
          <a:p>
            <a:pPr algn="l">
              <a:lnSpc>
                <a:spcPts val="1200"/>
              </a:lnSpc>
              <a:spcAft>
                <a:spcPts val="200"/>
              </a:spcAft>
            </a:pPr>
            <a:r>
              <a:rPr lang="en-US" sz="1000" b="1" dirty="0">
                <a:solidFill>
                  <a:srgbClr val="BC8CFF"/>
                </a:solidFill>
                <a:latin typeface="Segoe UI Semibold"/>
              </a:rPr>
              <a:t>Copilot Spaces</a:t>
            </a:r>
          </a:p>
          <a:p>
            <a:pPr algn="l">
              <a:lnSpc>
                <a:spcPts val="1100"/>
              </a:lnSpc>
            </a:pPr>
            <a:r>
              <a:rPr lang="en-US" sz="900" dirty="0">
                <a:solidFill>
                  <a:srgbClr val="C9D1D9"/>
                </a:solidFill>
                <a:latin typeface="Segoe UI"/>
              </a:rPr>
              <a:t>Visual workspace for architecture visualization and complex refactoring</a:t>
            </a:r>
          </a:p>
        </p:txBody>
      </p:sp>
      <p:sp>
        <p:nvSpPr>
          <p:cNvPr id="19" name="FeatureLabel2"/>
          <p:cNvSpPr/>
          <p:nvPr/>
        </p:nvSpPr>
        <p:spPr>
          <a:xfrm>
            <a:off x="457200" y="2654300"/>
            <a:ext cx="1835404" cy="1206500"/>
          </a:xfrm>
          <a:prstGeom prst="roundRect">
            <a:avLst>
              <a:gd name="adj" fmla="val 5000"/>
            </a:avLst>
          </a:prstGeom>
          <a:ln w="12700">
            <a:solidFill>
              <a:srgbClr val="30363D"/>
            </a:solidFill>
          </a:ln>
        </p:spPr>
        <p:txBody>
          <a:bodyPr wrap="square" lIns="54000" tIns="36000" rIns="54000" bIns="36000" anchor="ctr"/>
          <a:lstStyle/>
          <a:p>
            <a:pPr algn="ctr">
              <a:lnSpc>
                <a:spcPts val="1200"/>
              </a:lnSpc>
            </a:pPr>
            <a:r>
              <a:rPr lang="en-US" sz="1100" b="1" dirty="0">
                <a:solidFill>
                  <a:srgbClr val="58A6FF"/>
                </a:solidFill>
                <a:latin typeface="Segoe UI Semibold"/>
              </a:rPr>
              <a:t>Agentic Automation</a:t>
            </a:r>
          </a:p>
          <a:p>
            <a:pPr algn="ctr">
              <a:lnSpc>
                <a:spcPts val="1000"/>
              </a:lnSpc>
            </a:pPr>
            <a:r>
              <a:rPr lang="en-US" sz="800" i="1" dirty="0">
                <a:solidFill>
                  <a:srgbClr val="8B949E"/>
                </a:solidFill>
                <a:latin typeface="Segoe UI"/>
              </a:rPr>
              <a:t>CLI &amp; SDK</a:t>
            </a:r>
          </a:p>
        </p:txBody>
      </p:sp>
      <p:sp>
        <p:nvSpPr>
          <p:cNvPr id="20" name="Cell_2_1"/>
          <p:cNvSpPr/>
          <p:nvPr/>
        </p:nvSpPr>
        <p:spPr>
          <a:xfrm>
            <a:off x="2343404" y="2654300"/>
            <a:ext cx="3088132" cy="1206500"/>
          </a:xfrm>
          <a:prstGeom prst="roundRect">
            <a:avLst>
              <a:gd name="adj" fmla="val 5000"/>
            </a:avLst>
          </a:prstGeom>
          <a:ln w="12700">
            <a:solidFill>
              <a:srgbClr val="30363D"/>
            </a:solidFill>
          </a:ln>
        </p:spPr>
        <p:txBody>
          <a:bodyPr wrap="square" lIns="54000" tIns="36000" rIns="54000" bIns="36000" anchor="ctr"/>
          <a:lstStyle/>
          <a:p>
            <a:pPr algn="l">
              <a:lnSpc>
                <a:spcPts val="1200"/>
              </a:lnSpc>
              <a:spcAft>
                <a:spcPts val="200"/>
              </a:spcAft>
            </a:pPr>
            <a:r>
              <a:rPr lang="en-US" sz="1000" b="1" dirty="0">
                <a:solidFill>
                  <a:srgbClr val="3FB950"/>
                </a:solidFill>
                <a:latin typeface="Segoe UI Semibold"/>
              </a:rPr>
              <a:t>Command Suggestion</a:t>
            </a:r>
          </a:p>
          <a:p>
            <a:pPr algn="l">
              <a:lnSpc>
                <a:spcPts val="1100"/>
              </a:lnSpc>
            </a:pPr>
            <a:r>
              <a:rPr lang="en-US" sz="900" dirty="0">
                <a:solidFill>
                  <a:srgbClr val="C9D1D9"/>
                </a:solidFill>
                <a:latin typeface="Segoe UI"/>
              </a:rPr>
              <a:t>Basic gh copilot suggest in terminal</a:t>
            </a:r>
          </a:p>
        </p:txBody>
      </p:sp>
      <p:sp>
        <p:nvSpPr>
          <p:cNvPr id="21" name="Cell_2_2"/>
          <p:cNvSpPr/>
          <p:nvPr/>
        </p:nvSpPr>
        <p:spPr>
          <a:xfrm>
            <a:off x="5482336" y="2654300"/>
            <a:ext cx="3088132" cy="1206500"/>
          </a:xfrm>
          <a:prstGeom prst="roundRect">
            <a:avLst>
              <a:gd name="adj" fmla="val 5000"/>
            </a:avLst>
          </a:prstGeom>
          <a:ln w="12700">
            <a:solidFill>
              <a:srgbClr val="30363D"/>
            </a:solidFill>
          </a:ln>
        </p:spPr>
        <p:txBody>
          <a:bodyPr wrap="square" lIns="54000" tIns="36000" rIns="54000" bIns="36000" anchor="ctr"/>
          <a:lstStyle/>
          <a:p>
            <a:pPr algn="l">
              <a:lnSpc>
                <a:spcPts val="1200"/>
              </a:lnSpc>
              <a:spcAft>
                <a:spcPts val="200"/>
              </a:spcAft>
            </a:pPr>
            <a:r>
              <a:rPr lang="en-US" sz="1000" b="1" dirty="0">
                <a:solidFill>
                  <a:srgbClr val="58A6FF"/>
                </a:solidFill>
                <a:latin typeface="Segoe UI Semibold"/>
              </a:rPr>
              <a:t>Interactive CLI Chat</a:t>
            </a:r>
          </a:p>
          <a:p>
            <a:pPr algn="l">
              <a:lnSpc>
                <a:spcPts val="1100"/>
              </a:lnSpc>
            </a:pPr>
            <a:r>
              <a:rPr lang="en-US" sz="900" dirty="0">
                <a:solidFill>
                  <a:srgbClr val="C9D1D9"/>
                </a:solidFill>
                <a:latin typeface="Segoe UI"/>
              </a:rPr>
              <a:t>Debugging terminal errors and shell scripts</a:t>
            </a:r>
          </a:p>
        </p:txBody>
      </p:sp>
      <p:sp>
        <p:nvSpPr>
          <p:cNvPr id="22" name="Cell_2_3"/>
          <p:cNvSpPr/>
          <p:nvPr/>
        </p:nvSpPr>
        <p:spPr>
          <a:xfrm>
            <a:off x="8621268" y="2654300"/>
            <a:ext cx="3088132" cy="1206500"/>
          </a:xfrm>
          <a:prstGeom prst="roundRect">
            <a:avLst>
              <a:gd name="adj" fmla="val 5000"/>
            </a:avLst>
          </a:prstGeom>
          <a:ln w="12700">
            <a:solidFill>
              <a:srgbClr val="30363D"/>
            </a:solidFill>
          </a:ln>
        </p:spPr>
        <p:txBody>
          <a:bodyPr wrap="square" lIns="54000" tIns="36000" rIns="54000" bIns="36000" anchor="ctr"/>
          <a:lstStyle/>
          <a:p>
            <a:pPr algn="l">
              <a:lnSpc>
                <a:spcPts val="1200"/>
              </a:lnSpc>
              <a:spcAft>
                <a:spcPts val="200"/>
              </a:spcAft>
            </a:pPr>
            <a:r>
              <a:rPr lang="en-US" sz="1000" b="1" dirty="0">
                <a:solidFill>
                  <a:srgbClr val="BC8CFF"/>
                </a:solidFill>
                <a:latin typeface="Segoe UI Semibold"/>
              </a:rPr>
              <a:t>CLI Autopilot Mode</a:t>
            </a:r>
          </a:p>
          <a:p>
            <a:pPr algn="l">
              <a:lnSpc>
                <a:spcPts val="1100"/>
              </a:lnSpc>
            </a:pPr>
            <a:r>
              <a:rPr lang="en-US" sz="900" dirty="0">
                <a:solidFill>
                  <a:srgbClr val="C9D1D9"/>
                </a:solidFill>
                <a:latin typeface="Segoe UI"/>
              </a:rPr>
              <a:t>Autonomous plan-act-review loops for complex file operations</a:t>
            </a:r>
          </a:p>
        </p:txBody>
      </p:sp>
      <p:sp>
        <p:nvSpPr>
          <p:cNvPr id="23" name="FeatureLabel3"/>
          <p:cNvSpPr/>
          <p:nvPr/>
        </p:nvSpPr>
        <p:spPr>
          <a:xfrm>
            <a:off x="457200" y="4000500"/>
            <a:ext cx="1835404" cy="1206500"/>
          </a:xfrm>
          <a:prstGeom prst="roundRect">
            <a:avLst>
              <a:gd name="adj" fmla="val 5000"/>
            </a:avLst>
          </a:prstGeom>
          <a:ln w="12700">
            <a:solidFill>
              <a:srgbClr val="30363D"/>
            </a:solidFill>
          </a:ln>
        </p:spPr>
        <p:txBody>
          <a:bodyPr wrap="square" lIns="54000" tIns="36000" rIns="54000" bIns="36000" anchor="ctr"/>
          <a:lstStyle/>
          <a:p>
            <a:pPr algn="ctr">
              <a:lnSpc>
                <a:spcPts val="1200"/>
              </a:lnSpc>
            </a:pPr>
            <a:r>
              <a:rPr lang="en-US" sz="1100" b="1" dirty="0">
                <a:solidFill>
                  <a:srgbClr val="D29922"/>
                </a:solidFill>
                <a:latin typeface="Segoe UI Semibold"/>
              </a:rPr>
              <a:t>Enterprise Knowledge</a:t>
            </a:r>
          </a:p>
          <a:p>
            <a:pPr algn="ctr">
              <a:lnSpc>
                <a:spcPts val="1000"/>
              </a:lnSpc>
            </a:pPr>
            <a:r>
              <a:rPr lang="en-US" sz="800" i="1" dirty="0">
                <a:solidFill>
                  <a:srgbClr val="8B949E"/>
                </a:solidFill>
                <a:latin typeface="Segoe UI"/>
              </a:rPr>
              <a:t>Governance</a:t>
            </a:r>
          </a:p>
        </p:txBody>
      </p:sp>
      <p:sp>
        <p:nvSpPr>
          <p:cNvPr id="24" name="Cell_3_1"/>
          <p:cNvSpPr/>
          <p:nvPr/>
        </p:nvSpPr>
        <p:spPr>
          <a:xfrm>
            <a:off x="2343404" y="4000500"/>
            <a:ext cx="3088132" cy="1206500"/>
          </a:xfrm>
          <a:prstGeom prst="roundRect">
            <a:avLst>
              <a:gd name="adj" fmla="val 5000"/>
            </a:avLst>
          </a:prstGeom>
          <a:ln w="12700">
            <a:solidFill>
              <a:srgbClr val="30363D"/>
            </a:solidFill>
          </a:ln>
        </p:spPr>
        <p:txBody>
          <a:bodyPr wrap="square" lIns="54000" tIns="36000" rIns="54000" bIns="36000" anchor="ctr"/>
          <a:lstStyle/>
          <a:p>
            <a:pPr algn="l">
              <a:lnSpc>
                <a:spcPts val="1200"/>
              </a:lnSpc>
              <a:spcAft>
                <a:spcPts val="200"/>
              </a:spcAft>
            </a:pPr>
            <a:r>
              <a:rPr lang="en-US" sz="1000" b="1" dirty="0">
                <a:solidFill>
                  <a:srgbClr val="3FB950"/>
                </a:solidFill>
                <a:latin typeface="Segoe UI Semibold"/>
              </a:rPr>
              <a:t>Content Exclusion</a:t>
            </a:r>
          </a:p>
          <a:p>
            <a:pPr algn="l">
              <a:lnSpc>
                <a:spcPts val="1100"/>
              </a:lnSpc>
            </a:pPr>
            <a:r>
              <a:rPr lang="en-US" sz="900" dirty="0">
                <a:solidFill>
                  <a:srgbClr val="C9D1D9"/>
                </a:solidFill>
                <a:latin typeface="Segoe UI"/>
              </a:rPr>
              <a:t>Basic safety controls on file visibility</a:t>
            </a:r>
          </a:p>
        </p:txBody>
      </p:sp>
      <p:sp>
        <p:nvSpPr>
          <p:cNvPr id="25" name="Cell_3_2"/>
          <p:cNvSpPr/>
          <p:nvPr/>
        </p:nvSpPr>
        <p:spPr>
          <a:xfrm>
            <a:off x="5482336" y="4000500"/>
            <a:ext cx="3088132" cy="1206500"/>
          </a:xfrm>
          <a:prstGeom prst="roundRect">
            <a:avLst>
              <a:gd name="adj" fmla="val 5000"/>
            </a:avLst>
          </a:prstGeom>
          <a:ln w="12700">
            <a:solidFill>
              <a:srgbClr val="30363D"/>
            </a:solidFill>
          </a:ln>
        </p:spPr>
        <p:txBody>
          <a:bodyPr wrap="square" lIns="54000" tIns="36000" rIns="54000" bIns="36000" anchor="ctr"/>
          <a:lstStyle/>
          <a:p>
            <a:pPr algn="l">
              <a:lnSpc>
                <a:spcPts val="1200"/>
              </a:lnSpc>
              <a:spcAft>
                <a:spcPts val="200"/>
              </a:spcAft>
            </a:pPr>
            <a:r>
              <a:rPr lang="en-US" sz="1000" b="1" dirty="0">
                <a:solidFill>
                  <a:srgbClr val="58A6FF"/>
                </a:solidFill>
                <a:latin typeface="Segoe UI Semibold"/>
              </a:rPr>
              <a:t>Knowledge Bases</a:t>
            </a:r>
          </a:p>
          <a:p>
            <a:pPr algn="l">
              <a:lnSpc>
                <a:spcPts val="1100"/>
              </a:lnSpc>
            </a:pPr>
            <a:r>
              <a:rPr lang="en-US" sz="900" dirty="0">
                <a:solidFill>
                  <a:srgbClr val="C9D1D9"/>
                </a:solidFill>
                <a:latin typeface="Segoe UI"/>
              </a:rPr>
              <a:t>Indexing internal docs/Wikis for contextual answers</a:t>
            </a:r>
          </a:p>
        </p:txBody>
      </p:sp>
      <p:sp>
        <p:nvSpPr>
          <p:cNvPr id="26" name="Cell_3_3"/>
          <p:cNvSpPr/>
          <p:nvPr/>
        </p:nvSpPr>
        <p:spPr>
          <a:xfrm>
            <a:off x="8621268" y="4000500"/>
            <a:ext cx="3088132" cy="1206500"/>
          </a:xfrm>
          <a:prstGeom prst="roundRect">
            <a:avLst>
              <a:gd name="adj" fmla="val 5000"/>
            </a:avLst>
          </a:prstGeom>
          <a:ln w="12700">
            <a:solidFill>
              <a:srgbClr val="30363D"/>
            </a:solidFill>
          </a:ln>
        </p:spPr>
        <p:txBody>
          <a:bodyPr wrap="square" lIns="54000" tIns="36000" rIns="54000" bIns="36000" anchor="ctr"/>
          <a:lstStyle/>
          <a:p>
            <a:pPr algn="l">
              <a:lnSpc>
                <a:spcPts val="1200"/>
              </a:lnSpc>
              <a:spcAft>
                <a:spcPts val="200"/>
              </a:spcAft>
            </a:pPr>
            <a:r>
              <a:rPr lang="en-US" sz="1000" b="1" dirty="0">
                <a:solidFill>
                  <a:srgbClr val="BC8CFF"/>
                </a:solidFill>
                <a:latin typeface="Segoe UI Semibold"/>
              </a:rPr>
              <a:t>AI Code Review Agent</a:t>
            </a:r>
          </a:p>
          <a:p>
            <a:pPr algn="l">
              <a:lnSpc>
                <a:spcPts val="1100"/>
              </a:lnSpc>
            </a:pPr>
            <a:r>
              <a:rPr lang="en-US" sz="900" dirty="0">
                <a:solidFill>
                  <a:srgbClr val="C9D1D9"/>
                </a:solidFill>
                <a:latin typeface="Segoe UI"/>
              </a:rPr>
              <a:t>Autonomous security and standards auditing on PRs</a:t>
            </a:r>
          </a:p>
        </p:txBody>
      </p:sp>
      <p:sp>
        <p:nvSpPr>
          <p:cNvPr id="27" name="FeatureLabel4"/>
          <p:cNvSpPr/>
          <p:nvPr/>
        </p:nvSpPr>
        <p:spPr>
          <a:xfrm>
            <a:off x="457200" y="5346700"/>
            <a:ext cx="1835404" cy="1206500"/>
          </a:xfrm>
          <a:prstGeom prst="roundRect">
            <a:avLst>
              <a:gd name="adj" fmla="val 5000"/>
            </a:avLst>
          </a:prstGeom>
          <a:ln w="12700">
            <a:solidFill>
              <a:srgbClr val="30363D"/>
            </a:solidFill>
          </a:ln>
        </p:spPr>
        <p:txBody>
          <a:bodyPr wrap="square" lIns="54000" tIns="36000" rIns="54000" bIns="36000" anchor="ctr"/>
          <a:lstStyle/>
          <a:p>
            <a:pPr algn="ctr">
              <a:lnSpc>
                <a:spcPts val="1200"/>
              </a:lnSpc>
            </a:pPr>
            <a:r>
              <a:rPr lang="en-US" sz="1100" b="1" dirty="0">
                <a:solidFill>
                  <a:srgbClr val="F78166"/>
                </a:solidFill>
                <a:latin typeface="Segoe UI Semibold"/>
              </a:rPr>
              <a:t>Extensions &amp; Modernization</a:t>
            </a:r>
          </a:p>
          <a:p>
            <a:pPr algn="ctr">
              <a:lnSpc>
                <a:spcPts val="1000"/>
              </a:lnSpc>
            </a:pPr>
            <a:r>
              <a:rPr lang="en-US" sz="800" i="1" dirty="0">
                <a:solidFill>
                  <a:srgbClr val="8B949E"/>
                </a:solidFill>
                <a:latin typeface="Segoe UI"/>
              </a:rPr>
              <a:t>Ecosystem</a:t>
            </a:r>
          </a:p>
        </p:txBody>
      </p:sp>
      <p:sp>
        <p:nvSpPr>
          <p:cNvPr id="28" name="Cell_4_1"/>
          <p:cNvSpPr/>
          <p:nvPr/>
        </p:nvSpPr>
        <p:spPr>
          <a:xfrm>
            <a:off x="2343404" y="5346700"/>
            <a:ext cx="3088132" cy="1206500"/>
          </a:xfrm>
          <a:prstGeom prst="roundRect">
            <a:avLst>
              <a:gd name="adj" fmla="val 5000"/>
            </a:avLst>
          </a:prstGeom>
          <a:ln w="12700">
            <a:solidFill>
              <a:srgbClr val="30363D"/>
            </a:solidFill>
          </a:ln>
        </p:spPr>
        <p:txBody>
          <a:bodyPr wrap="square" lIns="54000" tIns="36000" rIns="54000" bIns="36000" anchor="ctr"/>
          <a:lstStyle/>
          <a:p>
            <a:pPr algn="l">
              <a:lnSpc>
                <a:spcPts val="1200"/>
              </a:lnSpc>
              <a:spcAft>
                <a:spcPts val="200"/>
              </a:spcAft>
            </a:pPr>
            <a:r>
              <a:rPr lang="en-US" sz="1000" b="1" dirty="0">
                <a:solidFill>
                  <a:srgbClr val="3FB950"/>
                </a:solidFill>
                <a:latin typeface="Segoe UI Semibold"/>
              </a:rPr>
              <a:t>Slash Commands</a:t>
            </a:r>
          </a:p>
          <a:p>
            <a:pPr algn="l">
              <a:lnSpc>
                <a:spcPts val="1100"/>
              </a:lnSpc>
            </a:pPr>
            <a:r>
              <a:rPr lang="en-US" sz="900" dirty="0">
                <a:solidFill>
                  <a:srgbClr val="C9D1D9"/>
                </a:solidFill>
                <a:latin typeface="Segoe UI"/>
              </a:rPr>
              <a:t>Basic code refactoring (/fix)</a:t>
            </a:r>
          </a:p>
        </p:txBody>
      </p:sp>
      <p:sp>
        <p:nvSpPr>
          <p:cNvPr id="29" name="Cell_4_2"/>
          <p:cNvSpPr/>
          <p:nvPr/>
        </p:nvSpPr>
        <p:spPr>
          <a:xfrm>
            <a:off x="5482336" y="5346700"/>
            <a:ext cx="3088132" cy="1206500"/>
          </a:xfrm>
          <a:prstGeom prst="roundRect">
            <a:avLst>
              <a:gd name="adj" fmla="val 5000"/>
            </a:avLst>
          </a:prstGeom>
          <a:ln w="12700">
            <a:solidFill>
              <a:srgbClr val="30363D"/>
            </a:solidFill>
          </a:ln>
        </p:spPr>
        <p:txBody>
          <a:bodyPr wrap="square" lIns="54000" tIns="36000" rIns="54000" bIns="36000" anchor="ctr"/>
          <a:lstStyle/>
          <a:p>
            <a:pPr algn="l">
              <a:lnSpc>
                <a:spcPts val="1200"/>
              </a:lnSpc>
              <a:spcAft>
                <a:spcPts val="200"/>
              </a:spcAft>
            </a:pPr>
            <a:r>
              <a:rPr lang="en-US" sz="1000" b="1" dirty="0">
                <a:solidFill>
                  <a:srgbClr val="58A6FF"/>
                </a:solidFill>
                <a:latin typeface="Segoe UI Semibold"/>
              </a:rPr>
              <a:t>1st Party Extensions</a:t>
            </a:r>
          </a:p>
          <a:p>
            <a:pPr algn="l">
              <a:lnSpc>
                <a:spcPts val="1100"/>
              </a:lnSpc>
            </a:pPr>
            <a:r>
              <a:rPr lang="en-US" sz="900" dirty="0">
                <a:solidFill>
                  <a:srgbClr val="C9D1D9"/>
                </a:solidFill>
                <a:latin typeface="Segoe UI"/>
              </a:rPr>
              <a:t>Connecting to Azure Database, Teams, and more</a:t>
            </a:r>
          </a:p>
        </p:txBody>
      </p:sp>
      <p:sp>
        <p:nvSpPr>
          <p:cNvPr id="30" name="Cell_4_3"/>
          <p:cNvSpPr/>
          <p:nvPr/>
        </p:nvSpPr>
        <p:spPr>
          <a:xfrm>
            <a:off x="8621268" y="5346700"/>
            <a:ext cx="3088132" cy="1206500"/>
          </a:xfrm>
          <a:prstGeom prst="roundRect">
            <a:avLst>
              <a:gd name="adj" fmla="val 5000"/>
            </a:avLst>
          </a:prstGeom>
          <a:ln w="12700">
            <a:solidFill>
              <a:srgbClr val="30363D"/>
            </a:solidFill>
          </a:ln>
        </p:spPr>
        <p:txBody>
          <a:bodyPr wrap="square" lIns="54000" tIns="36000" rIns="54000" bIns="36000" anchor="ctr"/>
          <a:lstStyle/>
          <a:p>
            <a:pPr algn="l">
              <a:lnSpc>
                <a:spcPts val="1100"/>
              </a:lnSpc>
              <a:spcAft>
                <a:spcPts val="100"/>
              </a:spcAft>
            </a:pPr>
            <a:r>
              <a:rPr lang="en-US" sz="1000" b="1" dirty="0">
                <a:solidFill>
                  <a:srgbClr val="BC8CFF"/>
                </a:solidFill>
                <a:latin typeface="Segoe UI Semibold"/>
              </a:rPr>
              <a:t>Modernization Agent</a:t>
            </a:r>
          </a:p>
          <a:p>
            <a:pPr algn="l">
              <a:lnSpc>
                <a:spcPts val="1000"/>
              </a:lnSpc>
              <a:spcAft>
                <a:spcPts val="100"/>
              </a:spcAft>
            </a:pPr>
            <a:r>
              <a:rPr lang="en-US" sz="800" dirty="0">
                <a:solidFill>
                  <a:srgbClr val="C9D1D9"/>
                </a:solidFill>
                <a:latin typeface="Segoe UI"/>
              </a:rPr>
              <a:t>Assess → Plan → Execute: .NET/Java to Azure migration</a:t>
            </a:r>
          </a:p>
          <a:p>
            <a:pPr algn="l">
              <a:lnSpc>
                <a:spcPts val="1000"/>
              </a:lnSpc>
            </a:pPr>
            <a:r>
              <a:rPr lang="en-US" sz="900" b="1" i="1" dirty="0">
                <a:solidFill>
                  <a:srgbClr val="D2A8FF"/>
                </a:solidFill>
                <a:latin typeface="Segoe UI Semibold"/>
              </a:rPr>
              <a:t>+ Vibe Coding (Agent Mode)</a:t>
            </a:r>
          </a:p>
        </p:txBody>
      </p:sp>
      <p:sp>
        <p:nvSpPr>
          <p:cNvPr id="32" name="ArrowLabel0"/>
          <p:cNvSpPr/>
          <p:nvPr/>
        </p:nvSpPr>
        <p:spPr>
          <a:xfrm>
            <a:off x="2343404" y="6667500"/>
            <a:ext cx="3088132" cy="1778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36000" anchor="ctr"/>
          <a:lstStyle/>
          <a:p>
            <a:pPr algn="l"/>
            <a:r>
              <a:rPr lang="en-US" sz="1000" dirty="0">
                <a:solidFill>
                  <a:srgbClr val="3FB950"/>
                </a:solidFill>
                <a:latin typeface="Segoe UI"/>
              </a:rPr>
              <a:t>◀ Reactive • Single-task</a:t>
            </a:r>
          </a:p>
        </p:txBody>
      </p:sp>
      <p:sp>
        <p:nvSpPr>
          <p:cNvPr id="33" name="ArrowLabel1"/>
          <p:cNvSpPr/>
          <p:nvPr/>
        </p:nvSpPr>
        <p:spPr>
          <a:xfrm>
            <a:off x="5482336" y="6667500"/>
            <a:ext cx="3088132" cy="1778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36000" anchor="ctr"/>
          <a:lstStyle/>
          <a:p>
            <a:pPr algn="ctr"/>
            <a:r>
              <a:rPr lang="en-US" sz="1000" dirty="0">
                <a:solidFill>
                  <a:srgbClr val="58A6FF"/>
                </a:solidFill>
                <a:latin typeface="Segoe UI"/>
              </a:rPr>
              <a:t>Multi-file • Context-aware</a:t>
            </a:r>
          </a:p>
        </p:txBody>
      </p:sp>
      <p:sp>
        <p:nvSpPr>
          <p:cNvPr id="34" name="ArrowLabel2"/>
          <p:cNvSpPr/>
          <p:nvPr/>
        </p:nvSpPr>
        <p:spPr>
          <a:xfrm>
            <a:off x="8621268" y="6667500"/>
            <a:ext cx="3088132" cy="177800"/>
          </a:xfrm>
          <a:prstGeom prst="rect">
            <a:avLst/>
          </a:prstGeom>
          <a:noFill/>
          <a:ln>
            <a:noFill/>
          </a:ln>
        </p:spPr>
        <p:txBody>
          <a:bodyPr wrap="square" lIns="54000" tIns="36000" rIns="54000" bIns="36000" anchor="ctr"/>
          <a:lstStyle/>
          <a:p>
            <a:pPr algn="r"/>
            <a:r>
              <a:rPr lang="en-US" sz="1000" dirty="0">
                <a:solidFill>
                  <a:srgbClr val="BC8CFF"/>
                </a:solidFill>
                <a:latin typeface="Segoe UI"/>
              </a:rPr>
              <a:t>Autonomous • Goal-oriented ▶</a:t>
            </a:r>
          </a:p>
        </p:txBody>
      </p:sp>
      <p:sp>
        <p:nvSpPr>
          <p:cNvPr id="40" name="4SBadge"/>
          <p:cNvSpPr/>
          <p:nvPr/>
        </p:nvSpPr>
        <p:spPr>
          <a:xfrm>
            <a:off x="457200" y="6604000"/>
            <a:ext cx="1841500" cy="228600"/>
          </a:xfrm>
          <a:prstGeom prst="roundRect">
            <a:avLst>
              <a:gd name="adj" fmla="val 16667"/>
            </a:avLst>
          </a:prstGeom>
          <a:solidFill>
            <a:srgbClr val="2A1F0D"/>
          </a:solidFill>
          <a:ln w="6350">
            <a:solidFill>
              <a:srgbClr val="D29922"/>
            </a:solidFill>
          </a:ln>
        </p:spPr>
        <p:txBody>
          <a:bodyPr wrap="square" lIns="36000" tIns="18000" rIns="36000" bIns="18000" anchor="ctr"/>
          <a:lstStyle/>
          <a:p>
            <a:pPr algn="ctr"/>
            <a:r>
              <a:rPr lang="en-US" sz="800" b="1" dirty="0">
                <a:solidFill>
                  <a:srgbClr val="D29922"/>
                </a:solidFill>
                <a:latin typeface="Segoe UI Semibold"/>
              </a:rPr>
              <a:t>⚡ 4S Prompting Method</a:t>
            </a:r>
          </a:p>
        </p:txBody>
      </p:sp>
      <p:sp>
        <p:nvSpPr>
          <p:cNvPr id="50" name="AccentBar"/>
          <p:cNvSpPr/>
          <p:nvPr/>
        </p:nvSpPr>
        <p:spPr>
          <a:xfrm>
            <a:off x="0" y="0"/>
            <a:ext cx="12192000" cy="3810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61476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angle">
            <a:avLst/>
          </a:prstGeom>
          <a:solidFill>
            <a:srgbClr val="2F81F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to Start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Learning Paths by Role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412480" y="137160"/>
            <a:ext cx="3474720" cy="274320"/>
          </a:xfrm>
          <a:prstGeom prst="rectangle">
            <a:avLst/>
          </a:prstGeom>
          <a:solidFill>
            <a:srgbClr val="2F81F7">
              <a:alpha val="2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8412480" y="1371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F8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YOUR PATH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0" y="777240"/>
            <a:ext cx="12188952" cy="5166360"/>
          </a:xfrm>
          <a:prstGeom prst="rectangle">
            <a:avLst/>
          </a:prstGeom>
          <a:solidFill>
            <a:srgbClr val="161B22">
              <a:alpha val="50000"/>
            </a:srgbClr>
          </a:solidFill>
          <a:ln/>
        </p:spPr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77640" y="3223260"/>
            <a:ext cx="274320" cy="274320"/>
          </a:xfrm>
          <a:prstGeom prst="rect">
            <a:avLst/>
          </a:prstGeom>
        </p:spPr>
      </p:pic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8120" y="3223260"/>
            <a:ext cx="274320" cy="27432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57200" y="914400"/>
            <a:ext cx="3474720" cy="4892040"/>
          </a:xfrm>
          <a:prstGeom prst="rectangle">
            <a:avLst/>
          </a:prstGeom>
          <a:solidFill>
            <a:srgbClr val="0D3320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7200" y="914400"/>
            <a:ext cx="3474720" cy="45720"/>
          </a:xfrm>
          <a:prstGeom prst="rectangle">
            <a:avLst/>
          </a:prstGeom>
          <a:solidFill>
            <a:srgbClr val="3FB950"/>
          </a:solidFill>
          <a:ln/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143000"/>
            <a:ext cx="365760" cy="36576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097280" y="11430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000" dirty="0"/>
          </a:p>
        </p:txBody>
      </p:sp>
      <p:sp>
        <p:nvSpPr>
          <p:cNvPr id="14" name="Text 9"/>
          <p:cNvSpPr/>
          <p:nvPr/>
        </p:nvSpPr>
        <p:spPr>
          <a:xfrm>
            <a:off x="640080" y="16459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TO COPILOT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640080" y="19202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Started</a:t>
            </a:r>
            <a:endParaRPr lang="en-US" sz="1600" dirty="0"/>
          </a:p>
        </p:txBody>
      </p:sp>
      <p:sp>
        <p:nvSpPr>
          <p:cNvPr id="16" name="Text 11"/>
          <p:cNvSpPr/>
          <p:nvPr/>
        </p:nvSpPr>
        <p:spPr>
          <a:xfrm>
            <a:off x="640080" y="219456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Begin with the basics: ghost text, Chat, and prompt fundamentals.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2697480"/>
            <a:ext cx="640080" cy="201168"/>
          </a:xfrm>
          <a:prstGeom prst="rectangle">
            <a:avLst/>
          </a:prstGeom>
          <a:solidFill>
            <a:srgbClr val="3FB950">
              <a:alpha val="30000"/>
            </a:srgbClr>
          </a:solidFill>
          <a:ln/>
        </p:spPr>
      </p:sp>
      <p:sp>
        <p:nvSpPr>
          <p:cNvPr id="18" name="Text 13"/>
          <p:cNvSpPr/>
          <p:nvPr/>
        </p:nvSpPr>
        <p:spPr>
          <a:xfrm>
            <a:off x="640080" y="2697480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</a:t>
            </a:r>
            <a:endParaRPr lang="en-US" sz="800" dirty="0"/>
          </a:p>
        </p:txBody>
      </p:sp>
      <p:sp>
        <p:nvSpPr>
          <p:cNvPr id="19" name="Text 14"/>
          <p:cNvSpPr/>
          <p:nvPr/>
        </p:nvSpPr>
        <p:spPr>
          <a:xfrm>
            <a:off x="640080" y="297180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Getting Started with GitHub Copilot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Create Applications with Copilot CLI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Customize Your Copilot Experience</a:t>
            </a:r>
            <a:endParaRPr lang="en-US" sz="900" dirty="0"/>
          </a:p>
        </p:txBody>
      </p:sp>
      <p:sp>
        <p:nvSpPr>
          <p:cNvPr id="20" name="Shape 15"/>
          <p:cNvSpPr/>
          <p:nvPr/>
        </p:nvSpPr>
        <p:spPr>
          <a:xfrm>
            <a:off x="640080" y="4023360"/>
            <a:ext cx="822960" cy="201168"/>
          </a:xfrm>
          <a:prstGeom prst="rectangle">
            <a:avLst/>
          </a:prstGeom>
          <a:solidFill>
            <a:srgbClr val="3FB950">
              <a:alpha val="30000"/>
            </a:srgbClr>
          </a:solidFill>
          <a:ln/>
        </p:spPr>
      </p:sp>
      <p:sp>
        <p:nvSpPr>
          <p:cNvPr id="21" name="Text 16"/>
          <p:cNvSpPr/>
          <p:nvPr/>
        </p:nvSpPr>
        <p:spPr>
          <a:xfrm>
            <a:off x="640080" y="402336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</a:t>
            </a:r>
            <a:endParaRPr lang="en-US" sz="800" dirty="0"/>
          </a:p>
        </p:txBody>
      </p:sp>
      <p:sp>
        <p:nvSpPr>
          <p:cNvPr id="22" name="Text 17"/>
          <p:cNvSpPr/>
          <p:nvPr/>
        </p:nvSpPr>
        <p:spPr>
          <a:xfrm>
            <a:off x="640080" y="429768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Fundamentals Part 1 (full path)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Prompt Engineering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Copilot Across Environments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640080" y="53949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here if Copilot is new to your team</a:t>
            </a:r>
            <a:endParaRPr lang="en-US" sz="800" dirty="0"/>
          </a:p>
        </p:txBody>
      </p:sp>
      <p:sp>
        <p:nvSpPr>
          <p:cNvPr id="24" name="Shape 19"/>
          <p:cNvSpPr/>
          <p:nvPr/>
        </p:nvSpPr>
        <p:spPr>
          <a:xfrm>
            <a:off x="4297680" y="914400"/>
            <a:ext cx="3474720" cy="4892040"/>
          </a:xfrm>
          <a:prstGeom prst="rectangle">
            <a:avLst/>
          </a:prstGeom>
          <a:solidFill>
            <a:srgbClr val="2D1B00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5" name="Shape 20"/>
          <p:cNvSpPr/>
          <p:nvPr/>
        </p:nvSpPr>
        <p:spPr>
          <a:xfrm>
            <a:off x="4297680" y="914400"/>
            <a:ext cx="3474720" cy="45720"/>
          </a:xfrm>
          <a:prstGeom prst="rectangle">
            <a:avLst/>
          </a:prstGeom>
          <a:solidFill>
            <a:srgbClr val="D29922"/>
          </a:solidFill>
          <a:ln/>
        </p:spPr>
      </p:sp>
      <p:pic>
        <p:nvPicPr>
          <p:cNvPr id="26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26280" y="1143000"/>
            <a:ext cx="365760" cy="365760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4937760" y="11430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000" dirty="0"/>
          </a:p>
        </p:txBody>
      </p:sp>
      <p:sp>
        <p:nvSpPr>
          <p:cNvPr id="28" name="Text 22"/>
          <p:cNvSpPr/>
          <p:nvPr/>
        </p:nvSpPr>
        <p:spPr>
          <a:xfrm>
            <a:off x="4480560" y="16459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USING COPILOT</a:t>
            </a:r>
            <a:endParaRPr lang="en-US" sz="1300" dirty="0"/>
          </a:p>
        </p:txBody>
      </p:sp>
      <p:sp>
        <p:nvSpPr>
          <p:cNvPr id="29" name="Text 23"/>
          <p:cNvSpPr/>
          <p:nvPr/>
        </p:nvSpPr>
        <p:spPr>
          <a:xfrm>
            <a:off x="4480560" y="19202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Up</a:t>
            </a:r>
            <a:endParaRPr lang="en-US" sz="1600" dirty="0"/>
          </a:p>
        </p:txBody>
      </p:sp>
      <p:sp>
        <p:nvSpPr>
          <p:cNvPr id="30" name="Text 24"/>
          <p:cNvSpPr/>
          <p:nvPr/>
        </p:nvSpPr>
        <p:spPr>
          <a:xfrm>
            <a:off x="4480560" y="219456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into agentic workflows, MCP, and advanced features.</a:t>
            </a:r>
            <a:endParaRPr lang="en-US" sz="1000" dirty="0"/>
          </a:p>
        </p:txBody>
      </p:sp>
      <p:sp>
        <p:nvSpPr>
          <p:cNvPr id="31" name="Shape 25"/>
          <p:cNvSpPr/>
          <p:nvPr/>
        </p:nvSpPr>
        <p:spPr>
          <a:xfrm>
            <a:off x="4480560" y="2697480"/>
            <a:ext cx="640080" cy="201168"/>
          </a:xfrm>
          <a:prstGeom prst="rectangle">
            <a:avLst/>
          </a:prstGeom>
          <a:solidFill>
            <a:srgbClr val="D29922">
              <a:alpha val="30000"/>
            </a:srgbClr>
          </a:solidFill>
          <a:ln/>
        </p:spPr>
      </p:sp>
      <p:sp>
        <p:nvSpPr>
          <p:cNvPr id="32" name="Text 26"/>
          <p:cNvSpPr/>
          <p:nvPr/>
        </p:nvSpPr>
        <p:spPr>
          <a:xfrm>
            <a:off x="4480560" y="2697480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</a:t>
            </a:r>
            <a:endParaRPr lang="en-US" sz="800" dirty="0"/>
          </a:p>
        </p:txBody>
      </p:sp>
      <p:sp>
        <p:nvSpPr>
          <p:cNvPr id="33" name="Text 27"/>
          <p:cNvSpPr/>
          <p:nvPr/>
        </p:nvSpPr>
        <p:spPr>
          <a:xfrm>
            <a:off x="4480560" y="297180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Build Applications w/ Agent Mode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Expand Your Team with Copilot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Integrate MCP with Copilot</a:t>
            </a:r>
            <a:endParaRPr lang="en-US" sz="900" dirty="0"/>
          </a:p>
        </p:txBody>
      </p:sp>
      <p:sp>
        <p:nvSpPr>
          <p:cNvPr id="34" name="Shape 28"/>
          <p:cNvSpPr/>
          <p:nvPr/>
        </p:nvSpPr>
        <p:spPr>
          <a:xfrm>
            <a:off x="4480560" y="4023360"/>
            <a:ext cx="822960" cy="201168"/>
          </a:xfrm>
          <a:prstGeom prst="rectangle">
            <a:avLst/>
          </a:prstGeom>
          <a:solidFill>
            <a:srgbClr val="D29922">
              <a:alpha val="30000"/>
            </a:srgbClr>
          </a:solidFill>
          <a:ln/>
        </p:spPr>
      </p:sp>
      <p:sp>
        <p:nvSpPr>
          <p:cNvPr id="35" name="Text 29"/>
          <p:cNvSpPr/>
          <p:nvPr/>
        </p:nvSpPr>
        <p:spPr>
          <a:xfrm>
            <a:off x="4480560" y="402336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</a:t>
            </a:r>
            <a:endParaRPr lang="en-US" sz="800" dirty="0"/>
          </a:p>
        </p:txBody>
      </p:sp>
      <p:sp>
        <p:nvSpPr>
          <p:cNvPr id="36" name="Text 30"/>
          <p:cNvSpPr/>
          <p:nvPr/>
        </p:nvSpPr>
        <p:spPr>
          <a:xfrm>
            <a:off x="4480560" y="429768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Fundamentals Part 2 (full path)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Copilot Coding Agent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GitHub MCP Server</a:t>
            </a:r>
            <a:endParaRPr lang="en-US" sz="900" dirty="0"/>
          </a:p>
        </p:txBody>
      </p:sp>
      <p:sp>
        <p:nvSpPr>
          <p:cNvPr id="37" name="Text 31"/>
          <p:cNvSpPr/>
          <p:nvPr/>
        </p:nvSpPr>
        <p:spPr>
          <a:xfrm>
            <a:off x="4480560" y="53949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teams already using ghost text and Chat</a:t>
            </a:r>
            <a:endParaRPr lang="en-US" sz="800" dirty="0"/>
          </a:p>
        </p:txBody>
      </p:sp>
      <p:sp>
        <p:nvSpPr>
          <p:cNvPr id="38" name="Shape 32"/>
          <p:cNvSpPr/>
          <p:nvPr/>
        </p:nvSpPr>
        <p:spPr>
          <a:xfrm>
            <a:off x="8138160" y="914400"/>
            <a:ext cx="3474720" cy="4892040"/>
          </a:xfrm>
          <a:prstGeom prst="rectangle">
            <a:avLst/>
          </a:prstGeom>
          <a:solidFill>
            <a:srgbClr val="3D1214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39" name="Shape 33"/>
          <p:cNvSpPr/>
          <p:nvPr/>
        </p:nvSpPr>
        <p:spPr>
          <a:xfrm>
            <a:off x="8138160" y="914400"/>
            <a:ext cx="3474720" cy="45720"/>
          </a:xfrm>
          <a:prstGeom prst="rectangle">
            <a:avLst/>
          </a:prstGeom>
          <a:solidFill>
            <a:srgbClr val="F85149"/>
          </a:solidFill>
          <a:ln/>
        </p:spPr>
      </p:sp>
      <p:pic>
        <p:nvPicPr>
          <p:cNvPr id="40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66760" y="1143000"/>
            <a:ext cx="365760" cy="365760"/>
          </a:xfrm>
          <a:prstGeom prst="rect">
            <a:avLst/>
          </a:prstGeom>
        </p:spPr>
      </p:pic>
      <p:sp>
        <p:nvSpPr>
          <p:cNvPr id="41" name="Text 34"/>
          <p:cNvSpPr/>
          <p:nvPr/>
        </p:nvSpPr>
        <p:spPr>
          <a:xfrm>
            <a:off x="8778240" y="114300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000" dirty="0"/>
          </a:p>
        </p:txBody>
      </p:sp>
      <p:sp>
        <p:nvSpPr>
          <p:cNvPr id="42" name="Text 35"/>
          <p:cNvSpPr/>
          <p:nvPr/>
        </p:nvSpPr>
        <p:spPr>
          <a:xfrm>
            <a:off x="8321040" y="16459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LEAD / ADMIN</a:t>
            </a:r>
            <a:endParaRPr lang="en-US" sz="1300" dirty="0"/>
          </a:p>
        </p:txBody>
      </p:sp>
      <p:sp>
        <p:nvSpPr>
          <p:cNvPr id="43" name="Text 36"/>
          <p:cNvSpPr/>
          <p:nvPr/>
        </p:nvSpPr>
        <p:spPr>
          <a:xfrm>
            <a:off x="8321040" y="19202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 &amp; Scale</a:t>
            </a:r>
            <a:endParaRPr lang="en-US" sz="1600" dirty="0"/>
          </a:p>
        </p:txBody>
      </p:sp>
      <p:sp>
        <p:nvSpPr>
          <p:cNvPr id="44" name="Text 37"/>
          <p:cNvSpPr/>
          <p:nvPr/>
        </p:nvSpPr>
        <p:spPr>
          <a:xfrm>
            <a:off x="8321040" y="219456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controls, code review automation, and knowledge scaling.</a:t>
            </a:r>
            <a:endParaRPr lang="en-US" sz="1000" dirty="0"/>
          </a:p>
        </p:txBody>
      </p:sp>
      <p:sp>
        <p:nvSpPr>
          <p:cNvPr id="45" name="Shape 38"/>
          <p:cNvSpPr/>
          <p:nvPr/>
        </p:nvSpPr>
        <p:spPr>
          <a:xfrm>
            <a:off x="8321040" y="2697480"/>
            <a:ext cx="640080" cy="201168"/>
          </a:xfrm>
          <a:prstGeom prst="rectangle">
            <a:avLst/>
          </a:prstGeom>
          <a:solidFill>
            <a:srgbClr val="F85149">
              <a:alpha val="30000"/>
            </a:srgbClr>
          </a:solidFill>
          <a:ln/>
        </p:spPr>
      </p:sp>
      <p:sp>
        <p:nvSpPr>
          <p:cNvPr id="46" name="Text 39"/>
          <p:cNvSpPr/>
          <p:nvPr/>
        </p:nvSpPr>
        <p:spPr>
          <a:xfrm>
            <a:off x="8321040" y="2697480"/>
            <a:ext cx="640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</a:t>
            </a:r>
            <a:endParaRPr lang="en-US" sz="800" dirty="0"/>
          </a:p>
        </p:txBody>
      </p:sp>
      <p:sp>
        <p:nvSpPr>
          <p:cNvPr id="47" name="Text 40"/>
          <p:cNvSpPr/>
          <p:nvPr/>
        </p:nvSpPr>
        <p:spPr>
          <a:xfrm>
            <a:off x="8321040" y="297180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Copilot Code Review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Scale Knowledge Using Copilot Spaces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Modernize Legacy Code with Copilot</a:t>
            </a:r>
            <a:endParaRPr lang="en-US" sz="900" dirty="0"/>
          </a:p>
        </p:txBody>
      </p:sp>
      <p:sp>
        <p:nvSpPr>
          <p:cNvPr id="48" name="Shape 41"/>
          <p:cNvSpPr/>
          <p:nvPr/>
        </p:nvSpPr>
        <p:spPr>
          <a:xfrm>
            <a:off x="8321040" y="4023360"/>
            <a:ext cx="822960" cy="201168"/>
          </a:xfrm>
          <a:prstGeom prst="rectangle">
            <a:avLst/>
          </a:prstGeom>
          <a:solidFill>
            <a:srgbClr val="F85149">
              <a:alpha val="30000"/>
            </a:srgbClr>
          </a:solidFill>
          <a:ln/>
        </p:spPr>
      </p:sp>
      <p:sp>
        <p:nvSpPr>
          <p:cNvPr id="49" name="Text 42"/>
          <p:cNvSpPr/>
          <p:nvPr/>
        </p:nvSpPr>
        <p:spPr>
          <a:xfrm>
            <a:off x="8321040" y="402336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</a:t>
            </a:r>
            <a:endParaRPr lang="en-US" sz="800" dirty="0"/>
          </a:p>
        </p:txBody>
      </p:sp>
      <p:sp>
        <p:nvSpPr>
          <p:cNvPr id="50" name="Text 43"/>
          <p:cNvSpPr/>
          <p:nvPr/>
        </p:nvSpPr>
        <p:spPr>
          <a:xfrm>
            <a:off x="8321040" y="429768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Responsible AI with GitHub Copilot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Management and Customization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Code Review with Copilot</a:t>
            </a:r>
            <a:endParaRPr lang="en-US" sz="900" dirty="0"/>
          </a:p>
        </p:txBody>
      </p:sp>
      <p:sp>
        <p:nvSpPr>
          <p:cNvPr id="51" name="Text 44"/>
          <p:cNvSpPr/>
          <p:nvPr/>
        </p:nvSpPr>
        <p:spPr>
          <a:xfrm>
            <a:off x="8321040" y="53949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governance, rollout, and enterprise adoption</a:t>
            </a:r>
            <a:endParaRPr lang="en-US" sz="800" dirty="0"/>
          </a:p>
        </p:txBody>
      </p:sp>
      <p:sp>
        <p:nvSpPr>
          <p:cNvPr id="52" name="Text 45"/>
          <p:cNvSpPr/>
          <p:nvPr/>
        </p:nvSpPr>
        <p:spPr>
          <a:xfrm>
            <a:off x="457200" y="6400800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resources: learn.github.com/skills  |  learn.microsoft.com/training/paths/copilot/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angle">
            <a:avLst/>
          </a:prstGeom>
          <a:solidFill>
            <a:srgbClr val="2F81F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4S Prompting Framework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Crafting for GitHub Copilot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412480" y="137160"/>
            <a:ext cx="3474720" cy="274320"/>
          </a:xfrm>
          <a:prstGeom prst="rectangle">
            <a:avLst/>
          </a:prstGeom>
          <a:solidFill>
            <a:srgbClr val="3FB950">
              <a:alpha val="2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8412480" y="1371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1: FOUNDATIONAL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868680"/>
            <a:ext cx="5394960" cy="2788920"/>
          </a:xfrm>
          <a:prstGeom prst="rectangle">
            <a:avLst/>
          </a:prstGeom>
          <a:solidFill>
            <a:srgbClr val="161B22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868680"/>
            <a:ext cx="36576" cy="2788920"/>
          </a:xfrm>
          <a:prstGeom prst="rectangle">
            <a:avLst/>
          </a:prstGeom>
          <a:solidFill>
            <a:srgbClr val="2F81F7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0058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F8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01  </a:t>
            </a:r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</a:t>
            </a:r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  One task, one prompt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40080" y="1463040"/>
            <a:ext cx="5029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Decompose complex requests into atomic tasks.</a:t>
            </a:r>
            <a:endParaRPr lang="en-US" sz="11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 "Add OAuth, write tests, update README"</a:t>
            </a:r>
            <a:endParaRPr lang="en-US" sz="11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"Add OAuth2 login using passport for Express"</a:t>
            </a:r>
            <a:endParaRPr lang="en-US" sz="11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↗ Foundation for Agent Mode decomposition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989320" y="868680"/>
            <a:ext cx="5394960" cy="2788920"/>
          </a:xfrm>
          <a:prstGeom prst="rectangle">
            <a:avLst/>
          </a:prstGeom>
          <a:solidFill>
            <a:srgbClr val="161B22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989320" y="868680"/>
            <a:ext cx="36576" cy="2788920"/>
          </a:xfrm>
          <a:prstGeom prst="rectangle">
            <a:avLst/>
          </a:prstGeom>
          <a:solidFill>
            <a:srgbClr val="2F81F7"/>
          </a:solidFill>
          <a:ln/>
        </p:spPr>
      </p:sp>
      <p:sp>
        <p:nvSpPr>
          <p:cNvPr id="13" name="Text 11"/>
          <p:cNvSpPr/>
          <p:nvPr/>
        </p:nvSpPr>
        <p:spPr>
          <a:xfrm>
            <a:off x="6172200" y="10058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F8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02  </a:t>
            </a:r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</a:t>
            </a:r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  Define constraints and versions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172200" y="1463040"/>
            <a:ext cx="5029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exact libraries, versions, and patterns.</a:t>
            </a:r>
            <a:endParaRPr lang="en-US" sz="11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 "Connect to the database"</a:t>
            </a:r>
            <a:endParaRPr lang="en-US" sz="11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"Create a PostgreSQL 16 pool via pg-pool, SSL on"</a:t>
            </a:r>
            <a:endParaRPr lang="en-US" sz="11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↗ Drives precision in Knowledge Base queries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794760"/>
            <a:ext cx="5394960" cy="2788920"/>
          </a:xfrm>
          <a:prstGeom prst="rectangle">
            <a:avLst/>
          </a:prstGeom>
          <a:solidFill>
            <a:srgbClr val="161B22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57200" y="3794760"/>
            <a:ext cx="36576" cy="2788920"/>
          </a:xfrm>
          <a:prstGeom prst="rectangle">
            <a:avLst/>
          </a:prstGeom>
          <a:solidFill>
            <a:srgbClr val="2F81F7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9319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F8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03  </a:t>
            </a:r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</a:t>
            </a:r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  Protect the context window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40080" y="4389120"/>
            <a:ext cx="5029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Bullet points over paragraphs. Concise = focused output.</a:t>
            </a:r>
            <a:endParaRPr lang="en-US" sz="11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 "I need a function that filters users by age, sorts by name..."</a:t>
            </a:r>
            <a:endParaRPr lang="en-US" sz="11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"Filter users: age &gt; 25, sort name, limit 10"</a:t>
            </a:r>
            <a:endParaRPr lang="en-US" sz="11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↗ Maximizes Copilot’s extended context window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989320" y="3794760"/>
            <a:ext cx="5394960" cy="2788920"/>
          </a:xfrm>
          <a:prstGeom prst="rectangle">
            <a:avLst/>
          </a:prstGeom>
          <a:solidFill>
            <a:srgbClr val="161B22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989320" y="3794760"/>
            <a:ext cx="36576" cy="2788920"/>
          </a:xfrm>
          <a:prstGeom prst="rectangle">
            <a:avLst/>
          </a:prstGeom>
          <a:solidFill>
            <a:srgbClr val="2F81F7"/>
          </a:solidFill>
          <a:ln/>
        </p:spPr>
      </p:sp>
      <p:sp>
        <p:nvSpPr>
          <p:cNvPr id="21" name="Text 19"/>
          <p:cNvSpPr/>
          <p:nvPr/>
        </p:nvSpPr>
        <p:spPr>
          <a:xfrm>
            <a:off x="6172200" y="39319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F8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04  </a:t>
            </a:r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SURROUND</a:t>
            </a:r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  Ground the AI with open files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6172200" y="4389120"/>
            <a:ext cx="5029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reads your Active File + Open Tabs for context.</a:t>
            </a:r>
            <a:endParaRPr lang="en-US" sz="11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✘ Only target file open — Copilot guesses types</a:t>
            </a:r>
            <a:endParaRPr lang="en-US" sz="11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types.ts + config.ts + target.ts all open</a:t>
            </a:r>
            <a:endParaRPr lang="en-US" sz="110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↗ Precursor to Copilot Spaces orchestration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angle">
            <a:avLst/>
          </a:prstGeom>
          <a:solidFill>
            <a:srgbClr val="2F81F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Learning Path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Curated Resources for GitHub Copilot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412480" y="137160"/>
            <a:ext cx="3474720" cy="274320"/>
          </a:xfrm>
          <a:prstGeom prst="rectangle">
            <a:avLst/>
          </a:prstGeom>
          <a:solidFill>
            <a:srgbClr val="2F81F7">
              <a:alpha val="2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8412480" y="1371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2F8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ZONES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868680"/>
            <a:ext cx="5394960" cy="5166360"/>
          </a:xfrm>
          <a:prstGeom prst="rectangle">
            <a:avLst/>
          </a:prstGeom>
          <a:solidFill>
            <a:srgbClr val="161B22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868680"/>
            <a:ext cx="5394960" cy="36576"/>
          </a:xfrm>
          <a:prstGeom prst="rectangle">
            <a:avLst/>
          </a:prstGeom>
          <a:solidFill>
            <a:srgbClr val="3FB950"/>
          </a:solidFill>
          <a:ln/>
        </p:spPr>
      </p:sp>
      <p:sp>
        <p:nvSpPr>
          <p:cNvPr id="9" name="Text 7"/>
          <p:cNvSpPr/>
          <p:nvPr/>
        </p:nvSpPr>
        <p:spPr>
          <a:xfrm>
            <a:off x="685800" y="100584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SKILLS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 Hands-on Labs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" y="132588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Interactive, in-repo exercises on github.com/skills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85800" y="1645920"/>
            <a:ext cx="4937760" cy="416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Getting Started with GitHub Copilot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Build Applications w/ Copilot Agent Mode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Create Applications with Copilot CLI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Expand Your Team with Copilot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Copilot Code Review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Scale Knowledge Using Copilot Spaces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Integrate MCP with Copilot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Customize Your Copilot Experience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Modernize Legacy Code with Copilot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Create AI-Powered Actions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989320" y="868680"/>
            <a:ext cx="5394960" cy="5166360"/>
          </a:xfrm>
          <a:prstGeom prst="rectangle">
            <a:avLst/>
          </a:prstGeom>
          <a:solidFill>
            <a:srgbClr val="161B22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989320" y="868680"/>
            <a:ext cx="5394960" cy="36576"/>
          </a:xfrm>
          <a:prstGeom prst="rectangle">
            <a:avLst/>
          </a:prstGeom>
          <a:solidFill>
            <a:srgbClr val="D29922"/>
          </a:solidFill>
          <a:ln/>
        </p:spPr>
      </p:sp>
      <p:sp>
        <p:nvSpPr>
          <p:cNvPr id="14" name="Text 12"/>
          <p:cNvSpPr/>
          <p:nvPr/>
        </p:nvSpPr>
        <p:spPr>
          <a:xfrm>
            <a:off x="6217920" y="100584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LEARN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 Structured Modules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217920" y="137160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— Foundations &amp; Setup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17920" y="1645920"/>
            <a:ext cx="49377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Responsible AI with GitHub Copilot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Prompt Engineering with GitHub Copilot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Introduction to Copilot Spaces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Create Unit Tests with Copilot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GitHub Copilot and Productivity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Copilot Across Environments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Management and Customization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217920" y="3886200"/>
            <a:ext cx="4937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2 — Advanced &amp; Agentic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217920" y="416052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Copilot Coding Agent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GitHub MCP Server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Code Review with Copilot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angle">
            <a:avLst/>
          </a:prstGeom>
          <a:solidFill>
            <a:srgbClr val="2F81F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Skills: Foundational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1: Assistive / IDE Editor Level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412480" y="137160"/>
            <a:ext cx="3474720" cy="274320"/>
          </a:xfrm>
          <a:prstGeom prst="rectangle">
            <a:avLst/>
          </a:prstGeom>
          <a:solidFill>
            <a:srgbClr val="3FB950">
              <a:alpha val="2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8412480" y="1371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1: FOUNDATIONAL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77240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 LABS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1143000"/>
            <a:ext cx="3520440" cy="4663440"/>
          </a:xfrm>
          <a:prstGeom prst="rectangle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1143000"/>
            <a:ext cx="3520440" cy="45720"/>
          </a:xfrm>
          <a:prstGeom prst="rectangle">
            <a:avLst/>
          </a:prstGeom>
          <a:solidFill>
            <a:srgbClr val="3FB950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137160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Started with GitHub Copilot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85800" y="196596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entry point. Learn code completion, ghost text suggestions, and basic Copilot Chat interactions in your IDE.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85800" y="3246120"/>
            <a:ext cx="3063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TO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85800" y="347472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 Workflow → Ghost Text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85800" y="530352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B4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github.com/skills/getting-started-with-github-copilot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206240" y="1143000"/>
            <a:ext cx="3520440" cy="4663440"/>
          </a:xfrm>
          <a:prstGeom prst="rectangle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206240" y="1143000"/>
            <a:ext cx="3520440" cy="45720"/>
          </a:xfrm>
          <a:prstGeom prst="rectangle">
            <a:avLst/>
          </a:prstGeom>
          <a:solidFill>
            <a:srgbClr val="3FB950"/>
          </a:solidFill>
          <a:ln/>
        </p:spPr>
      </p:sp>
      <p:sp>
        <p:nvSpPr>
          <p:cNvPr id="17" name="Text 15"/>
          <p:cNvSpPr/>
          <p:nvPr/>
        </p:nvSpPr>
        <p:spPr>
          <a:xfrm>
            <a:off x="4434840" y="137160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Applications with Copilot CLI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434840" y="196596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GitHub Copilot in the terminal to manage issues and build a Node.js calculator application.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434840" y="3246120"/>
            <a:ext cx="3063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TO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434840" y="347472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 &amp; SDK → Command Suggestion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434840" y="530352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B4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github.com/skills/create-applications-with-the-copilot-cli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7955280" y="1143000"/>
            <a:ext cx="3520440" cy="4663440"/>
          </a:xfrm>
          <a:prstGeom prst="rectangle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7955280" y="1143000"/>
            <a:ext cx="3520440" cy="45720"/>
          </a:xfrm>
          <a:prstGeom prst="rectangle">
            <a:avLst/>
          </a:prstGeom>
          <a:solidFill>
            <a:srgbClr val="3FB950"/>
          </a:solidFill>
          <a:ln/>
        </p:spPr>
      </p:sp>
      <p:sp>
        <p:nvSpPr>
          <p:cNvPr id="24" name="Text 22"/>
          <p:cNvSpPr/>
          <p:nvPr/>
        </p:nvSpPr>
        <p:spPr>
          <a:xfrm>
            <a:off x="8183880" y="1371600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Customize Your Copilot Experience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183880" y="196596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custom instructions, prompts, and chat modes for your specific development workflows.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183880" y="3246120"/>
            <a:ext cx="3063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TO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183880" y="347472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 Workflow → Chat &amp; Workspace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183880" y="530352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B40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github.com/skills/customize-your-github-copilot-experience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angle">
            <a:avLst/>
          </a:prstGeom>
          <a:solidFill>
            <a:srgbClr val="2F81F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Skills: Intermediate → Advanced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Zones 2–3: Collaborative &amp; Agentic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412480" y="137160"/>
            <a:ext cx="3474720" cy="274320"/>
          </a:xfrm>
          <a:prstGeom prst="rectangle">
            <a:avLst/>
          </a:prstGeom>
          <a:solidFill>
            <a:srgbClr val="D29922">
              <a:alpha val="2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8412480" y="1371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ZONES 2–3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868680"/>
            <a:ext cx="2606040" cy="2286000"/>
          </a:xfrm>
          <a:prstGeom prst="rectangle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457200" y="868680"/>
            <a:ext cx="2606040" cy="36576"/>
          </a:xfrm>
          <a:prstGeom prst="rectangle">
            <a:avLst/>
          </a:prstGeom>
          <a:solidFill>
            <a:srgbClr val="F85149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00584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Mode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137160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applications using Copilot Agent Mode with autonomous plan-act-review loops.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88920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3: Agentic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3246120" y="868680"/>
            <a:ext cx="2606040" cy="2286000"/>
          </a:xfrm>
          <a:prstGeom prst="rectangle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46120" y="868680"/>
            <a:ext cx="2606040" cy="36576"/>
          </a:xfrm>
          <a:prstGeom prst="rectangle">
            <a:avLst/>
          </a:prstGeom>
          <a:solidFill>
            <a:srgbClr val="F85149"/>
          </a:solidFill>
          <a:ln/>
        </p:spPr>
      </p:sp>
      <p:sp>
        <p:nvSpPr>
          <p:cNvPr id="14" name="Text 12"/>
          <p:cNvSpPr/>
          <p:nvPr/>
        </p:nvSpPr>
        <p:spPr>
          <a:xfrm>
            <a:off x="3429000" y="100584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Coding Agent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429000" y="137160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Copilot coding agent tackle issues directly on GitHub. No IDE needed.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429000" y="2788920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3: Agentic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6035040" y="868680"/>
            <a:ext cx="2606040" cy="2286000"/>
          </a:xfrm>
          <a:prstGeom prst="rectangle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035040" y="868680"/>
            <a:ext cx="2606040" cy="36576"/>
          </a:xfrm>
          <a:prstGeom prst="rectangle">
            <a:avLst/>
          </a:prstGeom>
          <a:solidFill>
            <a:srgbClr val="F85149"/>
          </a:solidFill>
          <a:ln/>
        </p:spPr>
      </p:sp>
      <p:sp>
        <p:nvSpPr>
          <p:cNvPr id="19" name="Text 17"/>
          <p:cNvSpPr/>
          <p:nvPr/>
        </p:nvSpPr>
        <p:spPr>
          <a:xfrm>
            <a:off x="6217920" y="100584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Review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217920" y="137160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Leverage Copilot code review to promote quality and catch issues before production.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217920" y="2788920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3: Enterprise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8823960" y="868680"/>
            <a:ext cx="2606040" cy="2286000"/>
          </a:xfrm>
          <a:prstGeom prst="rectangle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823960" y="868680"/>
            <a:ext cx="2606040" cy="36576"/>
          </a:xfrm>
          <a:prstGeom prst="rectangle">
            <a:avLst/>
          </a:prstGeom>
          <a:solidFill>
            <a:srgbClr val="D29922"/>
          </a:solidFill>
          <a:ln/>
        </p:spPr>
      </p:sp>
      <p:sp>
        <p:nvSpPr>
          <p:cNvPr id="24" name="Text 22"/>
          <p:cNvSpPr/>
          <p:nvPr/>
        </p:nvSpPr>
        <p:spPr>
          <a:xfrm>
            <a:off x="9006840" y="100584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Spaces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9006840" y="137160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institutional knowledge and streamline organizational processes with Spaces.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9006840" y="2788920"/>
            <a:ext cx="2240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2–3: Enterprise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457200" y="3383280"/>
            <a:ext cx="3520440" cy="2286000"/>
          </a:xfrm>
          <a:prstGeom prst="rectangle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57200" y="3383280"/>
            <a:ext cx="3520440" cy="36576"/>
          </a:xfrm>
          <a:prstGeom prst="rectangle">
            <a:avLst/>
          </a:prstGeom>
          <a:solidFill>
            <a:srgbClr val="F85149"/>
          </a:solidFill>
          <a:ln/>
        </p:spPr>
      </p:sp>
      <p:sp>
        <p:nvSpPr>
          <p:cNvPr id="29" name="Text 27"/>
          <p:cNvSpPr/>
          <p:nvPr/>
        </p:nvSpPr>
        <p:spPr>
          <a:xfrm>
            <a:off x="640080" y="352044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Integration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40080" y="3886200"/>
            <a:ext cx="3154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how to use MCP Servers with GitHub Copilot to extend its capabilities with external tools.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40080" y="5303520"/>
            <a:ext cx="3154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3: Extensions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4206240" y="3383280"/>
            <a:ext cx="3520440" cy="2286000"/>
          </a:xfrm>
          <a:prstGeom prst="rectangle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4206240" y="3383280"/>
            <a:ext cx="3520440" cy="36576"/>
          </a:xfrm>
          <a:prstGeom prst="rectangle">
            <a:avLst/>
          </a:prstGeom>
          <a:solidFill>
            <a:srgbClr val="F85149"/>
          </a:solidFill>
          <a:ln/>
        </p:spPr>
      </p:sp>
      <p:sp>
        <p:nvSpPr>
          <p:cNvPr id="34" name="Text 32"/>
          <p:cNvSpPr/>
          <p:nvPr/>
        </p:nvSpPr>
        <p:spPr>
          <a:xfrm>
            <a:off x="4389120" y="352044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 Modernization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4389120" y="3886200"/>
            <a:ext cx="3154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Modernize a legacy COBOL accounting system to Node.js with Copilot assistance.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389120" y="5303520"/>
            <a:ext cx="3154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3: Modernization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7955280" y="3383280"/>
            <a:ext cx="3520440" cy="2286000"/>
          </a:xfrm>
          <a:prstGeom prst="rectangle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955280" y="3383280"/>
            <a:ext cx="3520440" cy="36576"/>
          </a:xfrm>
          <a:prstGeom prst="rectangle">
            <a:avLst/>
          </a:prstGeom>
          <a:solidFill>
            <a:srgbClr val="D29922"/>
          </a:solidFill>
          <a:ln/>
        </p:spPr>
      </p:sp>
      <p:sp>
        <p:nvSpPr>
          <p:cNvPr id="39" name="Text 37"/>
          <p:cNvSpPr/>
          <p:nvPr/>
        </p:nvSpPr>
        <p:spPr>
          <a:xfrm>
            <a:off x="8138160" y="352044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Actions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8138160" y="3886200"/>
            <a:ext cx="3154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intelligent GitHub Actions that leverage GitHub Models for AI in CI/CD.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138160" y="5303520"/>
            <a:ext cx="3154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D299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2–3: Extensions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angle">
            <a:avLst/>
          </a:prstGeom>
          <a:solidFill>
            <a:srgbClr val="2F81F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Fundamentals Part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&amp; Concepts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412480" y="137160"/>
            <a:ext cx="3474720" cy="274320"/>
          </a:xfrm>
          <a:prstGeom prst="rectangle">
            <a:avLst/>
          </a:prstGeom>
          <a:solidFill>
            <a:srgbClr val="3FB950">
              <a:alpha val="2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8412480" y="1371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1: FOUNDATIONAL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77240"/>
            <a:ext cx="10972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F8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learn.microsoft.com/training/paths/copilot/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051560"/>
            <a:ext cx="10607040" cy="621792"/>
          </a:xfrm>
          <a:prstGeom prst="rectangle">
            <a:avLst/>
          </a:prstGeom>
          <a:solidFill>
            <a:srgbClr val="161B22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1051560"/>
            <a:ext cx="36576" cy="621792"/>
          </a:xfrm>
          <a:prstGeom prst="rectangle">
            <a:avLst/>
          </a:prstGeom>
          <a:solidFill>
            <a:srgbClr val="3FB950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051560"/>
            <a:ext cx="411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8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97280" y="112471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Responsible AI with GitHub Copilot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97280" y="13716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Ethical AI use, risk mitigation, and operational safety considerations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9601200" y="1207008"/>
            <a:ext cx="1280160" cy="274320"/>
          </a:xfrm>
          <a:prstGeom prst="rectangle">
            <a:avLst/>
          </a:prstGeom>
          <a:solidFill>
            <a:srgbClr val="3FB950">
              <a:alpha val="25000"/>
            </a:srgbClr>
          </a:solidFill>
          <a:ln/>
        </p:spPr>
      </p:sp>
      <p:sp>
        <p:nvSpPr>
          <p:cNvPr id="14" name="Text 12"/>
          <p:cNvSpPr/>
          <p:nvPr/>
        </p:nvSpPr>
        <p:spPr>
          <a:xfrm>
            <a:off x="9601200" y="120700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57200" y="1746504"/>
            <a:ext cx="10607040" cy="621792"/>
          </a:xfrm>
          <a:prstGeom prst="rectangle">
            <a:avLst/>
          </a:prstGeom>
          <a:solidFill>
            <a:srgbClr val="161B22"/>
          </a:solidFill>
          <a:ln/>
        </p:spPr>
      </p:sp>
      <p:sp>
        <p:nvSpPr>
          <p:cNvPr id="16" name="Shape 14"/>
          <p:cNvSpPr/>
          <p:nvPr/>
        </p:nvSpPr>
        <p:spPr>
          <a:xfrm>
            <a:off x="457200" y="1746504"/>
            <a:ext cx="36576" cy="621792"/>
          </a:xfrm>
          <a:prstGeom prst="rectangle">
            <a:avLst/>
          </a:prstGeom>
          <a:solidFill>
            <a:srgbClr val="3FB950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1746504"/>
            <a:ext cx="411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8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97280" y="181965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Engineering with GitHub Copilot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097280" y="2066544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principles and best practices for creating effective prompts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9601200" y="1901952"/>
            <a:ext cx="1280160" cy="274320"/>
          </a:xfrm>
          <a:prstGeom prst="rectangle">
            <a:avLst/>
          </a:prstGeom>
          <a:solidFill>
            <a:srgbClr val="3FB950">
              <a:alpha val="25000"/>
            </a:srgbClr>
          </a:solidFill>
          <a:ln/>
        </p:spPr>
      </p:sp>
      <p:sp>
        <p:nvSpPr>
          <p:cNvPr id="21" name="Text 19"/>
          <p:cNvSpPr/>
          <p:nvPr/>
        </p:nvSpPr>
        <p:spPr>
          <a:xfrm>
            <a:off x="9601200" y="190195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 Workflow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57200" y="2441448"/>
            <a:ext cx="10607040" cy="621792"/>
          </a:xfrm>
          <a:prstGeom prst="rectangle">
            <a:avLst/>
          </a:prstGeom>
          <a:solidFill>
            <a:srgbClr val="161B22"/>
          </a:solidFill>
          <a:ln/>
        </p:spPr>
      </p:sp>
      <p:sp>
        <p:nvSpPr>
          <p:cNvPr id="23" name="Shape 21"/>
          <p:cNvSpPr/>
          <p:nvPr/>
        </p:nvSpPr>
        <p:spPr>
          <a:xfrm>
            <a:off x="457200" y="2441448"/>
            <a:ext cx="36576" cy="621792"/>
          </a:xfrm>
          <a:prstGeom prst="rectangle">
            <a:avLst/>
          </a:prstGeom>
          <a:solidFill>
            <a:srgbClr val="3FB950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2441448"/>
            <a:ext cx="411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8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097280" y="25146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Copilot Spaces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097280" y="276148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Create, configure, and use Spaces for high-quality, grounded responses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9601200" y="2596896"/>
            <a:ext cx="1280160" cy="274320"/>
          </a:xfrm>
          <a:prstGeom prst="rectangle">
            <a:avLst/>
          </a:prstGeom>
          <a:solidFill>
            <a:srgbClr val="3FB950">
              <a:alpha val="25000"/>
            </a:srgbClr>
          </a:solidFill>
          <a:ln/>
        </p:spPr>
      </p:sp>
      <p:sp>
        <p:nvSpPr>
          <p:cNvPr id="28" name="Text 26"/>
          <p:cNvSpPr/>
          <p:nvPr/>
        </p:nvSpPr>
        <p:spPr>
          <a:xfrm>
            <a:off x="9601200" y="259689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 Workflow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457200" y="3136392"/>
            <a:ext cx="10607040" cy="621792"/>
          </a:xfrm>
          <a:prstGeom prst="rectangle">
            <a:avLst/>
          </a:prstGeom>
          <a:solidFill>
            <a:srgbClr val="161B22"/>
          </a:solidFill>
          <a:ln/>
        </p:spPr>
      </p:sp>
      <p:sp>
        <p:nvSpPr>
          <p:cNvPr id="30" name="Shape 28"/>
          <p:cNvSpPr/>
          <p:nvPr/>
        </p:nvSpPr>
        <p:spPr>
          <a:xfrm>
            <a:off x="457200" y="3136392"/>
            <a:ext cx="36576" cy="621792"/>
          </a:xfrm>
          <a:prstGeom prst="rectangle">
            <a:avLst/>
          </a:prstGeom>
          <a:solidFill>
            <a:srgbClr val="3FB950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" y="3136392"/>
            <a:ext cx="411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8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097280" y="3209544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Unit Tests with GitHub Copilot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1097280" y="345643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Copilot and Copilot Chat to generate and refine unit tests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9601200" y="3291840"/>
            <a:ext cx="1280160" cy="274320"/>
          </a:xfrm>
          <a:prstGeom prst="rectangle">
            <a:avLst/>
          </a:prstGeom>
          <a:solidFill>
            <a:srgbClr val="3FB950">
              <a:alpha val="25000"/>
            </a:srgbClr>
          </a:solidFill>
          <a:ln/>
        </p:spPr>
      </p:sp>
      <p:sp>
        <p:nvSpPr>
          <p:cNvPr id="35" name="Text 33"/>
          <p:cNvSpPr/>
          <p:nvPr/>
        </p:nvSpPr>
        <p:spPr>
          <a:xfrm>
            <a:off x="9601200" y="32918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 Workflow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457200" y="3831336"/>
            <a:ext cx="10607040" cy="621792"/>
          </a:xfrm>
          <a:prstGeom prst="rectangle">
            <a:avLst/>
          </a:prstGeom>
          <a:solidFill>
            <a:srgbClr val="161B22"/>
          </a:solidFill>
          <a:ln/>
        </p:spPr>
      </p:sp>
      <p:sp>
        <p:nvSpPr>
          <p:cNvPr id="37" name="Shape 35"/>
          <p:cNvSpPr/>
          <p:nvPr/>
        </p:nvSpPr>
        <p:spPr>
          <a:xfrm>
            <a:off x="457200" y="3831336"/>
            <a:ext cx="36576" cy="621792"/>
          </a:xfrm>
          <a:prstGeom prst="rectangle">
            <a:avLst/>
          </a:prstGeom>
          <a:solidFill>
            <a:srgbClr val="3FB950"/>
          </a:solidFill>
          <a:ln/>
        </p:spPr>
      </p:sp>
      <p:sp>
        <p:nvSpPr>
          <p:cNvPr id="38" name="Text 36"/>
          <p:cNvSpPr/>
          <p:nvPr/>
        </p:nvSpPr>
        <p:spPr>
          <a:xfrm>
            <a:off x="640080" y="3831336"/>
            <a:ext cx="411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8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1097280" y="39044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and Productivity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1097280" y="4151376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SDLC impact, developer preferences, limitations, and measuring gains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9601200" y="3986784"/>
            <a:ext cx="1280160" cy="274320"/>
          </a:xfrm>
          <a:prstGeom prst="rectangle">
            <a:avLst/>
          </a:prstGeom>
          <a:solidFill>
            <a:srgbClr val="3FB950">
              <a:alpha val="25000"/>
            </a:srgbClr>
          </a:solidFill>
          <a:ln/>
        </p:spPr>
      </p:sp>
      <p:sp>
        <p:nvSpPr>
          <p:cNvPr id="42" name="Text 40"/>
          <p:cNvSpPr/>
          <p:nvPr/>
        </p:nvSpPr>
        <p:spPr>
          <a:xfrm>
            <a:off x="9601200" y="398678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Foundational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57200" y="4526280"/>
            <a:ext cx="10607040" cy="621792"/>
          </a:xfrm>
          <a:prstGeom prst="rectangle">
            <a:avLst/>
          </a:prstGeom>
          <a:solidFill>
            <a:srgbClr val="161B22"/>
          </a:solidFill>
          <a:ln/>
        </p:spPr>
      </p:sp>
      <p:sp>
        <p:nvSpPr>
          <p:cNvPr id="44" name="Shape 42"/>
          <p:cNvSpPr/>
          <p:nvPr/>
        </p:nvSpPr>
        <p:spPr>
          <a:xfrm>
            <a:off x="457200" y="4526280"/>
            <a:ext cx="36576" cy="621792"/>
          </a:xfrm>
          <a:prstGeom prst="rectangle">
            <a:avLst/>
          </a:prstGeom>
          <a:solidFill>
            <a:srgbClr val="3FB950"/>
          </a:solidFill>
          <a:ln/>
        </p:spPr>
      </p:sp>
      <p:sp>
        <p:nvSpPr>
          <p:cNvPr id="45" name="Text 43"/>
          <p:cNvSpPr/>
          <p:nvPr/>
        </p:nvSpPr>
        <p:spPr>
          <a:xfrm>
            <a:off x="640080" y="4526280"/>
            <a:ext cx="411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8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1097280" y="45994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Across Environments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1097280" y="48463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AI-assisted coding in IDE, Chat, and CLI across development environments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9601200" y="4681728"/>
            <a:ext cx="1280160" cy="274320"/>
          </a:xfrm>
          <a:prstGeom prst="rectangle">
            <a:avLst/>
          </a:prstGeom>
          <a:solidFill>
            <a:srgbClr val="3FB950">
              <a:alpha val="25000"/>
            </a:srgbClr>
          </a:solidFill>
          <a:ln/>
        </p:spPr>
      </p:sp>
      <p:sp>
        <p:nvSpPr>
          <p:cNvPr id="49" name="Text 47"/>
          <p:cNvSpPr/>
          <p:nvPr/>
        </p:nvSpPr>
        <p:spPr>
          <a:xfrm>
            <a:off x="9601200" y="468172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Threads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457200" y="5221224"/>
            <a:ext cx="10607040" cy="621792"/>
          </a:xfrm>
          <a:prstGeom prst="rectangle">
            <a:avLst/>
          </a:prstGeom>
          <a:solidFill>
            <a:srgbClr val="161B22"/>
          </a:solidFill>
          <a:ln/>
        </p:spPr>
      </p:sp>
      <p:sp>
        <p:nvSpPr>
          <p:cNvPr id="51" name="Shape 49"/>
          <p:cNvSpPr/>
          <p:nvPr/>
        </p:nvSpPr>
        <p:spPr>
          <a:xfrm>
            <a:off x="457200" y="5221224"/>
            <a:ext cx="36576" cy="621792"/>
          </a:xfrm>
          <a:prstGeom prst="rectangle">
            <a:avLst/>
          </a:prstGeom>
          <a:solidFill>
            <a:srgbClr val="3FB950"/>
          </a:solidFill>
          <a:ln/>
        </p:spPr>
      </p:sp>
      <p:sp>
        <p:nvSpPr>
          <p:cNvPr id="52" name="Text 50"/>
          <p:cNvSpPr/>
          <p:nvPr/>
        </p:nvSpPr>
        <p:spPr>
          <a:xfrm>
            <a:off x="640080" y="5221224"/>
            <a:ext cx="411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8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400" dirty="0"/>
          </a:p>
        </p:txBody>
      </p:sp>
      <p:sp>
        <p:nvSpPr>
          <p:cNvPr id="53" name="Text 51"/>
          <p:cNvSpPr/>
          <p:nvPr/>
        </p:nvSpPr>
        <p:spPr>
          <a:xfrm>
            <a:off x="1097280" y="5294376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and Customization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1097280" y="5541264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admin controls, content exclusion, and customization options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9601200" y="5376672"/>
            <a:ext cx="1280160" cy="274320"/>
          </a:xfrm>
          <a:prstGeom prst="rectangle">
            <a:avLst/>
          </a:prstGeom>
          <a:solidFill>
            <a:srgbClr val="3FB950">
              <a:alpha val="25000"/>
            </a:srgbClr>
          </a:solidFill>
          <a:ln/>
        </p:spPr>
      </p:sp>
      <p:sp>
        <p:nvSpPr>
          <p:cNvPr id="56" name="Text 54"/>
          <p:cNvSpPr/>
          <p:nvPr/>
        </p:nvSpPr>
        <p:spPr>
          <a:xfrm>
            <a:off x="9601200" y="537667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"/>
          </a:xfrm>
          <a:prstGeom prst="rectangle">
            <a:avLst/>
          </a:prstGeom>
          <a:solidFill>
            <a:srgbClr val="2F81F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3716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Fundamentals Part 2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457200" y="47548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&amp; Enterprise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412480" y="137160"/>
            <a:ext cx="3474720" cy="274320"/>
          </a:xfrm>
          <a:prstGeom prst="rectangle">
            <a:avLst/>
          </a:prstGeom>
          <a:solidFill>
            <a:srgbClr val="F85149">
              <a:alpha val="2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8412480" y="1371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3: ADVANCED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77240"/>
            <a:ext cx="10972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F8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learn.microsoft.com/training/paths/gh-copilot-2/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57200" y="1097280"/>
            <a:ext cx="3520440" cy="4663440"/>
          </a:xfrm>
          <a:prstGeom prst="rectangle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1097280"/>
            <a:ext cx="3520440" cy="45720"/>
          </a:xfrm>
          <a:prstGeom prst="rectangle">
            <a:avLst/>
          </a:prstGeom>
          <a:solidFill>
            <a:srgbClr val="F85149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2801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F8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640080" y="173736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Coding Agent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0080" y="214884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tasks, streamline development, and combine automation with your team expertise for faster outcomes.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017520"/>
            <a:ext cx="3154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F8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TOPICS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40080" y="3291840"/>
            <a:ext cx="3154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Assign issues to Copilot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Track PR sessions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Iterate with @copilot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Environment setup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Responsible-use practices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40080" y="5303520"/>
            <a:ext cx="3154680" cy="256032"/>
          </a:xfrm>
          <a:prstGeom prst="rectangle">
            <a:avLst/>
          </a:prstGeom>
          <a:solidFill>
            <a:srgbClr val="F85149">
              <a:alpha val="15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530352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3: Agentic Automation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206240" y="1097280"/>
            <a:ext cx="3520440" cy="4663440"/>
          </a:xfrm>
          <a:prstGeom prst="rectangle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206240" y="1097280"/>
            <a:ext cx="3520440" cy="45720"/>
          </a:xfrm>
          <a:prstGeom prst="rectangle">
            <a:avLst/>
          </a:prstGeom>
          <a:solidFill>
            <a:srgbClr val="F85149"/>
          </a:solidFill>
          <a:ln/>
        </p:spPr>
      </p:sp>
      <p:sp>
        <p:nvSpPr>
          <p:cNvPr id="19" name="Text 17"/>
          <p:cNvSpPr/>
          <p:nvPr/>
        </p:nvSpPr>
        <p:spPr>
          <a:xfrm>
            <a:off x="4389120" y="12801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F8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4389120" y="173736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MCP Server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389120" y="214884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secure, scalable way to integrate GitHub features into your AI tools via the Model Context Protocol.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389120" y="3017520"/>
            <a:ext cx="3154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F8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TOPICS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389120" y="3291840"/>
            <a:ext cx="3154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What is MCP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Configure in VS Code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Use with Copilot Chat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Troubleshoot issues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389120" y="5303520"/>
            <a:ext cx="3154680" cy="256032"/>
          </a:xfrm>
          <a:prstGeom prst="rectangle">
            <a:avLst/>
          </a:prstGeom>
          <a:solidFill>
            <a:srgbClr val="F85149">
              <a:alpha val="15000"/>
            </a:srgbClr>
          </a:solidFill>
          <a:ln/>
        </p:spPr>
      </p:sp>
      <p:sp>
        <p:nvSpPr>
          <p:cNvPr id="25" name="Text 23"/>
          <p:cNvSpPr/>
          <p:nvPr/>
        </p:nvSpPr>
        <p:spPr>
          <a:xfrm>
            <a:off x="4389120" y="530352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3: Extensions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7955280" y="1097280"/>
            <a:ext cx="3520440" cy="4663440"/>
          </a:xfrm>
          <a:prstGeom prst="rectangle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7955280" y="1097280"/>
            <a:ext cx="3520440" cy="45720"/>
          </a:xfrm>
          <a:prstGeom prst="rectangle">
            <a:avLst/>
          </a:prstGeom>
          <a:solidFill>
            <a:srgbClr val="F85149"/>
          </a:solidFill>
          <a:ln/>
        </p:spPr>
      </p:sp>
      <p:sp>
        <p:nvSpPr>
          <p:cNvPr id="28" name="Text 26"/>
          <p:cNvSpPr/>
          <p:nvPr/>
        </p:nvSpPr>
        <p:spPr>
          <a:xfrm>
            <a:off x="8138160" y="12801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F8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8138160" y="1737360"/>
            <a:ext cx="3154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Review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8138160" y="214884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484F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Accelerate review cycles, catch issues early, and enforce best practices with AI-assisted code review.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138160" y="3017520"/>
            <a:ext cx="3154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F81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TOPICS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138160" y="3291840"/>
            <a:ext cx="3154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AI review configuration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Review best practices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Standards enforcement</a:t>
            </a:r>
            <a:endParaRPr lang="en-US" sz="10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000" dirty="0">
                <a:solidFill>
                  <a:srgbClr val="1C2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Team workflow integration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8138160" y="5303520"/>
            <a:ext cx="3154680" cy="256032"/>
          </a:xfrm>
          <a:prstGeom prst="rectangle">
            <a:avLst/>
          </a:prstGeom>
          <a:solidFill>
            <a:srgbClr val="F85149">
              <a:alpha val="15000"/>
            </a:srgbClr>
          </a:solidFill>
          <a:ln/>
        </p:spPr>
      </p:sp>
      <p:sp>
        <p:nvSpPr>
          <p:cNvPr id="34" name="Text 32"/>
          <p:cNvSpPr/>
          <p:nvPr/>
        </p:nvSpPr>
        <p:spPr>
          <a:xfrm>
            <a:off x="8138160" y="530352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851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3: Enterprise Knowledge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GitHub Copilot Proficiency Orientation Map</dc:title>
  <dc:subject>PptxGenJS Presentation</dc:subject>
  <dc:creator>Steve</dc:creator>
  <cp:lastModifiedBy>Steve</cp:lastModifiedBy>
  <cp:revision>1</cp:revision>
  <dcterms:created xsi:type="dcterms:W3CDTF">2026-04-02T01:45:31Z</dcterms:created>
  <dcterms:modified xsi:type="dcterms:W3CDTF">2026-04-02T01:45:31Z</dcterms:modified>
</cp:coreProperties>
</file>