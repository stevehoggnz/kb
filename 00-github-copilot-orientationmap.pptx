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"/>
  </p:notesMasterIdLst>
  <p:sldIdLst>
    <p:sldId id="264" r:id="rId2"/>
    <p:sldId id="269" r:id="rId3"/>
    <p:sldId id="270" r:id="rId9"/>
    <p:sldId id="271" r:id="rId10"/>
    <p:sldId id="272" r:id="rId11"/>
    <p:sldId id="273" r:id="rId12"/>
    <p:sldId id="274" r:id="rId13"/>
    <p:sldId id="275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381"/>
    <p:restoredTop sz="94722"/>
  </p:normalViewPr>
  <p:slideViewPr>
    <p:cSldViewPr snapToGrid="0">
      <p:cViewPr varScale="1">
        <p:scale>
          <a:sx n="161" d="100"/>
          <a:sy n="161" d="100"/>
        </p:scale>
        <p:origin x="888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B29408-5D1F-A34E-974E-CDD20D288C6D}" type="datetimeFigureOut">
              <a:rPr lang="en-US" smtClean="0"/>
              <a:t>4/2/26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BA7490-3389-0F4D-B7EB-D0554B4203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238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BA7490-3389-0F4D-B7EB-D0554B42036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687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 xml:space="preserve">Single is probably the weakest suggestion with the state-of-the-art agents, they’re very good at planning multiple changes and </a:t>
            </a:r>
            <a:r>
              <a:rPr lang="en-US"/>
              <a:t>tracking progress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BA7490-3389-0F4D-B7EB-D0554B42036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302279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5C281-A7CA-BB67-5592-7EFB510950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2EFADA-BEDF-F8AC-2587-807FFE379C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264C27-4A86-4661-F913-2103537D4F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8EFDD-AB31-6447-AD1F-82F80EBD3F6C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B4B2ED-5A09-A301-DCE8-6BE3141EC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2FBF30-A413-F22B-D88E-8655C67C9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E4002-5089-964B-9229-B480AD8C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5518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4B83F-9792-4B97-3DEC-F4523C81B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5989CD-F71A-28E9-EBD2-9C63AB6C0A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943854-7F19-B1A9-DC9C-07A93956F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8EFDD-AB31-6447-AD1F-82F80EBD3F6C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69311B-CC2C-DB19-D8BA-DC557D353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B1016B-1835-6124-28F9-CA8B75E0D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E4002-5089-964B-9229-B480AD8C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6406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D92D9-30C2-3C53-0935-57867AC957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34BEBF-454A-CEFB-3230-F1C163290E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E49344-7130-72F9-2C04-F6D025133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8EFDD-AB31-6447-AD1F-82F80EBD3F6C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769B20-34AA-7545-9E02-86C1DF6308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5E1EC0-2568-CDEA-4B0A-73003DB4B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E4002-5089-964B-9229-B480AD8C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31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30E35-861B-6698-C7AE-2E7F3F22CA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585D30-72A0-976E-FA29-85F6500626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C51F1-D702-F102-A263-0C298A6D09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364CD4-368D-EED5-4A92-3DB3E8E96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8EFDD-AB31-6447-AD1F-82F80EBD3F6C}" type="datetimeFigureOut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ED4F34-9B44-0861-8F41-350D29A8C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B8FB8B-2BDC-BE2D-F0AA-4ACD8F9B3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E4002-5089-964B-9229-B480AD8C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1730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FB605-7715-EBA2-A9AA-10CCDF1F2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CDD343-8279-2311-1D1C-F5BFF81C7C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105927-55EF-F881-284A-0693DF478E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856037-17E8-4A76-08D2-8EB9743119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2DD344-255A-1012-DB34-CD5F35C564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53E189D-A9B0-4041-8A62-9245A72E3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8EFDD-AB31-6447-AD1F-82F80EBD3F6C}" type="datetimeFigureOut">
              <a:rPr lang="en-US" smtClean="0"/>
              <a:t>4/2/26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CFB593-BE30-8E7D-B845-C9FD8F184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693B1F-963D-D0EF-85A7-222213808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E4002-5089-964B-9229-B480AD8C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9653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2FBDB-2555-84B9-DBD3-70C1815F6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30A804-94B0-7272-41E4-D7E91A82E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8EFDD-AB31-6447-AD1F-82F80EBD3F6C}" type="datetimeFigureOut">
              <a:rPr lang="en-US" smtClean="0"/>
              <a:t>4/2/26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E8AB8E-FDEE-DA6A-B1AA-1EAA148F0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8900D0-D8B2-055A-394C-D8C9321A2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E4002-5089-964B-9229-B480AD8C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3311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9FD7C2-6701-E14B-8D10-D4F44D529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8EFDD-AB31-6447-AD1F-82F80EBD3F6C}" type="datetimeFigureOut">
              <a:rPr lang="en-US" smtClean="0"/>
              <a:t>4/2/26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E4E7B7-A55B-0CE8-DB06-B6B64C8190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921013-5A61-5F4B-B7C8-3DE2C7A59B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E4002-5089-964B-9229-B480AD8C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488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F853A-C744-0BAE-7ACA-862FC99BC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1A1F6E-3C3A-D085-5968-C2375BC823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92374C-E971-E1C9-55F9-1B33C4BF59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D66A9C-9B04-BEC3-02CA-9861E283FD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8EFDD-AB31-6447-AD1F-82F80EBD3F6C}" type="datetimeFigureOut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5FEEC1-B044-16CC-2296-1494F7D33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9BEE5C-1109-102A-E871-D4633E188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E4002-5089-964B-9229-B480AD8C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9928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A0A9A-9982-B9F0-F82D-67F5C2F14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BD1939-0475-2A55-D60A-4071A6D26E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5878B1-F984-378B-CE20-8CA305B9C3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445054-AA11-ADF3-5627-FDE008CCB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8EFDD-AB31-6447-AD1F-82F80EBD3F6C}" type="datetimeFigureOut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E03CA8-E32E-3B5B-E3B6-FB5F7981B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9FC644-94BF-36CC-09A3-4793F472A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E4002-5089-964B-9229-B480AD8C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887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FF018-DA5E-CC29-26B1-DF63249D0F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EB8986-4F78-AC0C-2497-856C7F44D0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522FB8-3F1A-2766-CE4C-7EA24BA00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8EFDD-AB31-6447-AD1F-82F80EBD3F6C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AE5E07-7C69-7111-597A-6D51CCB47D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35339B-BDAE-EA4C-D7B8-410AED879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E4002-5089-964B-9229-B480AD8C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5984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BC64DEE-7460-79E3-8560-66F8FD66CF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24BEC5-09F9-ED45-8441-757A5A555B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6000B-B0D9-46BC-84FA-418DA805DB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8EFDD-AB31-6447-AD1F-82F80EBD3F6C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D4CE1E-F210-E3C0-82E4-EAD0C67ECF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C12BA-72B9-1530-93D2-0AD4B90F11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E4002-5089-964B-9229-B480AD8C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436760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CA0BD3E-2907-E99C-56DA-8010E1839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66D4D9-8198-1A3B-39E8-7943C45420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A27DE6-635D-2FB8-A13B-F6A73FC702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F8EFDD-AB31-6447-AD1F-82F80EBD3F6C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83FBF9-187C-37C5-9553-CFCE19F34D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FFF0A8-7D77-E4B6-544E-A00B6C8B38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0E4002-5089-964B-9229-B480AD8C6CFD}" type="slidenum">
              <a:rPr lang="en-US" smtClean="0"/>
              <a:t>‹#›</a:t>
            </a:fld>
            <a:endParaRPr lang="en-US"/>
          </a:p>
        </p:txBody>
      </p:sp>
      <p:sp>
        <p:nvSpPr>
          <p:cNvPr id="100" name="AccentBar"/>
          <p:cNvSpPr/>
          <p:nvPr/>
        </p:nvSpPr>
        <p:spPr>
          <a:xfrm>
            <a:off x="0" y="0"/>
            <a:ext cx="12192000" cy="45720"/>
          </a:xfrm>
          <a:prstGeom prst="rect">
            <a:avLst/>
          </a:prstGeom>
          <a:gradFill>
            <a:gsLst>
              <a:gs pos="0">
                <a:srgbClr val="3FB950"/>
              </a:gs>
              <a:gs pos="50000">
                <a:srgbClr val="58A6FF"/>
              </a:gs>
              <a:gs pos="100000">
                <a:srgbClr val="BC8CFF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5589064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E8ECF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C9D1D9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rgbClr val="C9D1D9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/>
          <p:nvPr/>
        </p:nvSpPr>
        <p:spPr>
          <a:xfrm>
            <a:off x="457200" y="127000"/>
            <a:ext cx="11277600" cy="5588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/>
            <a:r>
              <a:rPr lang="en-US" sz="2200" b="1" dirty="0">
                <a:solidFill>
                  <a:srgbClr val="3FB950"/>
                </a:solidFill>
                <a:latin typeface="Segoe UI Semibold"/>
              </a:rPr>
              <a:t>GitHub Copilot Proficiency Matrix</a:t>
            </a:r>
            <a:r>
              <a:rPr lang="en-US" sz="1400" dirty="0">
                <a:solidFill>
                  <a:srgbClr val="8B949E"/>
                </a:solidFill>
                <a:latin typeface="Segoe UI"/>
              </a:rPr>
              <a:t xml:space="preserve">  |  Feature Threads × Advancement Zones</a:t>
            </a:r>
          </a:p>
        </p:txBody>
      </p:sp>
      <p:sp>
        <p:nvSpPr>
          <p:cNvPr id="11" name="CornerCell"/>
          <p:cNvSpPr/>
          <p:nvPr/>
        </p:nvSpPr>
        <p:spPr>
          <a:xfrm>
            <a:off x="457200" y="787400"/>
            <a:ext cx="1860804" cy="4826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>
            <a:noFill/>
          </a:ln>
        </p:spPr>
        <p:txBody>
          <a:bodyPr wrap="square" lIns="54000" tIns="36000" rIns="54000" bIns="36000" anchor="ctr"/>
          <a:lstStyle/>
          <a:p>
            <a:pPr algn="ctr"/>
            <a:r>
              <a:rPr lang="en-US" sz="1000" dirty="0">
                <a:solidFill>
                  <a:srgbClr val="8B949E"/>
                </a:solidFill>
                <a:latin typeface="Segoe UI"/>
              </a:rPr>
              <a:t>FEATURE →</a:t>
            </a:r>
          </a:p>
        </p:txBody>
      </p:sp>
      <p:sp>
        <p:nvSpPr>
          <p:cNvPr id="12" name="ZoneHeader1"/>
          <p:cNvSpPr/>
          <p:nvPr/>
        </p:nvSpPr>
        <p:spPr>
          <a:xfrm>
            <a:off x="2343404" y="787400"/>
            <a:ext cx="3088132" cy="482600"/>
          </a:xfrm>
          <a:prstGeom prst="roundRect">
            <a:avLst>
              <a:gd name="adj" fmla="val 5000"/>
            </a:avLst>
          </a:prstGeom>
          <a:solidFill>
            <a:srgbClr val="1F3A24"/>
          </a:solidFill>
          <a:ln w="9525">
            <a:solidFill>
              <a:srgbClr val="3FB950"/>
            </a:solidFill>
          </a:ln>
        </p:spPr>
        <p:txBody>
          <a:bodyPr wrap="square" lIns="54000" tIns="36000" rIns="54000" bIns="36000" anchor="ctr"/>
          <a:lstStyle/>
          <a:p>
            <a:pPr algn="ctr"/>
            <a:r>
              <a:rPr lang="en-US" sz="1100" b="1" dirty="0">
                <a:solidFill>
                  <a:srgbClr val="3FB950"/>
                </a:solidFill>
                <a:latin typeface="Segoe UI Semibold"/>
              </a:rPr>
              <a:t>Zone 1: Foundational</a:t>
            </a:r>
          </a:p>
          <a:p>
            <a:pPr algn="ctr"/>
            <a:r>
              <a:rPr lang="en-US" sz="800" dirty="0">
                <a:solidFill>
                  <a:srgbClr val="8B949E"/>
                </a:solidFill>
                <a:latin typeface="Segoe UI"/>
              </a:rPr>
              <a:t>Assistive • IDE Editor Level</a:t>
            </a:r>
          </a:p>
        </p:txBody>
      </p:sp>
      <p:sp>
        <p:nvSpPr>
          <p:cNvPr id="13" name="ZoneHeader2"/>
          <p:cNvSpPr/>
          <p:nvPr/>
        </p:nvSpPr>
        <p:spPr>
          <a:xfrm>
            <a:off x="5482336" y="787400"/>
            <a:ext cx="3088132" cy="482600"/>
          </a:xfrm>
          <a:prstGeom prst="roundRect">
            <a:avLst>
              <a:gd name="adj" fmla="val 5000"/>
            </a:avLst>
          </a:prstGeom>
          <a:solidFill>
            <a:srgbClr val="192E45"/>
          </a:solidFill>
          <a:ln w="9525">
            <a:solidFill>
              <a:srgbClr val="58A6FF"/>
            </a:solidFill>
          </a:ln>
        </p:spPr>
        <p:txBody>
          <a:bodyPr wrap="square" lIns="54000" tIns="36000" rIns="54000" bIns="36000" anchor="ctr"/>
          <a:lstStyle/>
          <a:p>
            <a:pPr algn="ctr"/>
            <a:r>
              <a:rPr lang="en-US" sz="1100" b="1" dirty="0">
                <a:solidFill>
                  <a:srgbClr val="58A6FF"/>
                </a:solidFill>
                <a:latin typeface="Segoe UI Semibold"/>
              </a:rPr>
              <a:t>Zone 2: Intermediate</a:t>
            </a:r>
          </a:p>
          <a:p>
            <a:pPr algn="ctr"/>
            <a:r>
              <a:rPr lang="en-US" sz="800" dirty="0">
                <a:solidFill>
                  <a:srgbClr val="8B949E"/>
                </a:solidFill>
                <a:latin typeface="Segoe UI"/>
              </a:rPr>
              <a:t>Collaborative • Repository/Team Level</a:t>
            </a:r>
          </a:p>
        </p:txBody>
      </p:sp>
      <p:sp>
        <p:nvSpPr>
          <p:cNvPr id="14" name="ZoneHeader3"/>
          <p:cNvSpPr/>
          <p:nvPr/>
        </p:nvSpPr>
        <p:spPr>
          <a:xfrm>
            <a:off x="8621268" y="787400"/>
            <a:ext cx="3088132" cy="482600"/>
          </a:xfrm>
          <a:prstGeom prst="roundRect">
            <a:avLst>
              <a:gd name="adj" fmla="val 5000"/>
            </a:avLst>
          </a:prstGeom>
          <a:solidFill>
            <a:srgbClr val="2A1F42"/>
          </a:solidFill>
          <a:ln w="9525">
            <a:solidFill>
              <a:srgbClr val="BC8CFF"/>
            </a:solidFill>
          </a:ln>
        </p:spPr>
        <p:txBody>
          <a:bodyPr wrap="square" lIns="54000" tIns="36000" rIns="54000" bIns="36000" anchor="ctr"/>
          <a:lstStyle/>
          <a:p>
            <a:pPr algn="ctr"/>
            <a:r>
              <a:rPr lang="en-US" sz="1100" b="1" dirty="0">
                <a:solidFill>
                  <a:srgbClr val="BC8CFF"/>
                </a:solidFill>
                <a:latin typeface="Segoe UI Semibold"/>
              </a:rPr>
              <a:t>Zone 3: Advanced</a:t>
            </a:r>
          </a:p>
          <a:p>
            <a:pPr algn="ctr"/>
            <a:r>
              <a:rPr lang="en-US" sz="800" dirty="0">
                <a:solidFill>
                  <a:srgbClr val="8B949E"/>
                </a:solidFill>
                <a:latin typeface="Segoe UI"/>
              </a:rPr>
              <a:t>Agentic • Architect/Org Level</a:t>
            </a:r>
          </a:p>
        </p:txBody>
      </p:sp>
      <p:sp>
        <p:nvSpPr>
          <p:cNvPr id="15" name="FeatureLabel1"/>
          <p:cNvSpPr/>
          <p:nvPr/>
        </p:nvSpPr>
        <p:spPr>
          <a:xfrm>
            <a:off x="457200" y="1308100"/>
            <a:ext cx="1835404" cy="12065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>
            <a:noFill/>
          </a:ln>
        </p:spPr>
        <p:txBody>
          <a:bodyPr wrap="square" lIns="54000" tIns="36000" rIns="54000" bIns="36000" anchor="ctr"/>
          <a:lstStyle/>
          <a:p>
            <a:pPr algn="ctr">
              <a:lnSpc>
                <a:spcPts val="1200"/>
              </a:lnSpc>
            </a:pPr>
            <a:r>
              <a:rPr lang="en-US" sz="1100" b="1" dirty="0">
                <a:solidFill>
                  <a:srgbClr val="3FB950"/>
                </a:solidFill>
                <a:latin typeface="Segoe UI Semibold"/>
              </a:rPr>
              <a:t>IDE Workflow</a:t>
            </a:r>
          </a:p>
          <a:p>
            <a:pPr algn="ctr">
              <a:lnSpc>
                <a:spcPts val="1000"/>
              </a:lnSpc>
            </a:pPr>
            <a:r>
              <a:rPr lang="en-US" sz="800" i="1" dirty="0">
                <a:solidFill>
                  <a:srgbClr val="8B949E"/>
                </a:solidFill>
                <a:latin typeface="Segoe UI"/>
              </a:rPr>
              <a:t>The Editor</a:t>
            </a:r>
          </a:p>
        </p:txBody>
      </p:sp>
      <p:sp>
        <p:nvSpPr>
          <p:cNvPr id="16" name="Cell_1_1"/>
          <p:cNvSpPr/>
          <p:nvPr/>
        </p:nvSpPr>
        <p:spPr>
          <a:xfrm>
            <a:off x="2343404" y="1308100"/>
            <a:ext cx="3088132" cy="1206500"/>
          </a:xfrm>
          <a:prstGeom prst="roundRect">
            <a:avLst>
              <a:gd name="adj" fmla="val 5000"/>
            </a:avLst>
          </a:prstGeom>
          <a:solidFill>
            <a:srgbClr val="1A2E1F"/>
          </a:solidFill>
          <a:ln w="6350">
            <a:solidFill>
              <a:srgbClr val="3FB950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3FB950"/>
                </a:solidFill>
                <a:latin typeface="Segoe UI Semibold"/>
              </a:rPr>
              <a:t>Ghost Text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Inline code and comment completion</a:t>
            </a:r>
          </a:p>
        </p:txBody>
      </p:sp>
      <p:sp>
        <p:nvSpPr>
          <p:cNvPr id="17" name="Cell_1_2"/>
          <p:cNvSpPr/>
          <p:nvPr/>
        </p:nvSpPr>
        <p:spPr>
          <a:xfrm>
            <a:off x="5482336" y="1308100"/>
            <a:ext cx="3088132" cy="1206500"/>
          </a:xfrm>
          <a:prstGeom prst="roundRect">
            <a:avLst>
              <a:gd name="adj" fmla="val 5000"/>
            </a:avLst>
          </a:prstGeom>
          <a:solidFill>
            <a:srgbClr val="15253B"/>
          </a:solidFill>
          <a:ln w="6350">
            <a:solidFill>
              <a:srgbClr val="58A6FF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58A6FF"/>
                </a:solidFill>
                <a:latin typeface="Segoe UI Semibold"/>
              </a:rPr>
              <a:t>Chat &amp; Workspace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Multi-file context via @workspace. /explain and /tests commands</a:t>
            </a:r>
          </a:p>
        </p:txBody>
      </p:sp>
      <p:sp>
        <p:nvSpPr>
          <p:cNvPr id="18" name="Cell_1_3"/>
          <p:cNvSpPr/>
          <p:nvPr/>
        </p:nvSpPr>
        <p:spPr>
          <a:xfrm>
            <a:off x="8621268" y="1308100"/>
            <a:ext cx="3088132" cy="1206500"/>
          </a:xfrm>
          <a:prstGeom prst="roundRect">
            <a:avLst>
              <a:gd name="adj" fmla="val 5000"/>
            </a:avLst>
          </a:prstGeom>
          <a:solidFill>
            <a:srgbClr val="221A35"/>
          </a:solidFill>
          <a:ln w="6350">
            <a:solidFill>
              <a:srgbClr val="BC8CFF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BC8CFF"/>
                </a:solidFill>
                <a:latin typeface="Segoe UI Semibold"/>
              </a:rPr>
              <a:t>Copilot Spaces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Visual workspace for architecture visualization and complex refactoring</a:t>
            </a:r>
          </a:p>
        </p:txBody>
      </p:sp>
      <p:sp>
        <p:nvSpPr>
          <p:cNvPr id="19" name="FeatureLabel2"/>
          <p:cNvSpPr/>
          <p:nvPr/>
        </p:nvSpPr>
        <p:spPr>
          <a:xfrm>
            <a:off x="457200" y="2654300"/>
            <a:ext cx="1835404" cy="12065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>
            <a:noFill/>
          </a:ln>
        </p:spPr>
        <p:txBody>
          <a:bodyPr wrap="square" lIns="54000" tIns="36000" rIns="54000" bIns="36000" anchor="ctr"/>
          <a:lstStyle/>
          <a:p>
            <a:pPr algn="ctr">
              <a:lnSpc>
                <a:spcPts val="1200"/>
              </a:lnSpc>
            </a:pPr>
            <a:r>
              <a:rPr lang="en-US" sz="1100" b="1" dirty="0">
                <a:solidFill>
                  <a:srgbClr val="58A6FF"/>
                </a:solidFill>
                <a:latin typeface="Segoe UI Semibold"/>
              </a:rPr>
              <a:t>Agentic Automation</a:t>
            </a:r>
          </a:p>
          <a:p>
            <a:pPr algn="ctr">
              <a:lnSpc>
                <a:spcPts val="1000"/>
              </a:lnSpc>
            </a:pPr>
            <a:r>
              <a:rPr lang="en-US" sz="800" i="1" dirty="0">
                <a:solidFill>
                  <a:srgbClr val="8B949E"/>
                </a:solidFill>
                <a:latin typeface="Segoe UI"/>
              </a:rPr>
              <a:t>CLI &amp; SDK</a:t>
            </a:r>
          </a:p>
        </p:txBody>
      </p:sp>
      <p:sp>
        <p:nvSpPr>
          <p:cNvPr id="20" name="Cell_2_1"/>
          <p:cNvSpPr/>
          <p:nvPr/>
        </p:nvSpPr>
        <p:spPr>
          <a:xfrm>
            <a:off x="2343404" y="2654300"/>
            <a:ext cx="3088132" cy="1206500"/>
          </a:xfrm>
          <a:prstGeom prst="roundRect">
            <a:avLst>
              <a:gd name="adj" fmla="val 5000"/>
            </a:avLst>
          </a:prstGeom>
          <a:solidFill>
            <a:srgbClr val="1A2E1F"/>
          </a:solidFill>
          <a:ln w="6350">
            <a:solidFill>
              <a:srgbClr val="3FB950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3FB950"/>
                </a:solidFill>
                <a:latin typeface="Segoe UI Semibold"/>
              </a:rPr>
              <a:t>Command Suggestion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Basic gh copilot suggest in terminal</a:t>
            </a:r>
          </a:p>
        </p:txBody>
      </p:sp>
      <p:sp>
        <p:nvSpPr>
          <p:cNvPr id="21" name="Cell_2_2"/>
          <p:cNvSpPr/>
          <p:nvPr/>
        </p:nvSpPr>
        <p:spPr>
          <a:xfrm>
            <a:off x="5482336" y="2654300"/>
            <a:ext cx="3088132" cy="1206500"/>
          </a:xfrm>
          <a:prstGeom prst="roundRect">
            <a:avLst>
              <a:gd name="adj" fmla="val 5000"/>
            </a:avLst>
          </a:prstGeom>
          <a:solidFill>
            <a:srgbClr val="15253B"/>
          </a:solidFill>
          <a:ln w="6350">
            <a:solidFill>
              <a:srgbClr val="58A6FF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58A6FF"/>
                </a:solidFill>
                <a:latin typeface="Segoe UI Semibold"/>
              </a:rPr>
              <a:t>Interactive CLI Chat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Debugging terminal errors and shell scripts</a:t>
            </a:r>
          </a:p>
        </p:txBody>
      </p:sp>
      <p:sp>
        <p:nvSpPr>
          <p:cNvPr id="22" name="Cell_2_3"/>
          <p:cNvSpPr/>
          <p:nvPr/>
        </p:nvSpPr>
        <p:spPr>
          <a:xfrm>
            <a:off x="8621268" y="2654300"/>
            <a:ext cx="3088132" cy="1206500"/>
          </a:xfrm>
          <a:prstGeom prst="roundRect">
            <a:avLst>
              <a:gd name="adj" fmla="val 5000"/>
            </a:avLst>
          </a:prstGeom>
          <a:solidFill>
            <a:srgbClr val="221A35"/>
          </a:solidFill>
          <a:ln w="6350">
            <a:solidFill>
              <a:srgbClr val="BC8CFF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BC8CFF"/>
                </a:solidFill>
                <a:latin typeface="Segoe UI Semibold"/>
              </a:rPr>
              <a:t>CLI Autopilot Mode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Autonomous plan-act-review loops for complex file operations</a:t>
            </a:r>
          </a:p>
        </p:txBody>
      </p:sp>
      <p:sp>
        <p:nvSpPr>
          <p:cNvPr id="23" name="FeatureLabel3"/>
          <p:cNvSpPr/>
          <p:nvPr/>
        </p:nvSpPr>
        <p:spPr>
          <a:xfrm>
            <a:off x="457200" y="4000500"/>
            <a:ext cx="1835404" cy="12065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>
            <a:noFill/>
          </a:ln>
        </p:spPr>
        <p:txBody>
          <a:bodyPr wrap="square" lIns="54000" tIns="36000" rIns="54000" bIns="36000" anchor="ctr"/>
          <a:lstStyle/>
          <a:p>
            <a:pPr algn="ctr">
              <a:lnSpc>
                <a:spcPts val="1200"/>
              </a:lnSpc>
            </a:pPr>
            <a:r>
              <a:rPr lang="en-US" sz="1100" b="1" dirty="0">
                <a:solidFill>
                  <a:srgbClr val="D29922"/>
                </a:solidFill>
                <a:latin typeface="Segoe UI Semibold"/>
              </a:rPr>
              <a:t>Enterprise Knowledge</a:t>
            </a:r>
          </a:p>
          <a:p>
            <a:pPr algn="ctr">
              <a:lnSpc>
                <a:spcPts val="1000"/>
              </a:lnSpc>
            </a:pPr>
            <a:r>
              <a:rPr lang="en-US" sz="800" i="1" dirty="0">
                <a:solidFill>
                  <a:srgbClr val="8B949E"/>
                </a:solidFill>
                <a:latin typeface="Segoe UI"/>
              </a:rPr>
              <a:t>Governance</a:t>
            </a:r>
          </a:p>
        </p:txBody>
      </p:sp>
      <p:sp>
        <p:nvSpPr>
          <p:cNvPr id="24" name="Cell_3_1"/>
          <p:cNvSpPr/>
          <p:nvPr/>
        </p:nvSpPr>
        <p:spPr>
          <a:xfrm>
            <a:off x="2343404" y="4000500"/>
            <a:ext cx="3088132" cy="1206500"/>
          </a:xfrm>
          <a:prstGeom prst="roundRect">
            <a:avLst>
              <a:gd name="adj" fmla="val 5000"/>
            </a:avLst>
          </a:prstGeom>
          <a:solidFill>
            <a:srgbClr val="1A2E1F"/>
          </a:solidFill>
          <a:ln w="6350">
            <a:solidFill>
              <a:srgbClr val="3FB950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3FB950"/>
                </a:solidFill>
                <a:latin typeface="Segoe UI Semibold"/>
              </a:rPr>
              <a:t>Content Exclusion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Basic safety controls on file visibility</a:t>
            </a:r>
          </a:p>
        </p:txBody>
      </p:sp>
      <p:sp>
        <p:nvSpPr>
          <p:cNvPr id="25" name="Cell_3_2"/>
          <p:cNvSpPr/>
          <p:nvPr/>
        </p:nvSpPr>
        <p:spPr>
          <a:xfrm>
            <a:off x="5482336" y="4000500"/>
            <a:ext cx="3088132" cy="1206500"/>
          </a:xfrm>
          <a:prstGeom prst="roundRect">
            <a:avLst>
              <a:gd name="adj" fmla="val 5000"/>
            </a:avLst>
          </a:prstGeom>
          <a:solidFill>
            <a:srgbClr val="15253B"/>
          </a:solidFill>
          <a:ln w="6350">
            <a:solidFill>
              <a:srgbClr val="58A6FF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58A6FF"/>
                </a:solidFill>
                <a:latin typeface="Segoe UI Semibold"/>
              </a:rPr>
              <a:t>Knowledge Bases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Indexing internal docs/Wikis for contextual answers</a:t>
            </a:r>
          </a:p>
        </p:txBody>
      </p:sp>
      <p:sp>
        <p:nvSpPr>
          <p:cNvPr id="26" name="Cell_3_3"/>
          <p:cNvSpPr/>
          <p:nvPr/>
        </p:nvSpPr>
        <p:spPr>
          <a:xfrm>
            <a:off x="8621268" y="4000500"/>
            <a:ext cx="3088132" cy="1206500"/>
          </a:xfrm>
          <a:prstGeom prst="roundRect">
            <a:avLst>
              <a:gd name="adj" fmla="val 5000"/>
            </a:avLst>
          </a:prstGeom>
          <a:solidFill>
            <a:srgbClr val="221A35"/>
          </a:solidFill>
          <a:ln w="6350">
            <a:solidFill>
              <a:srgbClr val="BC8CFF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BC8CFF"/>
                </a:solidFill>
                <a:latin typeface="Segoe UI Semibold"/>
              </a:rPr>
              <a:t>AI Code Review Agent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Autonomous security and standards auditing on PRs</a:t>
            </a:r>
          </a:p>
        </p:txBody>
      </p:sp>
      <p:sp>
        <p:nvSpPr>
          <p:cNvPr id="27" name="FeatureLabel4"/>
          <p:cNvSpPr/>
          <p:nvPr/>
        </p:nvSpPr>
        <p:spPr>
          <a:xfrm>
            <a:off x="457200" y="5346700"/>
            <a:ext cx="1835404" cy="12065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>
            <a:noFill/>
          </a:ln>
        </p:spPr>
        <p:txBody>
          <a:bodyPr wrap="square" lIns="54000" tIns="36000" rIns="54000" bIns="36000" anchor="ctr"/>
          <a:lstStyle/>
          <a:p>
            <a:pPr algn="ctr">
              <a:lnSpc>
                <a:spcPts val="1200"/>
              </a:lnSpc>
            </a:pPr>
            <a:r>
              <a:rPr lang="en-US" sz="1100" b="1" dirty="0">
                <a:solidFill>
                  <a:srgbClr val="F78166"/>
                </a:solidFill>
                <a:latin typeface="Segoe UI Semibold"/>
              </a:rPr>
              <a:t>Extensions &amp; Modernization</a:t>
            </a:r>
          </a:p>
          <a:p>
            <a:pPr algn="ctr">
              <a:lnSpc>
                <a:spcPts val="1000"/>
              </a:lnSpc>
            </a:pPr>
            <a:r>
              <a:rPr lang="en-US" sz="800" i="1" dirty="0">
                <a:solidFill>
                  <a:srgbClr val="8B949E"/>
                </a:solidFill>
                <a:latin typeface="Segoe UI"/>
              </a:rPr>
              <a:t>Ecosystem</a:t>
            </a:r>
          </a:p>
        </p:txBody>
      </p:sp>
      <p:sp>
        <p:nvSpPr>
          <p:cNvPr id="28" name="Cell_4_1"/>
          <p:cNvSpPr/>
          <p:nvPr/>
        </p:nvSpPr>
        <p:spPr>
          <a:xfrm>
            <a:off x="2343404" y="5346700"/>
            <a:ext cx="3088132" cy="1206500"/>
          </a:xfrm>
          <a:prstGeom prst="roundRect">
            <a:avLst>
              <a:gd name="adj" fmla="val 5000"/>
            </a:avLst>
          </a:prstGeom>
          <a:solidFill>
            <a:srgbClr val="1A2E1F"/>
          </a:solidFill>
          <a:ln w="6350">
            <a:solidFill>
              <a:srgbClr val="3FB950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3FB950"/>
                </a:solidFill>
                <a:latin typeface="Segoe UI Semibold"/>
              </a:rPr>
              <a:t>Slash Commands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Basic code refactoring (/fix)</a:t>
            </a:r>
          </a:p>
        </p:txBody>
      </p:sp>
      <p:sp>
        <p:nvSpPr>
          <p:cNvPr id="29" name="Cell_4_2"/>
          <p:cNvSpPr/>
          <p:nvPr/>
        </p:nvSpPr>
        <p:spPr>
          <a:xfrm>
            <a:off x="5482336" y="5346700"/>
            <a:ext cx="3088132" cy="1206500"/>
          </a:xfrm>
          <a:prstGeom prst="roundRect">
            <a:avLst>
              <a:gd name="adj" fmla="val 5000"/>
            </a:avLst>
          </a:prstGeom>
          <a:solidFill>
            <a:srgbClr val="15253B"/>
          </a:solidFill>
          <a:ln w="6350">
            <a:solidFill>
              <a:srgbClr val="58A6FF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58A6FF"/>
                </a:solidFill>
                <a:latin typeface="Segoe UI Semibold"/>
              </a:rPr>
              <a:t>1st Party Extensions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Connecting to Azure Database, Teams, and more</a:t>
            </a:r>
          </a:p>
        </p:txBody>
      </p:sp>
      <p:sp>
        <p:nvSpPr>
          <p:cNvPr id="30" name="Cell_4_3"/>
          <p:cNvSpPr/>
          <p:nvPr/>
        </p:nvSpPr>
        <p:spPr>
          <a:xfrm>
            <a:off x="8621268" y="5346700"/>
            <a:ext cx="3088132" cy="1206500"/>
          </a:xfrm>
          <a:prstGeom prst="roundRect">
            <a:avLst>
              <a:gd name="adj" fmla="val 5000"/>
            </a:avLst>
          </a:prstGeom>
          <a:solidFill>
            <a:srgbClr val="221A35"/>
          </a:solidFill>
          <a:ln w="6350">
            <a:solidFill>
              <a:srgbClr val="BC8CFF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100"/>
              </a:lnSpc>
              <a:spcAft>
                <a:spcPts val="100"/>
              </a:spcAft>
            </a:pPr>
            <a:r>
              <a:rPr lang="en-US" sz="1000" b="1" dirty="0">
                <a:solidFill>
                  <a:srgbClr val="BC8CFF"/>
                </a:solidFill>
                <a:latin typeface="Segoe UI Semibold"/>
              </a:rPr>
              <a:t>Modernization Agent</a:t>
            </a:r>
          </a:p>
          <a:p>
            <a:pPr algn="l">
              <a:lnSpc>
                <a:spcPts val="1000"/>
              </a:lnSpc>
              <a:spcAft>
                <a:spcPts val="100"/>
              </a:spcAft>
            </a:pPr>
            <a:r>
              <a:rPr lang="en-US" sz="800" dirty="0">
                <a:solidFill>
                  <a:srgbClr val="C9D1D9"/>
                </a:solidFill>
                <a:latin typeface="Segoe UI"/>
              </a:rPr>
              <a:t>Assess → Plan → Execute: .NET/Java to Azure migration</a:t>
            </a:r>
          </a:p>
          <a:p>
            <a:pPr algn="l">
              <a:lnSpc>
                <a:spcPts val="1000"/>
              </a:lnSpc>
            </a:pPr>
            <a:r>
              <a:rPr lang="en-US" sz="900" b="1" i="1" dirty="0">
                <a:solidFill>
                  <a:srgbClr val="D2A8FF"/>
                </a:solidFill>
                <a:latin typeface="Segoe UI Semibold"/>
              </a:rPr>
              <a:t>+ Vibe Coding (Agent Mode)</a:t>
            </a:r>
          </a:p>
        </p:txBody>
      </p:sp>
      <p:sp>
        <p:nvSpPr>
          <p:cNvPr id="32" name="ArrowLabel0"/>
          <p:cNvSpPr/>
          <p:nvPr/>
        </p:nvSpPr>
        <p:spPr>
          <a:xfrm>
            <a:off x="2343404" y="6667500"/>
            <a:ext cx="3088132" cy="1778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/>
            <a:r>
              <a:rPr lang="en-US" sz="1000" dirty="0">
                <a:solidFill>
                  <a:srgbClr val="3FB950"/>
                </a:solidFill>
                <a:latin typeface="Segoe UI"/>
              </a:rPr>
              <a:t>◀ Reactive • Single-task</a:t>
            </a:r>
          </a:p>
        </p:txBody>
      </p:sp>
      <p:sp>
        <p:nvSpPr>
          <p:cNvPr id="33" name="ArrowLabel1"/>
          <p:cNvSpPr/>
          <p:nvPr/>
        </p:nvSpPr>
        <p:spPr>
          <a:xfrm>
            <a:off x="5482336" y="6667500"/>
            <a:ext cx="3088132" cy="1778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ctr"/>
            <a:r>
              <a:rPr lang="en-US" sz="1000" dirty="0">
                <a:solidFill>
                  <a:srgbClr val="58A6FF"/>
                </a:solidFill>
                <a:latin typeface="Segoe UI"/>
              </a:rPr>
              <a:t>Multi-file • Context-aware</a:t>
            </a:r>
          </a:p>
        </p:txBody>
      </p:sp>
      <p:sp>
        <p:nvSpPr>
          <p:cNvPr id="34" name="ArrowLabel2"/>
          <p:cNvSpPr/>
          <p:nvPr/>
        </p:nvSpPr>
        <p:spPr>
          <a:xfrm>
            <a:off x="8621268" y="6667500"/>
            <a:ext cx="3088132" cy="1778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r"/>
            <a:r>
              <a:rPr lang="en-US" sz="1000" dirty="0">
                <a:solidFill>
                  <a:srgbClr val="BC8CFF"/>
                </a:solidFill>
                <a:latin typeface="Segoe UI"/>
              </a:rPr>
              <a:t>Autonomous • Goal-oriented ▶</a:t>
            </a:r>
          </a:p>
        </p:txBody>
      </p:sp>
      <p:sp>
        <p:nvSpPr>
          <p:cNvPr id="40" name="4SBadge"/>
          <p:cNvSpPr/>
          <p:nvPr/>
        </p:nvSpPr>
        <p:spPr>
          <a:xfrm>
            <a:off x="457200" y="6604000"/>
            <a:ext cx="1841500" cy="228600"/>
          </a:xfrm>
          <a:prstGeom prst="roundRect">
            <a:avLst>
              <a:gd name="adj" fmla="val 16667"/>
            </a:avLst>
          </a:prstGeom>
          <a:solidFill>
            <a:srgbClr val="2A1F0D"/>
          </a:solidFill>
          <a:ln w="6350">
            <a:solidFill>
              <a:srgbClr val="D29922"/>
            </a:solidFill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sz="800" b="1" dirty="0">
                <a:solidFill>
                  <a:srgbClr val="D29922"/>
                </a:solidFill>
                <a:latin typeface="Segoe UI Semibold"/>
              </a:rPr>
              <a:t>⚡ 4S Prompting Method</a:t>
            </a:r>
          </a:p>
        </p:txBody>
      </p:sp>
    </p:spTree>
    <p:extLst>
      <p:ext uri="{BB962C8B-B14F-4D97-AF65-F5344CB8AC3E}">
        <p14:creationId xmlns:p14="http://schemas.microsoft.com/office/powerpoint/2010/main" val="5404344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lideTitle"/>
          <p:cNvSpPr/>
          <p:nvPr/>
        </p:nvSpPr>
        <p:spPr>
          <a:xfrm>
            <a:off x="457200" y="101600"/>
            <a:ext cx="11277600" cy="533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45720" anchor="t"/>
          <a:lstStyle/>
          <a:p>
            <a:pPr algn="l"/>
            <a:r>
              <a:rPr lang="en-US" sz="2200" b="1" dirty="0">
                <a:solidFill>
                  <a:srgbClr val="E8ECF0"/>
                </a:solidFill>
                <a:latin typeface="Segoe UI Semibold"/>
              </a:rPr>
              <a:t>The 4S Prompting Framework</a:t>
            </a:r>
            <a:r>
              <a:rPr lang="en-US" sz="1400" dirty="0">
                <a:solidFill>
                  <a:srgbClr val="8B949E"/>
                </a:solidFill>
                <a:latin typeface="Segoe UI"/>
              </a:rPr>
              <a:t xml:space="preserve">  |  Context Crafting for GitHub Copilot</a:t>
            </a:r>
          </a:p>
        </p:txBody>
      </p:sp>
      <p:sp>
        <p:nvSpPr>
          <p:cNvPr id="81" name="Quad1"/>
          <p:cNvSpPr/>
          <p:nvPr/>
        </p:nvSpPr>
        <p:spPr>
          <a:xfrm>
            <a:off x="457200" y="685800"/>
            <a:ext cx="5588000" cy="2971800"/>
          </a:xfrm>
          <a:prstGeom prst="roundRect">
            <a:avLst>
              <a:gd name="adj" fmla="val 5000"/>
            </a:avLst>
          </a:prstGeom>
          <a:solidFill>
            <a:srgbClr val="1A2E1F"/>
          </a:solidFill>
          <a:ln w="9525">
            <a:solidFill>
              <a:srgbClr val="3FB950"/>
            </a:solidFill>
          </a:ln>
        </p:spPr>
        <p:txBody>
          <a:bodyPr wrap="square" lIns="72000" tIns="54000" rIns="72000" bIns="45720" anchor="t"/>
          <a:lstStyle/>
          <a:p>
            <a:pPr algn="l">
              <a:lnSpc>
                <a:spcPts val="2000"/>
              </a:lnSpc>
              <a:spcAft>
                <a:spcPts val="100"/>
              </a:spcAft>
            </a:pPr>
            <a:r>
              <a:rPr lang="en-US" sz="1200" dirty="0">
                <a:solidFill>
                  <a:srgbClr val="3FB950">
                    <a:alpha val="50000"/>
                  </a:srgbClr>
                </a:solidFill>
                <a:latin typeface="Segoe UI"/>
              </a:rPr>
              <a:t xml:space="preserve">01  </a:t>
            </a:r>
            <a:r>
              <a:rPr lang="en-US" sz="2000" b="1" dirty="0">
                <a:solidFill>
                  <a:srgbClr val="3FB950"/>
                </a:solidFill>
                <a:latin typeface="Segoe UI Semibold"/>
              </a:rPr>
              <a:t>SINGLE</a:t>
            </a:r>
            <a:r>
              <a:rPr lang="en-US" sz="1200" dirty="0">
                <a:solidFill>
                  <a:srgbClr val="8B949E"/>
                </a:solidFill>
                <a:latin typeface="Segoe UI"/>
              </a:rPr>
              <a:t xml:space="preserve">   One task, one prompt</a:t>
            </a:r>
          </a:p>
          <a:p>
            <a:pPr algn="l">
              <a:lnSpc>
                <a:spcPts val="2000"/>
              </a:lnSpc>
              <a:spcAft>
                <a:spcPts val="100"/>
              </a:spcAft>
            </a:pPr>
            <a:endParaRPr lang="en-US" sz="1200" dirty="0">
              <a:solidFill>
                <a:srgbClr val="8B949E"/>
              </a:solidFill>
              <a:latin typeface="Segoe UI"/>
            </a:endParaRPr>
          </a:p>
          <a:p>
            <a:pPr algn="l">
              <a:lnSpc>
                <a:spcPts val="1500"/>
              </a:lnSpc>
              <a:spcAft>
                <a:spcPts val="300"/>
              </a:spcAft>
            </a:pPr>
            <a:r>
              <a:rPr lang="en-US" sz="1200" dirty="0">
                <a:solidFill>
                  <a:srgbClr val="C9D1D9"/>
                </a:solidFill>
                <a:latin typeface="Segoe UI"/>
              </a:rPr>
              <a:t>Decompose complex requests into atomic tasks.</a:t>
            </a:r>
          </a:p>
          <a:p>
            <a:pPr algn="l">
              <a:lnSpc>
                <a:spcPts val="1400"/>
              </a:lnSpc>
              <a:spcAft>
                <a:spcPts val="150"/>
              </a:spcAft>
            </a:pPr>
            <a:endParaRPr lang="en-US" sz="1100" dirty="0">
              <a:solidFill>
                <a:srgbClr val="F85149"/>
              </a:solidFill>
              <a:latin typeface="Cascadia Code"/>
            </a:endParaRPr>
          </a:p>
          <a:p>
            <a:pPr algn="l">
              <a:lnSpc>
                <a:spcPts val="1400"/>
              </a:lnSpc>
              <a:spcAft>
                <a:spcPts val="150"/>
              </a:spcAft>
            </a:pPr>
            <a:r>
              <a:rPr lang="en-US" sz="1100" dirty="0">
                <a:solidFill>
                  <a:srgbClr val="F85149"/>
                </a:solidFill>
                <a:latin typeface="Cascadia Code"/>
              </a:rPr>
              <a:t>✘ "Add OAuth, write tests, update README"</a:t>
            </a:r>
          </a:p>
          <a:p>
            <a:pPr algn="l">
              <a:lnSpc>
                <a:spcPts val="1400"/>
              </a:lnSpc>
              <a:spcAft>
                <a:spcPts val="300"/>
              </a:spcAft>
            </a:pPr>
            <a:r>
              <a:rPr lang="en-US" sz="1100" dirty="0">
                <a:solidFill>
                  <a:srgbClr val="3FB950"/>
                </a:solidFill>
                <a:latin typeface="Cascadia Code"/>
              </a:rPr>
              <a:t>✔ "Add OAuth2 login using passport for Express"</a:t>
            </a:r>
          </a:p>
          <a:p>
            <a:pPr algn="l">
              <a:lnSpc>
                <a:spcPts val="1200"/>
              </a:lnSpc>
            </a:pPr>
            <a:endParaRPr lang="en-US" sz="1000" i="1" dirty="0">
              <a:solidFill>
                <a:srgbClr val="3FB950">
                  <a:alpha val="70000"/>
                </a:srgbClr>
              </a:solidFill>
              <a:latin typeface="Segoe UI"/>
            </a:endParaRPr>
          </a:p>
          <a:p>
            <a:pPr algn="l">
              <a:lnSpc>
                <a:spcPts val="1200"/>
              </a:lnSpc>
            </a:pPr>
            <a:r>
              <a:rPr lang="en-US" sz="1000" i="1" dirty="0">
                <a:solidFill>
                  <a:srgbClr val="3FB950">
                    <a:alpha val="70000"/>
                  </a:srgbClr>
                </a:solidFill>
                <a:latin typeface="Segoe UI"/>
              </a:rPr>
              <a:t>↗ Foundation for Agent Mode decomposition</a:t>
            </a:r>
          </a:p>
        </p:txBody>
      </p:sp>
      <p:sp>
        <p:nvSpPr>
          <p:cNvPr id="82" name="Quad2"/>
          <p:cNvSpPr/>
          <p:nvPr/>
        </p:nvSpPr>
        <p:spPr>
          <a:xfrm>
            <a:off x="6146800" y="685800"/>
            <a:ext cx="5588000" cy="2971800"/>
          </a:xfrm>
          <a:prstGeom prst="roundRect">
            <a:avLst>
              <a:gd name="adj" fmla="val 5000"/>
            </a:avLst>
          </a:prstGeom>
          <a:solidFill>
            <a:srgbClr val="15253B"/>
          </a:solidFill>
          <a:ln w="9525">
            <a:solidFill>
              <a:srgbClr val="58A6FF"/>
            </a:solidFill>
          </a:ln>
        </p:spPr>
        <p:txBody>
          <a:bodyPr wrap="square" lIns="72000" tIns="54000" rIns="72000" bIns="45720" anchor="t"/>
          <a:lstStyle/>
          <a:p>
            <a:pPr algn="l">
              <a:lnSpc>
                <a:spcPts val="2000"/>
              </a:lnSpc>
              <a:spcAft>
                <a:spcPts val="100"/>
              </a:spcAft>
            </a:pPr>
            <a:r>
              <a:rPr lang="en-US" sz="1200" dirty="0">
                <a:solidFill>
                  <a:srgbClr val="58A6FF">
                    <a:alpha val="50000"/>
                  </a:srgbClr>
                </a:solidFill>
                <a:latin typeface="Segoe UI"/>
              </a:rPr>
              <a:t xml:space="preserve">02  </a:t>
            </a:r>
            <a:r>
              <a:rPr lang="en-US" sz="2000" b="1" dirty="0">
                <a:solidFill>
                  <a:srgbClr val="58A6FF"/>
                </a:solidFill>
                <a:latin typeface="Segoe UI Semibold"/>
              </a:rPr>
              <a:t>SPECIFIC</a:t>
            </a:r>
            <a:r>
              <a:rPr lang="en-US" sz="1200" dirty="0">
                <a:solidFill>
                  <a:srgbClr val="8B949E"/>
                </a:solidFill>
                <a:latin typeface="Segoe UI"/>
              </a:rPr>
              <a:t xml:space="preserve">   Define constraints and versions</a:t>
            </a:r>
          </a:p>
          <a:p>
            <a:pPr algn="l">
              <a:lnSpc>
                <a:spcPts val="2000"/>
              </a:lnSpc>
              <a:spcAft>
                <a:spcPts val="100"/>
              </a:spcAft>
            </a:pPr>
            <a:endParaRPr lang="en-US" sz="1200" dirty="0">
              <a:solidFill>
                <a:srgbClr val="8B949E"/>
              </a:solidFill>
              <a:latin typeface="Segoe UI"/>
            </a:endParaRPr>
          </a:p>
          <a:p>
            <a:pPr algn="l">
              <a:lnSpc>
                <a:spcPts val="1500"/>
              </a:lnSpc>
              <a:spcAft>
                <a:spcPts val="300"/>
              </a:spcAft>
            </a:pPr>
            <a:r>
              <a:rPr lang="en-US" sz="1200" dirty="0">
                <a:solidFill>
                  <a:srgbClr val="C9D1D9"/>
                </a:solidFill>
                <a:latin typeface="Segoe UI"/>
              </a:rPr>
              <a:t>Name exact libraries, versions, and patterns.</a:t>
            </a:r>
          </a:p>
          <a:p>
            <a:pPr algn="l">
              <a:lnSpc>
                <a:spcPts val="1400"/>
              </a:lnSpc>
              <a:spcAft>
                <a:spcPts val="150"/>
              </a:spcAft>
            </a:pPr>
            <a:endParaRPr lang="en-US" sz="1100" dirty="0">
              <a:solidFill>
                <a:srgbClr val="F85149"/>
              </a:solidFill>
              <a:latin typeface="Cascadia Code"/>
            </a:endParaRPr>
          </a:p>
          <a:p>
            <a:pPr algn="l">
              <a:lnSpc>
                <a:spcPts val="1400"/>
              </a:lnSpc>
              <a:spcAft>
                <a:spcPts val="150"/>
              </a:spcAft>
            </a:pPr>
            <a:r>
              <a:rPr lang="en-US" sz="1100" dirty="0">
                <a:solidFill>
                  <a:srgbClr val="F85149"/>
                </a:solidFill>
                <a:latin typeface="Cascadia Code"/>
              </a:rPr>
              <a:t>✘ "Connect to the database"</a:t>
            </a:r>
          </a:p>
          <a:p>
            <a:pPr algn="l">
              <a:lnSpc>
                <a:spcPts val="1400"/>
              </a:lnSpc>
              <a:spcAft>
                <a:spcPts val="300"/>
              </a:spcAft>
            </a:pPr>
            <a:r>
              <a:rPr lang="en-US" sz="1100" dirty="0">
                <a:solidFill>
                  <a:srgbClr val="3FB950"/>
                </a:solidFill>
                <a:latin typeface="Cascadia Code"/>
              </a:rPr>
              <a:t>✔ "Create a PostgreSQL 16 pool via pg-pool, SSL on"</a:t>
            </a:r>
          </a:p>
          <a:p>
            <a:pPr algn="l">
              <a:lnSpc>
                <a:spcPts val="1200"/>
              </a:lnSpc>
            </a:pPr>
            <a:endParaRPr lang="en-US" sz="1000" i="1" dirty="0">
              <a:solidFill>
                <a:srgbClr val="58A6FF">
                  <a:alpha val="70000"/>
                </a:srgbClr>
              </a:solidFill>
              <a:latin typeface="Segoe UI"/>
            </a:endParaRPr>
          </a:p>
          <a:p>
            <a:pPr algn="l">
              <a:lnSpc>
                <a:spcPts val="1200"/>
              </a:lnSpc>
            </a:pPr>
            <a:r>
              <a:rPr lang="en-US" sz="1000" i="1" dirty="0">
                <a:solidFill>
                  <a:srgbClr val="58A6FF">
                    <a:alpha val="70000"/>
                  </a:srgbClr>
                </a:solidFill>
                <a:latin typeface="Segoe UI"/>
              </a:rPr>
              <a:t>↗ Drives precision in Knowledge Base queries</a:t>
            </a:r>
          </a:p>
        </p:txBody>
      </p:sp>
      <p:sp>
        <p:nvSpPr>
          <p:cNvPr id="83" name="Quad3"/>
          <p:cNvSpPr/>
          <p:nvPr/>
        </p:nvSpPr>
        <p:spPr>
          <a:xfrm>
            <a:off x="457200" y="3759200"/>
            <a:ext cx="5588000" cy="2971800"/>
          </a:xfrm>
          <a:prstGeom prst="roundRect">
            <a:avLst>
              <a:gd name="adj" fmla="val 5000"/>
            </a:avLst>
          </a:prstGeom>
          <a:solidFill>
            <a:srgbClr val="2A1F0D"/>
          </a:solidFill>
          <a:ln w="9525">
            <a:solidFill>
              <a:srgbClr val="D29922"/>
            </a:solidFill>
          </a:ln>
        </p:spPr>
        <p:txBody>
          <a:bodyPr wrap="square" lIns="72000" tIns="54000" rIns="72000" bIns="45720" anchor="t"/>
          <a:lstStyle/>
          <a:p>
            <a:pPr algn="l">
              <a:lnSpc>
                <a:spcPts val="2000"/>
              </a:lnSpc>
              <a:spcAft>
                <a:spcPts val="100"/>
              </a:spcAft>
            </a:pPr>
            <a:r>
              <a:rPr lang="en-US" sz="1200" dirty="0">
                <a:solidFill>
                  <a:srgbClr val="D29922">
                    <a:alpha val="50000"/>
                  </a:srgbClr>
                </a:solidFill>
                <a:latin typeface="Segoe UI"/>
              </a:rPr>
              <a:t xml:space="preserve">03  </a:t>
            </a:r>
            <a:r>
              <a:rPr lang="en-US" sz="2000" b="1" dirty="0">
                <a:solidFill>
                  <a:srgbClr val="D29922"/>
                </a:solidFill>
                <a:latin typeface="Segoe UI Semibold"/>
              </a:rPr>
              <a:t>SHORT</a:t>
            </a:r>
            <a:r>
              <a:rPr lang="en-US" sz="1200" dirty="0">
                <a:solidFill>
                  <a:srgbClr val="8B949E"/>
                </a:solidFill>
                <a:latin typeface="Segoe UI"/>
              </a:rPr>
              <a:t xml:space="preserve">   Protect the context window</a:t>
            </a:r>
          </a:p>
          <a:p>
            <a:pPr algn="l">
              <a:lnSpc>
                <a:spcPts val="2000"/>
              </a:lnSpc>
              <a:spcAft>
                <a:spcPts val="100"/>
              </a:spcAft>
            </a:pPr>
            <a:endParaRPr lang="en-US" sz="1200" dirty="0">
              <a:solidFill>
                <a:srgbClr val="8B949E"/>
              </a:solidFill>
              <a:latin typeface="Segoe UI"/>
            </a:endParaRPr>
          </a:p>
          <a:p>
            <a:pPr algn="l">
              <a:lnSpc>
                <a:spcPts val="1500"/>
              </a:lnSpc>
              <a:spcAft>
                <a:spcPts val="300"/>
              </a:spcAft>
            </a:pPr>
            <a:r>
              <a:rPr lang="en-US" sz="1200" dirty="0">
                <a:solidFill>
                  <a:srgbClr val="C9D1D9"/>
                </a:solidFill>
                <a:latin typeface="Segoe UI"/>
              </a:rPr>
              <a:t>Bullet points over paragraphs. Concise = focused output.</a:t>
            </a:r>
          </a:p>
          <a:p>
            <a:pPr algn="l">
              <a:lnSpc>
                <a:spcPts val="1400"/>
              </a:lnSpc>
              <a:spcAft>
                <a:spcPts val="150"/>
              </a:spcAft>
            </a:pPr>
            <a:endParaRPr lang="en-US" sz="1100" dirty="0">
              <a:solidFill>
                <a:srgbClr val="F85149"/>
              </a:solidFill>
              <a:latin typeface="Cascadia Code"/>
            </a:endParaRPr>
          </a:p>
          <a:p>
            <a:pPr algn="l">
              <a:lnSpc>
                <a:spcPts val="1400"/>
              </a:lnSpc>
              <a:spcAft>
                <a:spcPts val="150"/>
              </a:spcAft>
            </a:pPr>
            <a:r>
              <a:rPr lang="en-US" sz="1100" dirty="0">
                <a:solidFill>
                  <a:srgbClr val="F85149"/>
                </a:solidFill>
                <a:latin typeface="Cascadia Code"/>
              </a:rPr>
              <a:t>✘ "I need a function that filters users by age, sorts by name, returns top 10..."</a:t>
            </a:r>
          </a:p>
          <a:p>
            <a:pPr algn="l">
              <a:lnSpc>
                <a:spcPts val="1400"/>
              </a:lnSpc>
              <a:spcAft>
                <a:spcPts val="300"/>
              </a:spcAft>
            </a:pPr>
            <a:r>
              <a:rPr lang="en-US" sz="1100" dirty="0">
                <a:solidFill>
                  <a:srgbClr val="3FB950"/>
                </a:solidFill>
                <a:latin typeface="Cascadia Code"/>
              </a:rPr>
              <a:t>✔ "Filter users: age &gt; 25, sort name, limit 10"</a:t>
            </a:r>
          </a:p>
          <a:p>
            <a:pPr algn="l">
              <a:lnSpc>
                <a:spcPts val="1200"/>
              </a:lnSpc>
            </a:pPr>
            <a:endParaRPr lang="en-US" sz="1000" i="1" dirty="0">
              <a:solidFill>
                <a:srgbClr val="D29922">
                  <a:alpha val="70000"/>
                </a:srgbClr>
              </a:solidFill>
              <a:latin typeface="Segoe UI"/>
            </a:endParaRPr>
          </a:p>
          <a:p>
            <a:pPr algn="l">
              <a:lnSpc>
                <a:spcPts val="1200"/>
              </a:lnSpc>
            </a:pPr>
            <a:r>
              <a:rPr lang="en-US" sz="1000" i="1" dirty="0">
                <a:solidFill>
                  <a:srgbClr val="D29922">
                    <a:alpha val="70000"/>
                  </a:srgbClr>
                </a:solidFill>
                <a:latin typeface="Segoe UI"/>
              </a:rPr>
              <a:t>↗ Maximizes Copilot’s extended context window</a:t>
            </a:r>
          </a:p>
        </p:txBody>
      </p:sp>
      <p:sp>
        <p:nvSpPr>
          <p:cNvPr id="84" name="Quad4"/>
          <p:cNvSpPr/>
          <p:nvPr/>
        </p:nvSpPr>
        <p:spPr>
          <a:xfrm>
            <a:off x="6146800" y="3759200"/>
            <a:ext cx="5588000" cy="2971800"/>
          </a:xfrm>
          <a:prstGeom prst="roundRect">
            <a:avLst>
              <a:gd name="adj" fmla="val 5000"/>
            </a:avLst>
          </a:prstGeom>
          <a:solidFill>
            <a:srgbClr val="221A35"/>
          </a:solidFill>
          <a:ln w="9525">
            <a:solidFill>
              <a:srgbClr val="BC8CFF"/>
            </a:solidFill>
          </a:ln>
        </p:spPr>
        <p:txBody>
          <a:bodyPr wrap="square" lIns="72000" tIns="54000" rIns="72000" bIns="45720" anchor="t"/>
          <a:lstStyle/>
          <a:p>
            <a:pPr algn="l">
              <a:lnSpc>
                <a:spcPts val="2000"/>
              </a:lnSpc>
              <a:spcAft>
                <a:spcPts val="100"/>
              </a:spcAft>
            </a:pPr>
            <a:r>
              <a:rPr lang="en-US" sz="1200" dirty="0">
                <a:solidFill>
                  <a:srgbClr val="BC8CFF">
                    <a:alpha val="50000"/>
                  </a:srgbClr>
                </a:solidFill>
                <a:latin typeface="Segoe UI"/>
              </a:rPr>
              <a:t xml:space="preserve">04  </a:t>
            </a:r>
            <a:r>
              <a:rPr lang="en-US" sz="2000" b="1" dirty="0">
                <a:solidFill>
                  <a:srgbClr val="BC8CFF"/>
                </a:solidFill>
                <a:latin typeface="Segoe UI Semibold"/>
              </a:rPr>
              <a:t>SURROUND</a:t>
            </a:r>
            <a:r>
              <a:rPr lang="en-US" sz="1200" dirty="0">
                <a:solidFill>
                  <a:srgbClr val="8B949E"/>
                </a:solidFill>
                <a:latin typeface="Segoe UI"/>
              </a:rPr>
              <a:t xml:space="preserve">   Ground the AI with open files</a:t>
            </a:r>
          </a:p>
          <a:p>
            <a:pPr algn="l">
              <a:lnSpc>
                <a:spcPts val="2000"/>
              </a:lnSpc>
              <a:spcAft>
                <a:spcPts val="100"/>
              </a:spcAft>
            </a:pPr>
            <a:endParaRPr lang="en-US" sz="1200" dirty="0">
              <a:solidFill>
                <a:srgbClr val="8B949E"/>
              </a:solidFill>
              <a:latin typeface="Segoe UI"/>
            </a:endParaRPr>
          </a:p>
          <a:p>
            <a:pPr algn="l">
              <a:lnSpc>
                <a:spcPts val="1500"/>
              </a:lnSpc>
              <a:spcAft>
                <a:spcPts val="300"/>
              </a:spcAft>
            </a:pPr>
            <a:r>
              <a:rPr lang="en-US" sz="1200" dirty="0">
                <a:solidFill>
                  <a:srgbClr val="C9D1D9"/>
                </a:solidFill>
                <a:latin typeface="Segoe UI"/>
              </a:rPr>
              <a:t>Copilot reads your Active File + Open Tabs for context.</a:t>
            </a:r>
          </a:p>
          <a:p>
            <a:pPr algn="l">
              <a:lnSpc>
                <a:spcPts val="1400"/>
              </a:lnSpc>
              <a:spcAft>
                <a:spcPts val="150"/>
              </a:spcAft>
            </a:pPr>
            <a:endParaRPr lang="en-US" sz="1100" dirty="0">
              <a:solidFill>
                <a:srgbClr val="F85149"/>
              </a:solidFill>
              <a:latin typeface="Cascadia Code"/>
            </a:endParaRPr>
          </a:p>
          <a:p>
            <a:pPr algn="l">
              <a:lnSpc>
                <a:spcPts val="1400"/>
              </a:lnSpc>
              <a:spcAft>
                <a:spcPts val="150"/>
              </a:spcAft>
            </a:pPr>
            <a:r>
              <a:rPr lang="en-US" sz="1100" dirty="0">
                <a:solidFill>
                  <a:srgbClr val="F85149"/>
                </a:solidFill>
                <a:latin typeface="Cascadia Code"/>
              </a:rPr>
              <a:t>✘ Only target file open — Copilot guesses types</a:t>
            </a:r>
          </a:p>
          <a:p>
            <a:pPr algn="l">
              <a:lnSpc>
                <a:spcPts val="1400"/>
              </a:lnSpc>
              <a:spcAft>
                <a:spcPts val="300"/>
              </a:spcAft>
            </a:pPr>
            <a:r>
              <a:rPr lang="en-US" sz="1100" dirty="0">
                <a:solidFill>
                  <a:srgbClr val="3FB950"/>
                </a:solidFill>
                <a:latin typeface="Cascadia Code"/>
              </a:rPr>
              <a:t>✔ types.ts + config.ts + target.ts all open</a:t>
            </a:r>
          </a:p>
          <a:p>
            <a:pPr algn="l">
              <a:lnSpc>
                <a:spcPts val="1200"/>
              </a:lnSpc>
            </a:pPr>
            <a:endParaRPr lang="en-US" sz="1000" i="1" dirty="0">
              <a:solidFill>
                <a:srgbClr val="BC8CFF">
                  <a:alpha val="70000"/>
                </a:srgbClr>
              </a:solidFill>
              <a:latin typeface="Segoe UI"/>
            </a:endParaRPr>
          </a:p>
          <a:p>
            <a:pPr algn="l">
              <a:lnSpc>
                <a:spcPts val="1200"/>
              </a:lnSpc>
            </a:pPr>
            <a:r>
              <a:rPr lang="en-US" sz="1000" i="1" dirty="0">
                <a:solidFill>
                  <a:srgbClr val="BC8CFF">
                    <a:alpha val="70000"/>
                  </a:srgbClr>
                </a:solidFill>
                <a:latin typeface="Segoe UI"/>
              </a:rPr>
              <a:t>↗ Precursor to Copilot Spaces orchestration</a:t>
            </a:r>
          </a:p>
        </p:txBody>
      </p:sp>
    </p:spTree>
    <p:extLst>
      <p:ext uri="{BB962C8B-B14F-4D97-AF65-F5344CB8AC3E}">
        <p14:creationId xmlns:p14="http://schemas.microsoft.com/office/powerpoint/2010/main" val="8701730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xfrm>
          <a:off x="0" y="0"/>
          <a:ext cx="12192000" cy="6858000"/>
        </a:xfrm>
        <a:prstGeom prst="rect">
          <a:avLst/>
        </a:prstGeom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10" name="SlideTitle"/>
          <p:cNvSpPr/>
          <p:nvPr/>
        </p:nvSpPr>
        <p:spPr>
          <a:xfrm>
            <a:off x="457200" y="101600"/>
            <a:ext cx="11277600" cy="533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45720" anchor="t"/>
          <a:lstStyle/>
          <a:p>
            <a:pPr algn="l"/>
            <a:r>
              <a:rPr lang="en-US" sz="2200" b="1" dirty="0">
                <a:solidFill>
                  <a:srgbClr val="E8ECF0"/>
                </a:solidFill>
                <a:latin typeface="Segoe UI Semibold"/>
              </a:rPr>
              <a:t>Your Learning Path</a:t>
            </a:r>
            <a:r>
              <a:rPr lang="en-US" sz="1400" dirty="0">
                <a:solidFill>
                  <a:srgbClr val="8B949E"/>
                </a:solidFill>
                <a:latin typeface="Segoe UI"/>
              </a:rPr>
              <a:t xml:space="preserve">  |  Curated Resources for GitHub Copilot</a:t>
            </a:r>
          </a:p>
        </p:txBody>
      </p:sp>
      <p:sp>
        <p:nvSpPr>
          <p:cNvPr id="2" name="GithubSkillsCard"/>
          <p:cNvSpPr/>
          <p:nvPr/>
        </p:nvSpPr>
        <p:spPr>
          <a:xfrm>
            <a:off x="457200" y="685800"/>
            <a:ext cx="5588000" cy="5600000"/>
          </a:xfrm>
          <a:prstGeom prst="roundRect">
            <a:avLst>
              <a:gd name="adj" fmla="val 5000"/>
            </a:avLst>
          </a:prstGeom>
          <a:solidFill>
            <a:srgbClr val="1A2E1F"/>
          </a:solidFill>
          <a:ln w="9525">
            <a:solidFill>
              <a:srgbClr val="3FB950"/>
            </a:solidFill>
          </a:ln>
        </p:spPr>
        <p:txBody>
          <a:bodyPr wrap="square" lIns="72000" tIns="54000" rIns="72000" bIns="45720" anchor="t"/>
          <a:lstStyle/>
          <a:p>
            <a:pPr algn="l">
              <a:spcAft>
                <a:spcPts val="100"/>
              </a:spcAft>
            </a:pPr>
            <a:r>
              <a:rPr lang="en-US" sz="1600" b="1" dirty="0">
                <a:solidFill>
                  <a:srgbClr val="3FB950"/>
                </a:solidFill>
                <a:latin typeface="Segoe UI Semibold"/>
              </a:rPr>
              <a:t>GITHUB SKILLS</a:t>
            </a:r>
            <a:r>
              <a:rPr lang="en-US" sz="1100" dirty="0">
                <a:solidFill>
                  <a:srgbClr val="8B949E"/>
                </a:solidFill>
                <a:latin typeface="Segoe UI"/>
              </a:rPr>
              <a:t xml:space="preserve">  Hands-on Labs</a:t>
            </a:r>
          </a:p>
          <a:p>
            <a:pPr algn="l">
              <a:spcAft>
                <a:spcPts val="100"/>
              </a:spcAft>
            </a:pPr>
          </a:p>
          <a:p>
            <a:pPr algn="l">
              <a:spcAft>
                <a:spcPts val="100"/>
              </a:spcAft>
            </a:pPr>
            <a:r>
              <a:rPr lang="en-US" sz="1100" dirty="0">
                <a:solidFill>
                  <a:srgbClr val="C9D1D9"/>
                </a:solidFill>
                <a:latin typeface="Segoe UI"/>
              </a:rPr>
              <a:t>Interactive, in-repo exercises on github.com/skills</a:t>
            </a:r>
          </a:p>
          <a:p>
            <a:pPr algn="l">
              <a:spcAft>
                <a:spcPts val="100"/>
              </a:spcAft>
            </a:pP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Getting Started with GitHub Copilot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Build Applications w/ Copilot Agent Mode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Create Applications with Copilot CLI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Expand Your Team with Copilot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Copilot Code Review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Scale Knowledge Using Copilot Spaces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Integrate MCP with Copilot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Customize Your Copilot Experience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Modernize Legacy Code with Copilot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Create AI-Powered Actions</a:t>
            </a:r>
          </a:p>
        </p:txBody>
      </p:sp>
      <p:sp>
        <p:nvSpPr>
          <p:cNvPr id="3" name="MicrosoftLearnCard"/>
          <p:cNvSpPr/>
          <p:nvPr/>
        </p:nvSpPr>
        <p:spPr>
          <a:xfrm>
            <a:off x="6146800" y="685800"/>
            <a:ext cx="5588000" cy="5600000"/>
          </a:xfrm>
          <a:prstGeom prst="roundRect">
            <a:avLst>
              <a:gd name="adj" fmla="val 5000"/>
            </a:avLst>
          </a:prstGeom>
          <a:solidFill>
            <a:srgbClr val="15253B"/>
          </a:solidFill>
          <a:ln w="9525">
            <a:solidFill>
              <a:srgbClr val="58A6FF"/>
            </a:solidFill>
          </a:ln>
        </p:spPr>
        <p:txBody>
          <a:bodyPr wrap="square" lIns="72000" tIns="54000" rIns="72000" bIns="45720" anchor="t"/>
          <a:lstStyle/>
          <a:p>
            <a:pPr algn="l">
              <a:spcAft>
                <a:spcPts val="100"/>
              </a:spcAft>
            </a:pPr>
            <a:r>
              <a:rPr lang="en-US" sz="1600" b="1" dirty="0">
                <a:solidFill>
                  <a:srgbClr val="58A6FF"/>
                </a:solidFill>
                <a:latin typeface="Segoe UI Semibold"/>
              </a:rPr>
              <a:t>MICROSOFT LEARN</a:t>
            </a:r>
            <a:r>
              <a:rPr lang="en-US" sz="1100" dirty="0">
                <a:solidFill>
                  <a:srgbClr val="8B949E"/>
                </a:solidFill>
                <a:latin typeface="Segoe UI"/>
              </a:rPr>
              <a:t xml:space="preserve">  Structured Modules</a:t>
            </a:r>
          </a:p>
          <a:p>
            <a:pPr algn="l">
              <a:spcAft>
                <a:spcPts val="100"/>
              </a:spcAft>
            </a:pPr>
          </a:p>
          <a:p>
            <a:pPr algn="l">
              <a:spcAft>
                <a:spcPts val="100"/>
              </a:spcAft>
            </a:pPr>
            <a:r>
              <a:rPr lang="en-US" sz="1100" b="1" dirty="0">
                <a:solidFill>
                  <a:srgbClr val="58A6FF"/>
                </a:solidFill>
                <a:latin typeface="Segoe UI Semibold"/>
              </a:rPr>
              <a:t>Part 1 — Foundations &amp; Setup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Responsible AI with GitHub Copilot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Prompt Engineering with GitHub Copilot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Introduction to Copilot Spaces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Create Unit Tests with Copilot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GitHub Copilot and Productivity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Copilot Across Environments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Management and Customization</a:t>
            </a:r>
          </a:p>
          <a:p>
            <a:pPr algn="l">
              <a:spcAft>
                <a:spcPts val="100"/>
              </a:spcAft>
            </a:pPr>
          </a:p>
          <a:p>
            <a:pPr algn="l">
              <a:spcAft>
                <a:spcPts val="100"/>
              </a:spcAft>
            </a:pPr>
            <a:r>
              <a:rPr lang="en-US" sz="1100" b="1" dirty="0">
                <a:solidFill>
                  <a:srgbClr val="58A6FF"/>
                </a:solidFill>
                <a:latin typeface="Segoe UI Semibold"/>
              </a:rPr>
              <a:t>Part 2 — Advanced &amp; Agentic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Copilot Coding Agent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GitHub MCP Server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Code Review with Copilot</a:t>
            </a:r>
          </a:p>
        </p:txBody>
      </p:sp>
      <p:sp>
        <p:nvSpPr>
          <p:cNvPr id="4" name="BottomBar"/>
          <p:cNvSpPr/>
          <p:nvPr/>
        </p:nvSpPr>
        <p:spPr>
          <a:xfrm>
            <a:off x="0" y="6680000"/>
            <a:ext cx="12192000" cy="50800"/>
          </a:xfrm>
          <a:prstGeom prst="rect">
            <a:avLst/>
          </a:prstGeom>
          <a:solidFill>
            <a:srgbClr val="58A6FF">
              <a:alpha val="30000"/>
            </a:srgbClr>
          </a:solidFill>
          <a:ln>
            <a:noFill/>
          </a:ln>
        </p:spPr>
        <p:txBody>
          <a:bodyPr wrap="square" lIns="0" tIns="0" rIns="0" bIns="0" anchor="t"/>
          <a:lstStyle/>
          <a:p>
            <a:pPr algn="l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xfrm>
          <a:off x="0" y="0"/>
          <a:ext cx="12192000" cy="6858000"/>
        </a:xfrm>
        <a:prstGeom prst="rect">
          <a:avLst/>
        </a:prstGeom>
        <a:noFill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itle"/>
          <p:cNvSpPr/>
          <p:nvPr/>
        </p:nvSpPr>
        <p:spPr>
          <a:xfrm>
            <a:off x="457200" y="101600"/>
            <a:ext cx="11277600" cy="533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45720" anchor="t"/>
          <a:lstStyle/>
          <a:p>
            <a:pPr algn="l"/>
            <a:r>
              <a:rPr lang="en-US" sz="2200" b="1" dirty="0">
                <a:solidFill>
                  <a:srgbClr val="E8ECF0"/>
                </a:solidFill>
                <a:latin typeface="Segoe UI Semibold"/>
              </a:rPr>
              <a:t>GitHub Skills: Foundational</a:t>
            </a:r>
            <a:r>
              <a:rPr lang="en-US" sz="1400" dirty="0">
                <a:solidFill>
                  <a:srgbClr val="8B949E"/>
                </a:solidFill>
                <a:latin typeface="Segoe UI"/>
              </a:rPr>
              <a:t xml:space="preserve">  |  Zone 1: Assistive / IDE Editor Level</a:t>
            </a:r>
          </a:p>
        </p:txBody>
      </p:sp>
      <p:sp>
        <p:nvSpPr>
          <p:cNvPr id="3" name="SectionLabel"/>
          <p:cNvSpPr/>
          <p:nvPr/>
        </p:nvSpPr>
        <p:spPr>
          <a:xfrm>
            <a:off x="457200" y="600000"/>
            <a:ext cx="112776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b="1" dirty="0" spc="400">
                <a:solidFill>
                  <a:srgbClr val="58A6FF"/>
                </a:solidFill>
                <a:latin typeface="Segoe UI"/>
              </a:rPr>
              <a:t>HANDS-ON LABS</a:t>
            </a:r>
          </a:p>
        </p:txBody>
      </p:sp>
      <p:sp>
        <p:nvSpPr>
          <p:cNvPr id="4" name="Card1"/>
          <p:cNvSpPr/>
          <p:nvPr/>
        </p:nvSpPr>
        <p:spPr>
          <a:xfrm>
            <a:off x="457200" y="900000"/>
            <a:ext cx="3632000" cy="5200000"/>
          </a:xfrm>
          <a:prstGeom prst="roundRect">
            <a:avLst>
              <a:gd name="adj" fmla="val 5000"/>
            </a:avLst>
          </a:prstGeom>
          <a:solidFill>
            <a:srgbClr val="1A2E1F"/>
          </a:solidFill>
          <a:ln w="9525">
            <a:solidFill>
              <a:srgbClr val="3FB950"/>
            </a:solidFill>
          </a:ln>
        </p:spPr>
        <p:txBody>
          <a:bodyPr wrap="square" lIns="228600" tIns="228600" rIns="228600" bIns="228600" anchor="t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lang="en-US" sz="1400" b="1" dirty="0">
                <a:solidFill>
                  <a:srgbClr val="3FB950"/>
                </a:solidFill>
                <a:latin typeface="Segoe UI Semibold"/>
              </a:rPr>
              <a:t>Getting Started with GitHub Copilot</a:t>
            </a:r>
          </a:p>
          <a:p>
            <a:pPr algn="l">
              <a:lnSpc>
                <a:spcPts val="1600"/>
              </a:lnSpc>
              <a:spcAft>
                <a:spcPts val="100"/>
              </a:spcAft>
            </a:pPr>
          </a:p>
          <a:p>
            <a:pPr algn="l">
              <a:lnSpc>
                <a:spcPts val="1600"/>
              </a:lnSpc>
              <a:spcAft>
                <a:spcPts val="200"/>
              </a:spcAft>
            </a:pPr>
            <a:r>
              <a:rPr lang="en-US" sz="1100" dirty="0">
                <a:solidFill>
                  <a:srgbClr val="C9D1D9"/>
                </a:solidFill>
                <a:latin typeface="Segoe UI"/>
              </a:rPr>
              <a:t>Your entry point. Learn code completion, ghost text suggestions, and basic Copilot Chat interactions in your IDE.</a:t>
            </a:r>
          </a:p>
          <a:p>
            <a:pPr algn="l">
              <a:lnSpc>
                <a:spcPts val="1600"/>
              </a:lnSpc>
              <a:spcAft>
                <a:spcPts val="100"/>
              </a:spcAft>
            </a:pPr>
          </a:p>
          <a:p>
            <a:pPr algn="l">
              <a:lnSpc>
                <a:spcPts val="1600"/>
              </a:lnSpc>
              <a:spcAft>
                <a:spcPts val="100"/>
              </a:spcAft>
            </a:pPr>
            <a:r>
              <a:rPr lang="en-US" sz="900" b="1" dirty="0">
                <a:solidFill>
                  <a:srgbClr val="8B949E"/>
                </a:solidFill>
                <a:latin typeface="Segoe UI"/>
              </a:rPr>
              <a:t>MAPS TO</a:t>
            </a:r>
          </a:p>
          <a:p>
            <a:pPr algn="l">
              <a:lnSpc>
                <a:spcPts val="1600"/>
              </a:lnSpc>
              <a:spcAft>
                <a:spcPts val="200"/>
              </a:spcAft>
            </a:pPr>
            <a:r>
              <a:rPr lang="en-US" sz="1000" i="1" dirty="0">
                <a:solidFill>
                  <a:srgbClr val="3FB950"/>
                </a:solidFill>
                <a:latin typeface="Segoe UI"/>
              </a:rPr>
              <a:t>IDE Workflow → Ghost Text</a:t>
            </a:r>
          </a:p>
          <a:p>
            <a:pPr algn="l">
              <a:lnSpc>
                <a:spcPts val="1600"/>
              </a:lnSpc>
              <a:spcAft>
                <a:spcPts val="100"/>
              </a:spcAft>
            </a:pPr>
          </a:p>
          <a:p>
            <a:pPr algn="l">
              <a:lnSpc>
                <a:spcPts val="1600"/>
              </a:lnSpc>
              <a:spcAft>
                <a:spcPts val="100"/>
              </a:spcAft>
            </a:pPr>
            <a:r>
              <a:rPr lang="en-US" sz="900" dirty="0">
                <a:solidFill>
                  <a:srgbClr val="58A6FF"/>
                </a:solidFill>
                <a:latin typeface="Segoe UI"/>
              </a:rPr>
              <a:t>github.com/skills/getting-started-with-github-copilot</a:t>
            </a:r>
          </a:p>
        </p:txBody>
      </p:sp>
      <p:sp>
        <p:nvSpPr>
          <p:cNvPr id="5" name="Card2"/>
          <p:cNvSpPr/>
          <p:nvPr/>
        </p:nvSpPr>
        <p:spPr>
          <a:xfrm>
            <a:off x="4241200" y="900000"/>
            <a:ext cx="3632000" cy="5200000"/>
          </a:xfrm>
          <a:prstGeom prst="roundRect">
            <a:avLst>
              <a:gd name="adj" fmla="val 5000"/>
            </a:avLst>
          </a:prstGeom>
          <a:solidFill>
            <a:srgbClr val="1A2E1F"/>
          </a:solidFill>
          <a:ln w="9525">
            <a:solidFill>
              <a:srgbClr val="3FB950"/>
            </a:solidFill>
          </a:ln>
        </p:spPr>
        <p:txBody>
          <a:bodyPr wrap="square" lIns="228600" tIns="228600" rIns="228600" bIns="228600" anchor="t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lang="en-US" sz="1400" b="1" dirty="0">
                <a:solidFill>
                  <a:srgbClr val="3FB950"/>
                </a:solidFill>
                <a:latin typeface="Segoe UI Semibold"/>
              </a:rPr>
              <a:t>Create Applications with Copilot CLI</a:t>
            </a:r>
          </a:p>
          <a:p>
            <a:pPr algn="l">
              <a:lnSpc>
                <a:spcPts val="1600"/>
              </a:lnSpc>
              <a:spcAft>
                <a:spcPts val="100"/>
              </a:spcAft>
            </a:pPr>
          </a:p>
          <a:p>
            <a:pPr algn="l">
              <a:lnSpc>
                <a:spcPts val="1600"/>
              </a:lnSpc>
              <a:spcAft>
                <a:spcPts val="200"/>
              </a:spcAft>
            </a:pPr>
            <a:r>
              <a:rPr lang="en-US" sz="1100" dirty="0">
                <a:solidFill>
                  <a:srgbClr val="C9D1D9"/>
                </a:solidFill>
                <a:latin typeface="Segoe UI"/>
              </a:rPr>
              <a:t>Use GitHub Copilot in the terminal to manage issues and build a Node.js calculator application.</a:t>
            </a:r>
          </a:p>
          <a:p>
            <a:pPr algn="l">
              <a:lnSpc>
                <a:spcPts val="1600"/>
              </a:lnSpc>
              <a:spcAft>
                <a:spcPts val="100"/>
              </a:spcAft>
            </a:pPr>
          </a:p>
          <a:p>
            <a:pPr algn="l">
              <a:lnSpc>
                <a:spcPts val="1600"/>
              </a:lnSpc>
              <a:spcAft>
                <a:spcPts val="100"/>
              </a:spcAft>
            </a:pPr>
            <a:r>
              <a:rPr lang="en-US" sz="900" b="1" dirty="0">
                <a:solidFill>
                  <a:srgbClr val="8B949E"/>
                </a:solidFill>
                <a:latin typeface="Segoe UI"/>
              </a:rPr>
              <a:t>MAPS TO</a:t>
            </a:r>
          </a:p>
          <a:p>
            <a:pPr algn="l">
              <a:lnSpc>
                <a:spcPts val="1600"/>
              </a:lnSpc>
              <a:spcAft>
                <a:spcPts val="200"/>
              </a:spcAft>
            </a:pPr>
            <a:r>
              <a:rPr lang="en-US" sz="1000" i="1" dirty="0">
                <a:solidFill>
                  <a:srgbClr val="3FB950"/>
                </a:solidFill>
                <a:latin typeface="Segoe UI"/>
              </a:rPr>
              <a:t>CLI &amp; SDK → Command Suggestion</a:t>
            </a:r>
          </a:p>
          <a:p>
            <a:pPr algn="l">
              <a:lnSpc>
                <a:spcPts val="1600"/>
              </a:lnSpc>
              <a:spcAft>
                <a:spcPts val="100"/>
              </a:spcAft>
            </a:pPr>
          </a:p>
          <a:p>
            <a:pPr algn="l">
              <a:lnSpc>
                <a:spcPts val="1600"/>
              </a:lnSpc>
              <a:spcAft>
                <a:spcPts val="100"/>
              </a:spcAft>
            </a:pPr>
            <a:r>
              <a:rPr lang="en-US" sz="900" dirty="0">
                <a:solidFill>
                  <a:srgbClr val="58A6FF"/>
                </a:solidFill>
                <a:latin typeface="Segoe UI"/>
              </a:rPr>
              <a:t>github.com/skills/create-applications-with-the-copilot-cli</a:t>
            </a:r>
          </a:p>
        </p:txBody>
      </p:sp>
      <p:sp>
        <p:nvSpPr>
          <p:cNvPr id="6" name="Card3"/>
          <p:cNvSpPr/>
          <p:nvPr/>
        </p:nvSpPr>
        <p:spPr>
          <a:xfrm>
            <a:off x="8025200" y="900000"/>
            <a:ext cx="3632000" cy="5200000"/>
          </a:xfrm>
          <a:prstGeom prst="roundRect">
            <a:avLst>
              <a:gd name="adj" fmla="val 5000"/>
            </a:avLst>
          </a:prstGeom>
          <a:solidFill>
            <a:srgbClr val="1A2E1F"/>
          </a:solidFill>
          <a:ln w="9525">
            <a:solidFill>
              <a:srgbClr val="3FB950"/>
            </a:solidFill>
          </a:ln>
        </p:spPr>
        <p:txBody>
          <a:bodyPr wrap="square" lIns="228600" tIns="228600" rIns="228600" bIns="228600" anchor="t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lang="en-US" sz="1400" b="1" dirty="0">
                <a:solidFill>
                  <a:srgbClr val="3FB950"/>
                </a:solidFill>
                <a:latin typeface="Segoe UI Semibold"/>
              </a:rPr>
              <a:t>Customize Your Copilot Experience</a:t>
            </a:r>
          </a:p>
          <a:p>
            <a:pPr algn="l">
              <a:lnSpc>
                <a:spcPts val="1600"/>
              </a:lnSpc>
              <a:spcAft>
                <a:spcPts val="100"/>
              </a:spcAft>
            </a:pPr>
          </a:p>
          <a:p>
            <a:pPr algn="l">
              <a:lnSpc>
                <a:spcPts val="1600"/>
              </a:lnSpc>
              <a:spcAft>
                <a:spcPts val="200"/>
              </a:spcAft>
            </a:pPr>
            <a:r>
              <a:rPr lang="en-US" sz="1100" dirty="0">
                <a:solidFill>
                  <a:srgbClr val="C9D1D9"/>
                </a:solidFill>
                <a:latin typeface="Segoe UI"/>
              </a:rPr>
              <a:t>Configure custom instructions, prompts, and chat modes for your specific development workflows.</a:t>
            </a:r>
          </a:p>
          <a:p>
            <a:pPr algn="l">
              <a:lnSpc>
                <a:spcPts val="1600"/>
              </a:lnSpc>
              <a:spcAft>
                <a:spcPts val="100"/>
              </a:spcAft>
            </a:pPr>
          </a:p>
          <a:p>
            <a:pPr algn="l">
              <a:lnSpc>
                <a:spcPts val="1600"/>
              </a:lnSpc>
              <a:spcAft>
                <a:spcPts val="100"/>
              </a:spcAft>
            </a:pPr>
            <a:r>
              <a:rPr lang="en-US" sz="900" b="1" dirty="0">
                <a:solidFill>
                  <a:srgbClr val="8B949E"/>
                </a:solidFill>
                <a:latin typeface="Segoe UI"/>
              </a:rPr>
              <a:t>MAPS TO</a:t>
            </a:r>
          </a:p>
          <a:p>
            <a:pPr algn="l">
              <a:lnSpc>
                <a:spcPts val="1600"/>
              </a:lnSpc>
              <a:spcAft>
                <a:spcPts val="200"/>
              </a:spcAft>
            </a:pPr>
            <a:r>
              <a:rPr lang="en-US" sz="1000" i="1" dirty="0">
                <a:solidFill>
                  <a:srgbClr val="3FB950"/>
                </a:solidFill>
                <a:latin typeface="Segoe UI"/>
              </a:rPr>
              <a:t>IDE Workflow → Chat &amp; Workspace</a:t>
            </a:r>
          </a:p>
          <a:p>
            <a:pPr algn="l">
              <a:lnSpc>
                <a:spcPts val="1600"/>
              </a:lnSpc>
              <a:spcAft>
                <a:spcPts val="100"/>
              </a:spcAft>
            </a:pPr>
          </a:p>
          <a:p>
            <a:pPr algn="l">
              <a:lnSpc>
                <a:spcPts val="1600"/>
              </a:lnSpc>
              <a:spcAft>
                <a:spcPts val="100"/>
              </a:spcAft>
            </a:pPr>
            <a:r>
              <a:rPr lang="en-US" sz="900" dirty="0">
                <a:solidFill>
                  <a:srgbClr val="58A6FF"/>
                </a:solidFill>
                <a:latin typeface="Segoe UI"/>
              </a:rPr>
              <a:t>github.com/skills/customize-your-github-copilot-experience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/>
          <p:nvPr/>
        </p:nvSpPr>
        <p:spPr>
          <a:xfrm>
            <a:off x="457200" y="101600"/>
            <a:ext cx="11277600" cy="533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45720" anchor="t"/>
          <a:lstStyle/>
          <a:p>
            <a:pPr algn="l"/>
            <a:r>
              <a:rPr lang="en-US" sz="2200" b="1" dirty="0">
                <a:solidFill>
                  <a:srgbClr val="E8ECF0"/>
                </a:solidFill>
                <a:latin typeface="Segoe UI Semibold"/>
              </a:rPr>
              <a:t>GitHub Skills: Intermediate → Advanced</a:t>
            </a:r>
            <a:r>
              <a:rPr lang="en-US" sz="1400" dirty="0">
                <a:solidFill>
                  <a:srgbClr val="8B949E"/>
                </a:solidFill>
                <a:latin typeface="Segoe UI"/>
              </a:rPr>
              <a:t xml:space="preserve">  |  Zones 2-3: Collaborative &amp; Agentic</a:t>
            </a:r>
          </a:p>
        </p:txBody>
      </p:sp>
      <p:sp>
        <p:nvSpPr>
          <p:cNvPr id="2" name="Card1-AgentMode"/>
          <p:cNvSpPr/>
          <p:nvPr/>
        </p:nvSpPr>
        <p:spPr>
          <a:xfrm>
            <a:off x="457200" y="685800"/>
            <a:ext cx="2700000" cy="2750000"/>
          </a:xfrm>
          <a:prstGeom prst="roundRect">
            <a:avLst>
              <a:gd name="adj" fmla="val 5000"/>
            </a:avLst>
          </a:prstGeom>
          <a:solidFill>
            <a:srgbClr val="15253B"/>
          </a:solidFill>
          <a:ln w="9525">
            <a:solidFill>
              <a:srgbClr val="58A6FF"/>
            </a:solidFill>
          </a:ln>
        </p:spPr>
        <p:txBody>
          <a:bodyPr wrap="square" lIns="72000" tIns="54000" rIns="72000" bIns="45720" anchor="t"/>
          <a:lstStyle/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200" b="1" dirty="0">
                <a:solidFill>
                  <a:srgbClr val="58A6FF"/>
                </a:solidFill>
                <a:latin typeface="Segoe UI Semibold"/>
              </a:rPr>
              <a:t>Agent Mode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Build applications using Copilot Agent Mode with autonomous plan-act-review loops.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800" i="1" dirty="0">
                <a:solidFill>
                  <a:srgbClr val="58A6FF"/>
                </a:solidFill>
                <a:latin typeface="Segoe UI"/>
              </a:rPr>
              <a:t>Zone 3: Agentic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800" dirty="0">
                <a:solidFill>
                  <a:srgbClr val="8B949E"/>
                </a:solidFill>
                <a:latin typeface="Segoe UI"/>
              </a:rPr>
              <a:t>skills/build-applications-w-copilot-agent-mode</a:t>
            </a:r>
          </a:p>
        </p:txBody>
      </p:sp>
      <p:sp>
        <p:nvSpPr>
          <p:cNvPr id="3" name="Card2-CodingAgent"/>
          <p:cNvSpPr/>
          <p:nvPr/>
        </p:nvSpPr>
        <p:spPr>
          <a:xfrm>
            <a:off x="3257200" y="685800"/>
            <a:ext cx="2700000" cy="2750000"/>
          </a:xfrm>
          <a:prstGeom prst="roundRect">
            <a:avLst>
              <a:gd name="adj" fmla="val 5000"/>
            </a:avLst>
          </a:prstGeom>
          <a:solidFill>
            <a:srgbClr val="1C1530"/>
          </a:solidFill>
          <a:ln w="9525">
            <a:solidFill>
              <a:srgbClr val="BC8CFF"/>
            </a:solidFill>
          </a:ln>
        </p:spPr>
        <p:txBody>
          <a:bodyPr wrap="square" lIns="72000" tIns="54000" rIns="72000" bIns="45720" anchor="t"/>
          <a:lstStyle/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200" b="1" dirty="0">
                <a:solidFill>
                  <a:srgbClr val="BC8CFF"/>
                </a:solidFill>
                <a:latin typeface="Segoe UI Semibold"/>
              </a:rPr>
              <a:t>Coding Agent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Let Copilot coding agent tackle issues directly on GitHub. No IDE needed.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800" i="1" dirty="0">
                <a:solidFill>
                  <a:srgbClr val="BC8CFF"/>
                </a:solidFill>
                <a:latin typeface="Segoe UI"/>
              </a:rPr>
              <a:t>Zone 3: Agentic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800" dirty="0">
                <a:solidFill>
                  <a:srgbClr val="8B949E"/>
                </a:solidFill>
                <a:latin typeface="Segoe UI"/>
              </a:rPr>
              <a:t>skills/expand-your-team-with-copilot</a:t>
            </a:r>
          </a:p>
        </p:txBody>
      </p:sp>
      <p:sp>
        <p:nvSpPr>
          <p:cNvPr id="4" name="Card3-CodeReview"/>
          <p:cNvSpPr/>
          <p:nvPr/>
        </p:nvSpPr>
        <p:spPr>
          <a:xfrm>
            <a:off x="6057200" y="685800"/>
            <a:ext cx="2700000" cy="2750000"/>
          </a:xfrm>
          <a:prstGeom prst="roundRect">
            <a:avLst>
              <a:gd name="adj" fmla="val 5000"/>
            </a:avLst>
          </a:prstGeom>
          <a:solidFill>
            <a:srgbClr val="1C1530"/>
          </a:solidFill>
          <a:ln w="9525">
            <a:solidFill>
              <a:srgbClr val="BC8CFF"/>
            </a:solidFill>
          </a:ln>
        </p:spPr>
        <p:txBody>
          <a:bodyPr wrap="square" lIns="72000" tIns="54000" rIns="72000" bIns="45720" anchor="t"/>
          <a:lstStyle/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200" b="1" dirty="0">
                <a:solidFill>
                  <a:srgbClr val="BC8CFF"/>
                </a:solidFill>
                <a:latin typeface="Segoe UI Semibold"/>
              </a:rPr>
              <a:t>Code Review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Leverage Copilot code review to promote quality and catch issues before production.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800" i="1" dirty="0">
                <a:solidFill>
                  <a:srgbClr val="BC8CFF"/>
                </a:solidFill>
                <a:latin typeface="Segoe UI"/>
              </a:rPr>
              <a:t>Zone 3: Enterprise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800" dirty="0">
                <a:solidFill>
                  <a:srgbClr val="8B949E"/>
                </a:solidFill>
                <a:latin typeface="Segoe UI"/>
              </a:rPr>
              <a:t>skills/copilot-code-review</a:t>
            </a:r>
          </a:p>
        </p:txBody>
      </p:sp>
      <p:sp>
        <p:nvSpPr>
          <p:cNvPr id="5" name="Card4-CopilotSpaces"/>
          <p:cNvSpPr/>
          <p:nvPr/>
        </p:nvSpPr>
        <p:spPr>
          <a:xfrm>
            <a:off x="8857200" y="685800"/>
            <a:ext cx="2700000" cy="2750000"/>
          </a:xfrm>
          <a:prstGeom prst="roundRect">
            <a:avLst>
              <a:gd name="adj" fmla="val 5000"/>
            </a:avLst>
          </a:prstGeom>
          <a:solidFill>
            <a:srgbClr val="15253B"/>
          </a:solidFill>
          <a:ln w="9525">
            <a:solidFill>
              <a:srgbClr val="58A6FF"/>
            </a:solidFill>
          </a:ln>
        </p:spPr>
        <p:txBody>
          <a:bodyPr wrap="square" lIns="72000" tIns="54000" rIns="72000" bIns="45720" anchor="t"/>
          <a:lstStyle/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200" b="1" dirty="0">
                <a:solidFill>
                  <a:srgbClr val="58A6FF"/>
                </a:solidFill>
                <a:latin typeface="Segoe UI Semibold"/>
              </a:rPr>
              <a:t>Copilot Spaces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Scale institutional knowledge and streamline organizational processes with Spaces.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800" i="1" dirty="0">
                <a:solidFill>
                  <a:srgbClr val="58A6FF"/>
                </a:solidFill>
                <a:latin typeface="Segoe UI"/>
              </a:rPr>
              <a:t>Zone 2-3: Enterprise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800" dirty="0">
                <a:solidFill>
                  <a:srgbClr val="8B949E"/>
                </a:solidFill>
                <a:latin typeface="Segoe UI"/>
              </a:rPr>
              <a:t>skills/scale-institutional-knowledge-using-copilot-spaces</a:t>
            </a:r>
          </a:p>
        </p:txBody>
      </p:sp>
      <p:sp>
        <p:nvSpPr>
          <p:cNvPr id="6" name="Card5-MCPIntegration"/>
          <p:cNvSpPr/>
          <p:nvPr/>
        </p:nvSpPr>
        <p:spPr>
          <a:xfrm>
            <a:off x="711200" y="3600000"/>
            <a:ext cx="3500000" cy="2750000"/>
          </a:xfrm>
          <a:prstGeom prst="roundRect">
            <a:avLst>
              <a:gd name="adj" fmla="val 5000"/>
            </a:avLst>
          </a:prstGeom>
          <a:solidFill>
            <a:srgbClr val="15253B"/>
          </a:solidFill>
          <a:ln w="9525">
            <a:solidFill>
              <a:srgbClr val="58A6FF"/>
            </a:solidFill>
          </a:ln>
        </p:spPr>
        <p:txBody>
          <a:bodyPr wrap="square" lIns="72000" tIns="54000" rIns="72000" bIns="45720" anchor="t"/>
          <a:lstStyle/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200" b="1" dirty="0">
                <a:solidFill>
                  <a:srgbClr val="58A6FF"/>
                </a:solidFill>
                <a:latin typeface="Segoe UI Semibold"/>
              </a:rPr>
              <a:t>MCP Integration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Learn how to use MCP Servers with GitHub Copilot to extend its capabilities with external tools.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800" i="1" dirty="0">
                <a:solidFill>
                  <a:srgbClr val="58A6FF"/>
                </a:solidFill>
                <a:latin typeface="Segoe UI"/>
              </a:rPr>
              <a:t>Zone 3: Extensions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800" dirty="0">
                <a:solidFill>
                  <a:srgbClr val="8B949E"/>
                </a:solidFill>
                <a:latin typeface="Segoe UI"/>
              </a:rPr>
              <a:t>skills/integrate-mcp-with-copilot</a:t>
            </a:r>
          </a:p>
        </p:txBody>
      </p:sp>
      <p:sp>
        <p:nvSpPr>
          <p:cNvPr id="7" name="Card6-LegacyModernization"/>
          <p:cNvSpPr/>
          <p:nvPr/>
        </p:nvSpPr>
        <p:spPr>
          <a:xfrm>
            <a:off x="4346000" y="3600000"/>
            <a:ext cx="3500000" cy="2750000"/>
          </a:xfrm>
          <a:prstGeom prst="roundRect">
            <a:avLst>
              <a:gd name="adj" fmla="val 5000"/>
            </a:avLst>
          </a:prstGeom>
          <a:solidFill>
            <a:srgbClr val="1C1530"/>
          </a:solidFill>
          <a:ln w="9525">
            <a:solidFill>
              <a:srgbClr val="BC8CFF"/>
            </a:solidFill>
          </a:ln>
        </p:spPr>
        <p:txBody>
          <a:bodyPr wrap="square" lIns="72000" tIns="54000" rIns="72000" bIns="45720" anchor="t"/>
          <a:lstStyle/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200" b="1" dirty="0">
                <a:solidFill>
                  <a:srgbClr val="BC8CFF"/>
                </a:solidFill>
                <a:latin typeface="Segoe UI Semibold"/>
              </a:rPr>
              <a:t>Legacy Modernization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Modernize a legacy COBOL accounting system to Node.js with Copilot assistance.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800" i="1" dirty="0">
                <a:solidFill>
                  <a:srgbClr val="BC8CFF"/>
                </a:solidFill>
                <a:latin typeface="Segoe UI"/>
              </a:rPr>
              <a:t>Zone 3: Modernization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800" dirty="0">
                <a:solidFill>
                  <a:srgbClr val="8B949E"/>
                </a:solidFill>
                <a:latin typeface="Segoe UI"/>
              </a:rPr>
              <a:t>skills/modernize-your-legacy-code-with-github-copilot</a:t>
            </a:r>
          </a:p>
        </p:txBody>
      </p:sp>
      <p:sp>
        <p:nvSpPr>
          <p:cNvPr id="8" name="Card7-AIPoweredActions"/>
          <p:cNvSpPr/>
          <p:nvPr/>
        </p:nvSpPr>
        <p:spPr>
          <a:xfrm>
            <a:off x="7980800" y="3600000"/>
            <a:ext cx="3500000" cy="2750000"/>
          </a:xfrm>
          <a:prstGeom prst="roundRect">
            <a:avLst>
              <a:gd name="adj" fmla="val 5000"/>
            </a:avLst>
          </a:prstGeom>
          <a:solidFill>
            <a:srgbClr val="15253B"/>
          </a:solidFill>
          <a:ln w="9525">
            <a:solidFill>
              <a:srgbClr val="58A6FF"/>
            </a:solidFill>
          </a:ln>
        </p:spPr>
        <p:txBody>
          <a:bodyPr wrap="square" lIns="72000" tIns="54000" rIns="72000" bIns="45720" anchor="t"/>
          <a:lstStyle/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200" b="1" dirty="0">
                <a:solidFill>
                  <a:srgbClr val="58A6FF"/>
                </a:solidFill>
                <a:latin typeface="Segoe UI Semibold"/>
              </a:rPr>
              <a:t>AI-Powered Actions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Build intelligent GitHub Actions that leverage GitHub Models for AI in CI/CD.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800" i="1" dirty="0">
                <a:solidFill>
                  <a:srgbClr val="58A6FF"/>
                </a:solidFill>
                <a:latin typeface="Segoe UI"/>
              </a:rPr>
              <a:t>Zone 2-3: Extensions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800" dirty="0">
                <a:solidFill>
                  <a:srgbClr val="8B949E"/>
                </a:solidFill>
                <a:latin typeface="Segoe UI"/>
              </a:rPr>
              <a:t>skills/create-ai-powered-actions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xfrm>
          <a:off x="0" y="0"/>
          <a:ext cx="12192000" cy="6858000"/>
        </a:xfrm>
        <a:prstFill prst="solidFill"/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80" name="SlideTitle"/>
          <p:cNvSpPr/>
          <p:nvPr/>
        </p:nvSpPr>
        <p:spPr>
          <a:xfrm>
            <a:off x="457200" y="101600"/>
            <a:ext cx="11277600" cy="533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45720" anchor="t"/>
          <a:lstStyle/>
          <a:p>
            <a:pPr algn="l"/>
            <a:r>
              <a:rPr lang="en-US" sz="2200" b="1" dirty="0">
                <a:solidFill>
                  <a:srgbClr val="E8ECF0"/>
                </a:solidFill>
                <a:latin typeface="Segoe UI Semibold"/>
              </a:rPr>
              <a:t>Copilot Fundamentals Part 1</a:t>
            </a:r>
            <a:r>
              <a:rPr lang="en-US" sz="1400" dirty="0">
                <a:solidFill>
                  <a:srgbClr val="8B949E"/>
                </a:solidFill>
                <a:latin typeface="Segoe UI"/>
              </a:rPr>
              <a:t xml:space="preserve">  |  Setup &amp; Concepts</a:t>
            </a:r>
          </a:p>
        </p:txBody>
      </p:sp>
      <p:sp>
        <p:nvSpPr>
          <p:cNvPr id="81" name="LinkBar"/>
          <p:cNvSpPr/>
          <p:nvPr/>
        </p:nvSpPr>
        <p:spPr>
          <a:xfrm>
            <a:off x="457200" y="550000"/>
            <a:ext cx="11277600" cy="200000"/>
          </a:xfrm>
          <a:prstGeom prst="rect">
            <a:avLst/>
          </a:prstGeom>
          <a:noFill/>
          <a:ln>
            <a:noFill/>
          </a:ln>
        </p:spPr>
        <p:txBody>
          <a:bodyPr wrap="square" lIns="72000" tIns="45720" rIns="72000" bIns="45720" anchor="ctr"/>
          <a:lstStyle/>
          <a:p>
            <a:pPr algn="l"/>
            <a:r>
              <a:rPr lang="en-US" sz="900" dirty="0">
                <a:solidFill>
                  <a:srgbClr val="58A6FF"/>
                </a:solidFill>
                <a:latin typeface="Segoe UI"/>
              </a:rPr>
              <a:t>learn.microsoft.com/training/paths/copilot/</a:t>
            </a:r>
          </a:p>
        </p:txBody>
      </p:sp>
      <p:sp>
        <p:nvSpPr>
          <p:cNvPr id="82" name="Card1"/>
          <p:cNvSpPr/>
          <p:nvPr/>
        </p:nvSpPr>
        <p:spPr>
          <a:xfrm>
            <a:off x="457200" y="800000"/>
            <a:ext cx="11277600" cy="700000"/>
          </a:xfrm>
          <a:prstGeom prst="roundRect">
            <a:avLst>
              <a:gd name="adj" fmla="val 2000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lIns="72000" tIns="45720" rIns="72000" bIns="45720" anchor="ctr"/>
          <a:lstStyle/>
          <a:p>
            <a:pPr algn="l">
              <a:lnSpc>
                <a:spcPts val="1600"/>
              </a:lnSpc>
            </a:pPr>
            <a:r>
              <a:rPr lang="en-US" sz="1200" b="1" dirty="0">
                <a:solidFill>
                  <a:srgbClr val="58A6FF"/>
                </a:solidFill>
                <a:latin typeface="Segoe UI"/>
              </a:rPr>
              <a:t>01</a:t>
            </a:r>
            <a:r>
              <a:rPr lang="en-US" sz="1200" b="1" dirty="0">
                <a:solidFill>
                  <a:srgbClr val="E8ECF0"/>
                </a:solidFill>
                <a:latin typeface="Segoe UI Semibold"/>
              </a:rPr>
              <a:t xml:space="preserve">  Responsible AI with GitHub Copilot</a:t>
            </a:r>
          </a:p>
          <a:p>
            <a:pPr algn="l">
              <a:lnSpc>
                <a:spcPts val="1400"/>
              </a:lnSpc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Ethical AI use, risk mitigation, and operational safety considerations</a:t>
            </a:r>
          </a:p>
        </p:txBody>
      </p:sp>
      <p:sp>
        <p:nvSpPr>
          <p:cNvPr id="83" name="Zone1"/>
          <p:cNvSpPr/>
          <p:nvPr/>
        </p:nvSpPr>
        <p:spPr>
          <a:xfrm>
            <a:off x="10200000" y="800000"/>
            <a:ext cx="14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72000" tIns="45720" rIns="72000" bIns="45720" anchor="ctr"/>
          <a:lstStyle/>
          <a:p>
            <a:pPr algn="r"/>
            <a:r>
              <a:rPr lang="en-US" sz="900" i="1" dirty="0">
                <a:solidFill>
                  <a:srgbClr val="D29922"/>
                </a:solidFill>
                <a:latin typeface="Segoe UI"/>
              </a:rPr>
              <a:t>Governance</a:t>
            </a:r>
          </a:p>
        </p:txBody>
      </p:sp>
      <p:sp>
        <p:nvSpPr>
          <p:cNvPr id="84" name="Card2"/>
          <p:cNvSpPr/>
          <p:nvPr/>
        </p:nvSpPr>
        <p:spPr>
          <a:xfrm>
            <a:off x="457200" y="1580000"/>
            <a:ext cx="11277600" cy="700000"/>
          </a:xfrm>
          <a:prstGeom prst="roundRect">
            <a:avLst>
              <a:gd name="adj" fmla="val 2000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lIns="72000" tIns="45720" rIns="72000" bIns="45720" anchor="ctr"/>
          <a:lstStyle/>
          <a:p>
            <a:pPr algn="l">
              <a:lnSpc>
                <a:spcPts val="1600"/>
              </a:lnSpc>
            </a:pPr>
            <a:r>
              <a:rPr lang="en-US" sz="1200" b="1" dirty="0">
                <a:solidFill>
                  <a:srgbClr val="58A6FF"/>
                </a:solidFill>
                <a:latin typeface="Segoe UI"/>
              </a:rPr>
              <a:t>02</a:t>
            </a:r>
            <a:r>
              <a:rPr lang="en-US" sz="1200" b="1" dirty="0">
                <a:solidFill>
                  <a:srgbClr val="E8ECF0"/>
                </a:solidFill>
                <a:latin typeface="Segoe UI Semibold"/>
              </a:rPr>
              <a:t xml:space="preserve">  Prompt Engineering with GitHub Copilot</a:t>
            </a:r>
          </a:p>
          <a:p>
            <a:pPr algn="l">
              <a:lnSpc>
                <a:spcPts val="1400"/>
              </a:lnSpc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Core principles and best practices for creating effective prompts</a:t>
            </a:r>
          </a:p>
        </p:txBody>
      </p:sp>
      <p:sp>
        <p:nvSpPr>
          <p:cNvPr id="85" name="Zone2"/>
          <p:cNvSpPr/>
          <p:nvPr/>
        </p:nvSpPr>
        <p:spPr>
          <a:xfrm>
            <a:off x="10200000" y="1580000"/>
            <a:ext cx="14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72000" tIns="45720" rIns="72000" bIns="45720" anchor="ctr"/>
          <a:lstStyle/>
          <a:p>
            <a:pPr algn="r"/>
            <a:r>
              <a:rPr lang="en-US" sz="900" i="1" dirty="0">
                <a:solidFill>
                  <a:srgbClr val="3FB950"/>
                </a:solidFill>
                <a:latin typeface="Segoe UI"/>
              </a:rPr>
              <a:t>IDE Workflow</a:t>
            </a:r>
          </a:p>
        </p:txBody>
      </p:sp>
      <p:sp>
        <p:nvSpPr>
          <p:cNvPr id="86" name="Card3"/>
          <p:cNvSpPr/>
          <p:nvPr/>
        </p:nvSpPr>
        <p:spPr>
          <a:xfrm>
            <a:off x="457200" y="2360000"/>
            <a:ext cx="11277600" cy="700000"/>
          </a:xfrm>
          <a:prstGeom prst="roundRect">
            <a:avLst>
              <a:gd name="adj" fmla="val 2000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lIns="72000" tIns="45720" rIns="72000" bIns="45720" anchor="ctr"/>
          <a:lstStyle/>
          <a:p>
            <a:pPr algn="l">
              <a:lnSpc>
                <a:spcPts val="1600"/>
              </a:lnSpc>
            </a:pPr>
            <a:r>
              <a:rPr lang="en-US" sz="1200" b="1" dirty="0">
                <a:solidFill>
                  <a:srgbClr val="58A6FF"/>
                </a:solidFill>
                <a:latin typeface="Segoe UI"/>
              </a:rPr>
              <a:t>03</a:t>
            </a:r>
            <a:r>
              <a:rPr lang="en-US" sz="1200" b="1" dirty="0">
                <a:solidFill>
                  <a:srgbClr val="E8ECF0"/>
                </a:solidFill>
                <a:latin typeface="Segoe UI Semibold"/>
              </a:rPr>
              <a:t xml:space="preserve">  Introduction to Copilot Spaces</a:t>
            </a:r>
          </a:p>
          <a:p>
            <a:pPr algn="l">
              <a:lnSpc>
                <a:spcPts val="1400"/>
              </a:lnSpc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Create, configure, and use Spaces for high-quality, grounded responses</a:t>
            </a:r>
          </a:p>
        </p:txBody>
      </p:sp>
      <p:sp>
        <p:nvSpPr>
          <p:cNvPr id="87" name="Zone3"/>
          <p:cNvSpPr/>
          <p:nvPr/>
        </p:nvSpPr>
        <p:spPr>
          <a:xfrm>
            <a:off x="10200000" y="2360000"/>
            <a:ext cx="14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72000" tIns="45720" rIns="72000" bIns="45720" anchor="ctr"/>
          <a:lstStyle/>
          <a:p>
            <a:pPr algn="r"/>
            <a:r>
              <a:rPr lang="en-US" sz="900" i="1" dirty="0">
                <a:solidFill>
                  <a:srgbClr val="3FB950"/>
                </a:solidFill>
                <a:latin typeface="Segoe UI"/>
              </a:rPr>
              <a:t>IDE Workflow</a:t>
            </a:r>
          </a:p>
        </p:txBody>
      </p:sp>
      <p:sp>
        <p:nvSpPr>
          <p:cNvPr id="88" name="Card4"/>
          <p:cNvSpPr/>
          <p:nvPr/>
        </p:nvSpPr>
        <p:spPr>
          <a:xfrm>
            <a:off x="457200" y="3140000"/>
            <a:ext cx="11277600" cy="700000"/>
          </a:xfrm>
          <a:prstGeom prst="roundRect">
            <a:avLst>
              <a:gd name="adj" fmla="val 2000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lIns="72000" tIns="45720" rIns="72000" bIns="45720" anchor="ctr"/>
          <a:lstStyle/>
          <a:p>
            <a:pPr algn="l">
              <a:lnSpc>
                <a:spcPts val="1600"/>
              </a:lnSpc>
            </a:pPr>
            <a:r>
              <a:rPr lang="en-US" sz="1200" b="1" dirty="0">
                <a:solidFill>
                  <a:srgbClr val="58A6FF"/>
                </a:solidFill>
                <a:latin typeface="Segoe UI"/>
              </a:rPr>
              <a:t>04</a:t>
            </a:r>
            <a:r>
              <a:rPr lang="en-US" sz="1200" b="1" dirty="0">
                <a:solidFill>
                  <a:srgbClr val="E8ECF0"/>
                </a:solidFill>
                <a:latin typeface="Segoe UI Semibold"/>
              </a:rPr>
              <a:t xml:space="preserve">  Create Unit Tests with GitHub Copilot</a:t>
            </a:r>
          </a:p>
          <a:p>
            <a:pPr algn="l">
              <a:lnSpc>
                <a:spcPts val="1400"/>
              </a:lnSpc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Use Copilot and Copilot Chat to generate and refine unit tests</a:t>
            </a:r>
          </a:p>
        </p:txBody>
      </p:sp>
      <p:sp>
        <p:nvSpPr>
          <p:cNvPr id="89" name="Zone4"/>
          <p:cNvSpPr/>
          <p:nvPr/>
        </p:nvSpPr>
        <p:spPr>
          <a:xfrm>
            <a:off x="10200000" y="3140000"/>
            <a:ext cx="14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72000" tIns="45720" rIns="72000" bIns="45720" anchor="ctr"/>
          <a:lstStyle/>
          <a:p>
            <a:pPr algn="r"/>
            <a:r>
              <a:rPr lang="en-US" sz="900" i="1" dirty="0">
                <a:solidFill>
                  <a:srgbClr val="3FB950"/>
                </a:solidFill>
                <a:latin typeface="Segoe UI"/>
              </a:rPr>
              <a:t>IDE Workflow</a:t>
            </a:r>
          </a:p>
        </p:txBody>
      </p:sp>
      <p:sp>
        <p:nvSpPr>
          <p:cNvPr id="90" name="Card5"/>
          <p:cNvSpPr/>
          <p:nvPr/>
        </p:nvSpPr>
        <p:spPr>
          <a:xfrm>
            <a:off x="457200" y="3920000"/>
            <a:ext cx="11277600" cy="700000"/>
          </a:xfrm>
          <a:prstGeom prst="roundRect">
            <a:avLst>
              <a:gd name="adj" fmla="val 2000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lIns="72000" tIns="45720" rIns="72000" bIns="45720" anchor="ctr"/>
          <a:lstStyle/>
          <a:p>
            <a:pPr algn="l">
              <a:lnSpc>
                <a:spcPts val="1600"/>
              </a:lnSpc>
            </a:pPr>
            <a:r>
              <a:rPr lang="en-US" sz="1200" b="1" dirty="0">
                <a:solidFill>
                  <a:srgbClr val="58A6FF"/>
                </a:solidFill>
                <a:latin typeface="Segoe UI"/>
              </a:rPr>
              <a:t>05</a:t>
            </a:r>
            <a:r>
              <a:rPr lang="en-US" sz="1200" b="1" dirty="0">
                <a:solidFill>
                  <a:srgbClr val="E8ECF0"/>
                </a:solidFill>
                <a:latin typeface="Segoe UI Semibold"/>
              </a:rPr>
              <a:t xml:space="preserve">  GitHub Copilot and Productivity</a:t>
            </a:r>
          </a:p>
          <a:p>
            <a:pPr algn="l">
              <a:lnSpc>
                <a:spcPts val="1400"/>
              </a:lnSpc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SDLC impact, developer preferences, limitations, and measuring gains</a:t>
            </a:r>
          </a:p>
        </p:txBody>
      </p:sp>
      <p:sp>
        <p:nvSpPr>
          <p:cNvPr id="91" name="Zone5"/>
          <p:cNvSpPr/>
          <p:nvPr/>
        </p:nvSpPr>
        <p:spPr>
          <a:xfrm>
            <a:off x="10200000" y="3920000"/>
            <a:ext cx="14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72000" tIns="45720" rIns="72000" bIns="45720" anchor="ctr"/>
          <a:lstStyle/>
          <a:p>
            <a:pPr algn="r"/>
            <a:r>
              <a:rPr lang="en-US" sz="900" i="1" dirty="0">
                <a:solidFill>
                  <a:srgbClr val="3FB950"/>
                </a:solidFill>
                <a:latin typeface="Segoe UI"/>
              </a:rPr>
              <a:t>Foundational</a:t>
            </a:r>
          </a:p>
        </p:txBody>
      </p:sp>
      <p:sp>
        <p:nvSpPr>
          <p:cNvPr id="92" name="Card6"/>
          <p:cNvSpPr/>
          <p:nvPr/>
        </p:nvSpPr>
        <p:spPr>
          <a:xfrm>
            <a:off x="457200" y="4700000"/>
            <a:ext cx="11277600" cy="700000"/>
          </a:xfrm>
          <a:prstGeom prst="roundRect">
            <a:avLst>
              <a:gd name="adj" fmla="val 2000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lIns="72000" tIns="45720" rIns="72000" bIns="45720" anchor="ctr"/>
          <a:lstStyle/>
          <a:p>
            <a:pPr algn="l">
              <a:lnSpc>
                <a:spcPts val="1600"/>
              </a:lnSpc>
            </a:pPr>
            <a:r>
              <a:rPr lang="en-US" sz="1200" b="1" dirty="0">
                <a:solidFill>
                  <a:srgbClr val="58A6FF"/>
                </a:solidFill>
                <a:latin typeface="Segoe UI"/>
              </a:rPr>
              <a:t>06</a:t>
            </a:r>
            <a:r>
              <a:rPr lang="en-US" sz="1200" b="1" dirty="0">
                <a:solidFill>
                  <a:srgbClr val="E8ECF0"/>
                </a:solidFill>
                <a:latin typeface="Segoe UI Semibold"/>
              </a:rPr>
              <a:t xml:space="preserve">  GitHub Copilot Across Environments</a:t>
            </a:r>
          </a:p>
          <a:p>
            <a:pPr algn="l">
              <a:lnSpc>
                <a:spcPts val="1400"/>
              </a:lnSpc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AI-assisted coding in IDE, Chat, and CLI across development environments</a:t>
            </a:r>
          </a:p>
        </p:txBody>
      </p:sp>
      <p:sp>
        <p:nvSpPr>
          <p:cNvPr id="93" name="Zone6"/>
          <p:cNvSpPr/>
          <p:nvPr/>
        </p:nvSpPr>
        <p:spPr>
          <a:xfrm>
            <a:off x="10200000" y="4700000"/>
            <a:ext cx="14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72000" tIns="45720" rIns="72000" bIns="45720" anchor="ctr"/>
          <a:lstStyle/>
          <a:p>
            <a:pPr algn="r"/>
            <a:r>
              <a:rPr lang="en-US" sz="900" i="1" dirty="0">
                <a:solidFill>
                  <a:srgbClr val="58A6FF"/>
                </a:solidFill>
                <a:latin typeface="Segoe UI"/>
              </a:rPr>
              <a:t>All Threads</a:t>
            </a:r>
          </a:p>
        </p:txBody>
      </p:sp>
      <p:sp>
        <p:nvSpPr>
          <p:cNvPr id="94" name="Card7"/>
          <p:cNvSpPr/>
          <p:nvPr/>
        </p:nvSpPr>
        <p:spPr>
          <a:xfrm>
            <a:off x="457200" y="5480000"/>
            <a:ext cx="11277600" cy="700000"/>
          </a:xfrm>
          <a:prstGeom prst="roundRect">
            <a:avLst>
              <a:gd name="adj" fmla="val 2000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lIns="72000" tIns="45720" rIns="72000" bIns="45720" anchor="ctr"/>
          <a:lstStyle/>
          <a:p>
            <a:pPr algn="l">
              <a:lnSpc>
                <a:spcPts val="1600"/>
              </a:lnSpc>
            </a:pPr>
            <a:r>
              <a:rPr lang="en-US" sz="1200" b="1" dirty="0">
                <a:solidFill>
                  <a:srgbClr val="58A6FF"/>
                </a:solidFill>
                <a:latin typeface="Segoe UI"/>
              </a:rPr>
              <a:t>07</a:t>
            </a:r>
            <a:r>
              <a:rPr lang="en-US" sz="1200" b="1" dirty="0">
                <a:solidFill>
                  <a:srgbClr val="E8ECF0"/>
                </a:solidFill>
                <a:latin typeface="Segoe UI Semibold"/>
              </a:rPr>
              <a:t xml:space="preserve">  Management and Customization</a:t>
            </a:r>
          </a:p>
          <a:p>
            <a:pPr algn="l">
              <a:lnSpc>
                <a:spcPts val="1400"/>
              </a:lnSpc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Enterprise admin controls, content exclusion, and customization options</a:t>
            </a:r>
          </a:p>
        </p:txBody>
      </p:sp>
      <p:sp>
        <p:nvSpPr>
          <p:cNvPr id="95" name="Zone7"/>
          <p:cNvSpPr/>
          <p:nvPr/>
        </p:nvSpPr>
        <p:spPr>
          <a:xfrm>
            <a:off x="10200000" y="5480000"/>
            <a:ext cx="14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72000" tIns="45720" rIns="72000" bIns="45720" anchor="ctr"/>
          <a:lstStyle/>
          <a:p>
            <a:pPr algn="r"/>
            <a:r>
              <a:rPr lang="en-US" sz="900" i="1" dirty="0">
                <a:solidFill>
                  <a:srgbClr val="D29922"/>
                </a:solidFill>
                <a:latin typeface="Segoe UI"/>
              </a:rPr>
              <a:t>Governance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xfrm>
          <a:off x="0" y="0"/>
          <a:ext cx="12192000" cy="6858000"/>
        </a:xfrm>
        <a:prstFill prst="solidFill"/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80" name="SlideTitle"/>
          <p:cNvSpPr/>
          <p:nvPr/>
        </p:nvSpPr>
        <p:spPr>
          <a:xfrm>
            <a:off x="457200" y="101600"/>
            <a:ext cx="11277600" cy="533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45720" anchor="t"/>
          <a:lstStyle/>
          <a:p>
            <a:pPr algn="l"/>
            <a:r>
              <a:rPr lang="en-US" sz="2200" b="1" dirty="0">
                <a:solidFill>
                  <a:srgbClr val="E8ECF0"/>
                </a:solidFill>
                <a:latin typeface="Segoe UI Semibold"/>
              </a:rPr>
              <a:t>Copilot Fundamentals Part 2</a:t>
            </a:r>
            <a:r>
              <a:rPr lang="en-US" sz="1400" dirty="0">
                <a:solidFill>
                  <a:srgbClr val="8B949E"/>
                </a:solidFill>
                <a:latin typeface="Segoe UI"/>
              </a:rPr>
              <a:t xml:space="preserve">  |  Agentic &amp; Enterprise</a:t>
            </a:r>
          </a:p>
        </p:txBody>
      </p:sp>
      <p:sp>
        <p:nvSpPr>
          <p:cNvPr id="81" name="LinkBar"/>
          <p:cNvSpPr/>
          <p:nvPr/>
        </p:nvSpPr>
        <p:spPr>
          <a:xfrm>
            <a:off x="457200" y="550000"/>
            <a:ext cx="11277600" cy="200000"/>
          </a:xfrm>
          <a:prstGeom prst="rect">
            <a:avLst/>
          </a:prstGeom>
          <a:noFill/>
          <a:ln>
            <a:noFill/>
          </a:ln>
        </p:spPr>
        <p:txBody>
          <a:bodyPr wrap="square" lIns="72000" tIns="45720" rIns="72000" bIns="45720" anchor="ctr"/>
          <a:lstStyle/>
          <a:p>
            <a:pPr algn="l"/>
            <a:r>
              <a:rPr lang="en-US" sz="900" dirty="0">
                <a:solidFill>
                  <a:srgbClr val="58A6FF"/>
                </a:solidFill>
                <a:latin typeface="Segoe UI"/>
              </a:rPr>
              <a:t>learn.microsoft.com/training/paths/gh-copilot-2/</a:t>
            </a:r>
          </a:p>
        </p:txBody>
      </p:sp>
      <p:sp>
        <p:nvSpPr>
          <p:cNvPr id="82" name="Card1"/>
          <p:cNvSpPr/>
          <p:nvPr/>
        </p:nvSpPr>
        <p:spPr>
          <a:xfrm>
            <a:off x="457200" y="900000"/>
            <a:ext cx="3632000" cy="5000000"/>
          </a:xfrm>
          <a:prstGeom prst="roundRect">
            <a:avLst>
              <a:gd name="adj" fmla="val 5000"/>
            </a:avLst>
          </a:prstGeom>
          <a:solidFill>
            <a:srgbClr val="1C1530"/>
          </a:solidFill>
          <a:ln w="9525">
            <a:solidFill>
              <a:srgbClr val="BC8CFF"/>
            </a:solidFill>
          </a:ln>
        </p:spPr>
        <p:txBody>
          <a:bodyPr wrap="square" lIns="72000" tIns="72000" rIns="72000" bIns="72000" anchor="t"/>
          <a:lstStyle/>
          <a:p>
            <a:pPr algn="l">
              <a:lnSpc>
                <a:spcPts val="1800"/>
              </a:lnSpc>
            </a:pPr>
            <a:r>
              <a:rPr lang="en-US" sz="1200" b="1" dirty="0">
                <a:solidFill>
                  <a:srgbClr val="BC8CFF">
                    <a:alpha val="50000"/>
                  </a:srgbClr>
                </a:solidFill>
                <a:latin typeface="Segoe UI"/>
              </a:rPr>
              <a:t>01</a:t>
            </a:r>
          </a:p>
          <a:p>
            <a:pPr algn="l">
              <a:lnSpc>
                <a:spcPts val="1800"/>
              </a:lnSpc>
            </a:pPr>
            <a:r>
              <a:rPr lang="en-US" sz="1600" b="1" dirty="0">
                <a:solidFill>
                  <a:srgbClr val="BC8CFF"/>
                </a:solidFill>
                <a:latin typeface="Segoe UI Semibold"/>
              </a:rPr>
              <a:t>Copilot Coding Agent</a:t>
            </a:r>
          </a:p>
          <a:p>
            <a:pPr algn="l">
              <a:lnSpc>
                <a:spcPts val="1600"/>
              </a:lnSpc>
            </a:pPr>
          </a:p>
          <a:p>
            <a:pPr algn="l">
              <a:lnSpc>
                <a:spcPts val="1600"/>
              </a:lnSpc>
            </a:pPr>
            <a:r>
              <a:rPr lang="en-US" sz="1100" dirty="0">
                <a:solidFill>
                  <a:srgbClr val="C9D1D9"/>
                </a:solidFill>
                <a:latin typeface="Segoe UI"/>
              </a:rPr>
              <a:t>Assign tasks, streamline development, and combine automation with your team expertise for faster outcomes.</a:t>
            </a:r>
          </a:p>
          <a:p>
            <a:pPr algn="l">
              <a:lnSpc>
                <a:spcPts val="1600"/>
              </a:lnSpc>
            </a:pPr>
          </a:p>
          <a:p>
            <a:pPr algn="l">
              <a:lnSpc>
                <a:spcPts val="1600"/>
              </a:lnSpc>
            </a:pPr>
            <a:r>
              <a:rPr lang="en-US" sz="900" b="1" dirty="0">
                <a:solidFill>
                  <a:srgbClr val="8B949E"/>
                </a:solidFill>
                <a:latin typeface="Segoe UI"/>
              </a:rPr>
              <a:t>KEY TOPICS</a:t>
            </a:r>
          </a:p>
          <a:p>
            <a:pPr algn="l">
              <a:lnSpc>
                <a:spcPts val="1600"/>
              </a:lnSpc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Assign issues to Copilot</a:t>
            </a:r>
          </a:p>
          <a:p>
            <a:pPr algn="l">
              <a:lnSpc>
                <a:spcPts val="1600"/>
              </a:lnSpc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Track PR sessions</a:t>
            </a:r>
          </a:p>
          <a:p>
            <a:pPr algn="l">
              <a:lnSpc>
                <a:spcPts val="1600"/>
              </a:lnSpc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Iterate with @copilot</a:t>
            </a:r>
          </a:p>
          <a:p>
            <a:pPr algn="l">
              <a:lnSpc>
                <a:spcPts val="1600"/>
              </a:lnSpc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Environment setup</a:t>
            </a:r>
          </a:p>
          <a:p>
            <a:pPr algn="l">
              <a:lnSpc>
                <a:spcPts val="1600"/>
              </a:lnSpc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Responsible-use practices</a:t>
            </a:r>
          </a:p>
          <a:p>
            <a:pPr algn="l">
              <a:lnSpc>
                <a:spcPts val="1600"/>
              </a:lnSpc>
            </a:pPr>
          </a:p>
          <a:p>
            <a:pPr algn="l">
              <a:lnSpc>
                <a:spcPts val="1600"/>
              </a:lnSpc>
            </a:pPr>
            <a:r>
              <a:rPr lang="en-US" sz="900" i="1" dirty="0">
                <a:solidFill>
                  <a:srgbClr val="BC8CFF"/>
                </a:solidFill>
                <a:latin typeface="Segoe UI"/>
              </a:rPr>
              <a:t>Zone 3: Agentic Automation</a:t>
            </a:r>
          </a:p>
        </p:txBody>
      </p:sp>
      <p:sp>
        <p:nvSpPr>
          <p:cNvPr id="83" name="Card2"/>
          <p:cNvSpPr/>
          <p:nvPr/>
        </p:nvSpPr>
        <p:spPr>
          <a:xfrm>
            <a:off x="4241200" y="900000"/>
            <a:ext cx="3632000" cy="5000000"/>
          </a:xfrm>
          <a:prstGeom prst="roundRect">
            <a:avLst>
              <a:gd name="adj" fmla="val 5000"/>
            </a:avLst>
          </a:prstGeom>
          <a:solidFill>
            <a:srgbClr val="1C1530"/>
          </a:solidFill>
          <a:ln w="9525">
            <a:solidFill>
              <a:srgbClr val="BC8CFF"/>
            </a:solidFill>
          </a:ln>
        </p:spPr>
        <p:txBody>
          <a:bodyPr wrap="square" lIns="72000" tIns="72000" rIns="72000" bIns="72000" anchor="t"/>
          <a:lstStyle/>
          <a:p>
            <a:pPr algn="l">
              <a:lnSpc>
                <a:spcPts val="1800"/>
              </a:lnSpc>
            </a:pPr>
            <a:r>
              <a:rPr lang="en-US" sz="1200" b="1" dirty="0">
                <a:solidFill>
                  <a:srgbClr val="BC8CFF">
                    <a:alpha val="50000"/>
                  </a:srgbClr>
                </a:solidFill>
                <a:latin typeface="Segoe UI"/>
              </a:rPr>
              <a:t>02</a:t>
            </a:r>
          </a:p>
          <a:p>
            <a:pPr algn="l">
              <a:lnSpc>
                <a:spcPts val="1800"/>
              </a:lnSpc>
            </a:pPr>
            <a:r>
              <a:rPr lang="en-US" sz="1600" b="1" dirty="0">
                <a:solidFill>
                  <a:srgbClr val="BC8CFF"/>
                </a:solidFill>
                <a:latin typeface="Segoe UI Semibold"/>
              </a:rPr>
              <a:t>GitHub MCP Server</a:t>
            </a:r>
          </a:p>
          <a:p>
            <a:pPr algn="l">
              <a:lnSpc>
                <a:spcPts val="1600"/>
              </a:lnSpc>
            </a:pPr>
          </a:p>
          <a:p>
            <a:pPr algn="l">
              <a:lnSpc>
                <a:spcPts val="1600"/>
              </a:lnSpc>
            </a:pPr>
            <a:r>
              <a:rPr lang="en-US" sz="1100" dirty="0">
                <a:solidFill>
                  <a:srgbClr val="C9D1D9"/>
                </a:solidFill>
                <a:latin typeface="Segoe UI"/>
              </a:rPr>
              <a:t>A secure, scalable way to integrate GitHub features into your AI tools via the Model Context Protocol.</a:t>
            </a:r>
          </a:p>
          <a:p>
            <a:pPr algn="l">
              <a:lnSpc>
                <a:spcPts val="1600"/>
              </a:lnSpc>
            </a:pPr>
          </a:p>
          <a:p>
            <a:pPr algn="l">
              <a:lnSpc>
                <a:spcPts val="1600"/>
              </a:lnSpc>
            </a:pPr>
            <a:r>
              <a:rPr lang="en-US" sz="900" b="1" dirty="0">
                <a:solidFill>
                  <a:srgbClr val="8B949E"/>
                </a:solidFill>
                <a:latin typeface="Segoe UI"/>
              </a:rPr>
              <a:t>KEY TOPICS</a:t>
            </a:r>
          </a:p>
          <a:p>
            <a:pPr algn="l">
              <a:lnSpc>
                <a:spcPts val="1600"/>
              </a:lnSpc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What is MCP</a:t>
            </a:r>
          </a:p>
          <a:p>
            <a:pPr algn="l">
              <a:lnSpc>
                <a:spcPts val="1600"/>
              </a:lnSpc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Configure in VS Code</a:t>
            </a:r>
          </a:p>
          <a:p>
            <a:pPr algn="l">
              <a:lnSpc>
                <a:spcPts val="1600"/>
              </a:lnSpc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Use with Copilot Chat</a:t>
            </a:r>
          </a:p>
          <a:p>
            <a:pPr algn="l">
              <a:lnSpc>
                <a:spcPts val="1600"/>
              </a:lnSpc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Troubleshoot issues</a:t>
            </a:r>
          </a:p>
          <a:p>
            <a:pPr algn="l">
              <a:lnSpc>
                <a:spcPts val="1600"/>
              </a:lnSpc>
            </a:pPr>
          </a:p>
          <a:p>
            <a:pPr algn="l">
              <a:lnSpc>
                <a:spcPts val="1600"/>
              </a:lnSpc>
            </a:pPr>
            <a:r>
              <a:rPr lang="en-US" sz="900" i="1" dirty="0">
                <a:solidFill>
                  <a:srgbClr val="BC8CFF"/>
                </a:solidFill>
                <a:latin typeface="Segoe UI"/>
              </a:rPr>
              <a:t>Zone 3: Extensions</a:t>
            </a:r>
          </a:p>
        </p:txBody>
      </p:sp>
      <p:sp>
        <p:nvSpPr>
          <p:cNvPr id="84" name="Card3"/>
          <p:cNvSpPr/>
          <p:nvPr/>
        </p:nvSpPr>
        <p:spPr>
          <a:xfrm>
            <a:off x="8025200" y="900000"/>
            <a:ext cx="3632000" cy="5000000"/>
          </a:xfrm>
          <a:prstGeom prst="roundRect">
            <a:avLst>
              <a:gd name="adj" fmla="val 5000"/>
            </a:avLst>
          </a:prstGeom>
          <a:solidFill>
            <a:srgbClr val="1C1530"/>
          </a:solidFill>
          <a:ln w="9525">
            <a:solidFill>
              <a:srgbClr val="BC8CFF"/>
            </a:solidFill>
          </a:ln>
        </p:spPr>
        <p:txBody>
          <a:bodyPr wrap="square" lIns="72000" tIns="72000" rIns="72000" bIns="72000" anchor="t"/>
          <a:lstStyle/>
          <a:p>
            <a:pPr algn="l">
              <a:lnSpc>
                <a:spcPts val="1800"/>
              </a:lnSpc>
            </a:pPr>
            <a:r>
              <a:rPr lang="en-US" sz="1200" b="1" dirty="0">
                <a:solidFill>
                  <a:srgbClr val="BC8CFF">
                    <a:alpha val="50000"/>
                  </a:srgbClr>
                </a:solidFill>
                <a:latin typeface="Segoe UI"/>
              </a:rPr>
              <a:t>03</a:t>
            </a:r>
          </a:p>
          <a:p>
            <a:pPr algn="l">
              <a:lnSpc>
                <a:spcPts val="1800"/>
              </a:lnSpc>
            </a:pPr>
            <a:r>
              <a:rPr lang="en-US" sz="1600" b="1" dirty="0">
                <a:solidFill>
                  <a:srgbClr val="BC8CFF"/>
                </a:solidFill>
                <a:latin typeface="Segoe UI Semibold"/>
              </a:rPr>
              <a:t>Code Review</a:t>
            </a:r>
          </a:p>
          <a:p>
            <a:pPr algn="l">
              <a:lnSpc>
                <a:spcPts val="1600"/>
              </a:lnSpc>
            </a:pPr>
          </a:p>
          <a:p>
            <a:pPr algn="l">
              <a:lnSpc>
                <a:spcPts val="1600"/>
              </a:lnSpc>
            </a:pPr>
            <a:r>
              <a:rPr lang="en-US" sz="1100" dirty="0">
                <a:solidFill>
                  <a:srgbClr val="C9D1D9"/>
                </a:solidFill>
                <a:latin typeface="Segoe UI"/>
              </a:rPr>
              <a:t>Accelerate review cycles, catch issues early, and enforce best practices with AI-assisted code review.</a:t>
            </a:r>
          </a:p>
          <a:p>
            <a:pPr algn="l">
              <a:lnSpc>
                <a:spcPts val="1600"/>
              </a:lnSpc>
            </a:pPr>
          </a:p>
          <a:p>
            <a:pPr algn="l">
              <a:lnSpc>
                <a:spcPts val="1600"/>
              </a:lnSpc>
            </a:pPr>
            <a:r>
              <a:rPr lang="en-US" sz="900" b="1" dirty="0">
                <a:solidFill>
                  <a:srgbClr val="8B949E"/>
                </a:solidFill>
                <a:latin typeface="Segoe UI"/>
              </a:rPr>
              <a:t>KEY TOPICS</a:t>
            </a:r>
          </a:p>
          <a:p>
            <a:pPr algn="l">
              <a:lnSpc>
                <a:spcPts val="1600"/>
              </a:lnSpc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AI review configuration</a:t>
            </a:r>
          </a:p>
          <a:p>
            <a:pPr algn="l">
              <a:lnSpc>
                <a:spcPts val="1600"/>
              </a:lnSpc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Review best practices</a:t>
            </a:r>
          </a:p>
          <a:p>
            <a:pPr algn="l">
              <a:lnSpc>
                <a:spcPts val="1600"/>
              </a:lnSpc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Standards enforcement</a:t>
            </a:r>
          </a:p>
          <a:p>
            <a:pPr algn="l">
              <a:lnSpc>
                <a:spcPts val="1600"/>
              </a:lnSpc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Team workflow integration</a:t>
            </a:r>
          </a:p>
          <a:p>
            <a:pPr algn="l">
              <a:lnSpc>
                <a:spcPts val="1600"/>
              </a:lnSpc>
            </a:pPr>
          </a:p>
          <a:p>
            <a:pPr algn="l">
              <a:lnSpc>
                <a:spcPts val="1600"/>
              </a:lnSpc>
            </a:pPr>
            <a:r>
              <a:rPr lang="en-US" sz="900" i="1" dirty="0">
                <a:solidFill>
                  <a:srgbClr val="BC8CFF"/>
                </a:solidFill>
                <a:latin typeface="Segoe UI"/>
              </a:rPr>
              <a:t>Zone 3: Enterprise Knowledge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xfrm>
          <a:off x="0" y="0"/>
          <a:ext cx="12192000" cy="6858000"/>
        </a:xfrm>
        <a:prstGeom prst="rect">
          <a:avLst/>
        </a:prstGeom>
        <a:noFill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dientBar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gradFill>
            <a:gsLst>
              <a:gs pos="0">
                <a:srgbClr val="3FB950"/>
              </a:gs>
              <a:gs pos="50000">
                <a:srgbClr val="58A6FF"/>
              </a:gs>
              <a:gs pos="100000">
                <a:srgbClr val="BC8CFF"/>
              </a:gs>
            </a:gsLst>
            <a:lin ang="0" scaled="0"/>
          </a:gradFill>
          <a:ln>
            <a:noFill/>
          </a:ln>
        </p:spPr>
      </p:sp>
      <p:sp>
        <p:nvSpPr>
          <p:cNvPr id="80" name="SlideTitle"/>
          <p:cNvSpPr/>
          <p:nvPr/>
        </p:nvSpPr>
        <p:spPr>
          <a:xfrm>
            <a:off x="457200" y="101600"/>
            <a:ext cx="11277600" cy="533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45720" anchor="t"/>
          <a:lstStyle/>
          <a:p>
            <a:pPr algn="l"/>
            <a:r>
              <a:rPr lang="en-US" sz="2200" b="1" dirty="0">
                <a:solidFill>
                  <a:srgbClr val="E8ECF0"/>
                </a:solidFill>
                <a:latin typeface="Segoe UI Semibold"/>
              </a:rPr>
              <a:t>Where to Start</a:t>
            </a:r>
            <a:r>
              <a:rPr lang="en-US" sz="1400" dirty="0">
                <a:solidFill>
                  <a:srgbClr val="8B949E"/>
                </a:solidFill>
                <a:latin typeface="Segoe UI"/>
              </a:rPr>
              <a:t xml:space="preserve">  |  Recommended Learning Paths by Role</a:t>
            </a:r>
          </a:p>
        </p:txBody>
      </p:sp>
      <p:sp>
        <p:nvSpPr>
          <p:cNvPr id="81" name="Card1_NewToCopilot"/>
          <p:cNvSpPr/>
          <p:nvPr/>
        </p:nvSpPr>
        <p:spPr>
          <a:xfrm>
            <a:off x="457200" y="800000"/>
            <a:ext cx="3632000" cy="5400000"/>
          </a:xfrm>
          <a:prstGeom prst="roundRect">
            <a:avLst>
              <a:gd name="adj" fmla="val 5000"/>
            </a:avLst>
          </a:prstGeom>
          <a:solidFill>
            <a:srgbClr val="1A2E1F"/>
          </a:solidFill>
          <a:ln w="9525">
            <a:solidFill>
              <a:srgbClr val="3FB950"/>
            </a:solidFill>
          </a:ln>
        </p:spPr>
        <p:txBody>
          <a:bodyPr wrap="square" lIns="72000" tIns="54000" rIns="72000" bIns="45720" anchor="t"/>
          <a:lstStyle/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900" b="1" dirty="0" spc="300">
                <a:solidFill>
                  <a:srgbClr val="3FB950"/>
                </a:solidFill>
                <a:latin typeface="Segoe UI"/>
              </a:rPr>
              <a:t>NEW TO COPILOT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endParaRPr lang="en-US" sz="900" dirty="0">
              <a:solidFill>
                <a:srgbClr val="3FB950"/>
              </a:solidFill>
              <a:latin typeface="Segoe UI"/>
            </a:endParaRP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800" b="1" dirty="0">
                <a:solidFill>
                  <a:srgbClr val="E8ECF0"/>
                </a:solidFill>
                <a:latin typeface="Segoe UI Semibold"/>
              </a:rPr>
              <a:t>Getting Started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endParaRPr lang="en-US" sz="1100" dirty="0">
              <a:solidFill>
                <a:srgbClr val="C9D1D9"/>
              </a:solidFill>
              <a:latin typeface="Segoe UI"/>
            </a:endParaRP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100" dirty="0">
                <a:solidFill>
                  <a:srgbClr val="C9D1D9"/>
                </a:solidFill>
                <a:latin typeface="Segoe UI"/>
              </a:rPr>
              <a:t>Begin with the basics: ghost text, Chat, and prompt fundamentals.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endParaRPr lang="en-US" sz="900" dirty="0">
              <a:solidFill>
                <a:srgbClr val="C9D1D9"/>
              </a:solidFill>
              <a:latin typeface="Segoe UI"/>
            </a:endParaRP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900" b="1" dirty="0">
                <a:solidFill>
                  <a:srgbClr val="8B949E"/>
                </a:solidFill>
                <a:latin typeface="Segoe UI"/>
              </a:rPr>
              <a:t>SKILLS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Getting Started with GitHub Copilot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Create Applications with Copilot CLI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Customize Your Copilot Experience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endParaRPr lang="en-US" sz="900" dirty="0">
              <a:solidFill>
                <a:srgbClr val="C9D1D9"/>
              </a:solidFill>
              <a:latin typeface="Segoe UI"/>
            </a:endParaRP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900" b="1" dirty="0">
                <a:solidFill>
                  <a:srgbClr val="8B949E"/>
                </a:solidFill>
                <a:latin typeface="Segoe UI"/>
              </a:rPr>
              <a:t>MODULES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Fundamentals Part 1 (full path)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Prompt Engineering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Copilot Across Environments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endParaRPr lang="en-US" sz="900" dirty="0">
              <a:solidFill>
                <a:srgbClr val="C9D1D9"/>
              </a:solidFill>
              <a:latin typeface="Segoe UI"/>
            </a:endParaRPr>
          </a:p>
          <a:p>
            <a:pPr algn="l">
              <a:lnSpc>
                <a:spcPts val="1400"/>
              </a:lnSpc>
            </a:pPr>
            <a:r>
              <a:rPr lang="en-US" sz="900" i="1" dirty="0">
                <a:solidFill>
                  <a:srgbClr val="3FB950">
                    <a:alpha val="70000"/>
                  </a:srgbClr>
                </a:solidFill>
                <a:latin typeface="Segoe UI"/>
              </a:rPr>
              <a:t>Start here if Copilot is new to your team</a:t>
            </a:r>
          </a:p>
        </p:txBody>
      </p:sp>
      <p:sp>
        <p:nvSpPr>
          <p:cNvPr id="82" name="Card2_AlreadyUsing"/>
          <p:cNvSpPr/>
          <p:nvPr/>
        </p:nvSpPr>
        <p:spPr>
          <a:xfrm>
            <a:off x="4241200" y="800000"/>
            <a:ext cx="3632000" cy="5400000"/>
          </a:xfrm>
          <a:prstGeom prst="roundRect">
            <a:avLst>
              <a:gd name="adj" fmla="val 5000"/>
            </a:avLst>
          </a:prstGeom>
          <a:solidFill>
            <a:srgbClr val="15253B"/>
          </a:solidFill>
          <a:ln w="9525">
            <a:solidFill>
              <a:srgbClr val="58A6FF"/>
            </a:solidFill>
          </a:ln>
        </p:spPr>
        <p:txBody>
          <a:bodyPr wrap="square" lIns="72000" tIns="54000" rIns="72000" bIns="45720" anchor="t"/>
          <a:lstStyle/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900" b="1" dirty="0" spc="300">
                <a:solidFill>
                  <a:srgbClr val="58A6FF"/>
                </a:solidFill>
                <a:latin typeface="Segoe UI"/>
              </a:rPr>
              <a:t>ALREADY USING COPILOT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endParaRPr lang="en-US" sz="900" dirty="0">
              <a:solidFill>
                <a:srgbClr val="58A6FF"/>
              </a:solidFill>
              <a:latin typeface="Segoe UI"/>
            </a:endParaRP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800" b="1" dirty="0">
                <a:solidFill>
                  <a:srgbClr val="E8ECF0"/>
                </a:solidFill>
                <a:latin typeface="Segoe UI Semibold"/>
              </a:rPr>
              <a:t>Level Up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endParaRPr lang="en-US" sz="1100" dirty="0">
              <a:solidFill>
                <a:srgbClr val="C9D1D9"/>
              </a:solidFill>
              <a:latin typeface="Segoe UI"/>
            </a:endParaRP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100" dirty="0">
                <a:solidFill>
                  <a:srgbClr val="C9D1D9"/>
                </a:solidFill>
                <a:latin typeface="Segoe UI"/>
              </a:rPr>
              <a:t>Move into agentic workflows, MCP, and advanced features.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endParaRPr lang="en-US" sz="900" dirty="0">
              <a:solidFill>
                <a:srgbClr val="C9D1D9"/>
              </a:solidFill>
              <a:latin typeface="Segoe UI"/>
            </a:endParaRP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900" b="1" dirty="0">
                <a:solidFill>
                  <a:srgbClr val="8B949E"/>
                </a:solidFill>
                <a:latin typeface="Segoe UI"/>
              </a:rPr>
              <a:t>SKILLS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Build Applications w/ Agent Mode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Expand Your Team with Copilot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Integrate MCP with Copilot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endParaRPr lang="en-US" sz="900" dirty="0">
              <a:solidFill>
                <a:srgbClr val="C9D1D9"/>
              </a:solidFill>
              <a:latin typeface="Segoe UI"/>
            </a:endParaRP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900" b="1" dirty="0">
                <a:solidFill>
                  <a:srgbClr val="8B949E"/>
                </a:solidFill>
                <a:latin typeface="Segoe UI"/>
              </a:rPr>
              <a:t>MODULES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Fundamentals Part 2 (full path)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Copilot Coding Agent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GitHub MCP Server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endParaRPr lang="en-US" sz="900" dirty="0">
              <a:solidFill>
                <a:srgbClr val="C9D1D9"/>
              </a:solidFill>
              <a:latin typeface="Segoe UI"/>
            </a:endParaRPr>
          </a:p>
          <a:p>
            <a:pPr algn="l">
              <a:lnSpc>
                <a:spcPts val="1400"/>
              </a:lnSpc>
            </a:pPr>
            <a:r>
              <a:rPr lang="en-US" sz="900" i="1" dirty="0">
                <a:solidFill>
                  <a:srgbClr val="58A6FF">
                    <a:alpha val="70000"/>
                  </a:srgbClr>
                </a:solidFill>
                <a:latin typeface="Segoe UI"/>
              </a:rPr>
              <a:t>For teams already using ghost text and Chat</a:t>
            </a:r>
          </a:p>
        </p:txBody>
      </p:sp>
      <p:sp>
        <p:nvSpPr>
          <p:cNvPr id="83" name="Card3_TeamLead"/>
          <p:cNvSpPr/>
          <p:nvPr/>
        </p:nvSpPr>
        <p:spPr>
          <a:xfrm>
            <a:off x="8025200" y="800000"/>
            <a:ext cx="3632000" cy="5400000"/>
          </a:xfrm>
          <a:prstGeom prst="roundRect">
            <a:avLst>
              <a:gd name="adj" fmla="val 5000"/>
            </a:avLst>
          </a:prstGeom>
          <a:solidFill>
            <a:srgbClr val="1C1530"/>
          </a:solidFill>
          <a:ln w="9525">
            <a:solidFill>
              <a:srgbClr val="BC8CFF"/>
            </a:solidFill>
          </a:ln>
        </p:spPr>
        <p:txBody>
          <a:bodyPr wrap="square" lIns="72000" tIns="54000" rIns="72000" bIns="45720" anchor="t"/>
          <a:lstStyle/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900" b="1" dirty="0" spc="300">
                <a:solidFill>
                  <a:srgbClr val="BC8CFF"/>
                </a:solidFill>
                <a:latin typeface="Segoe UI"/>
              </a:rPr>
              <a:t>TEAM LEAD / ADMIN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endParaRPr lang="en-US" sz="900" dirty="0">
              <a:solidFill>
                <a:srgbClr val="BC8CFF"/>
              </a:solidFill>
              <a:latin typeface="Segoe UI"/>
            </a:endParaRP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800" b="1" dirty="0">
                <a:solidFill>
                  <a:srgbClr val="E8ECF0"/>
                </a:solidFill>
                <a:latin typeface="Segoe UI Semibold"/>
              </a:rPr>
              <a:t>Govern &amp; Scale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endParaRPr lang="en-US" sz="1100" dirty="0">
              <a:solidFill>
                <a:srgbClr val="C9D1D9"/>
              </a:solidFill>
              <a:latin typeface="Segoe UI"/>
            </a:endParaRP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100" dirty="0">
                <a:solidFill>
                  <a:srgbClr val="C9D1D9"/>
                </a:solidFill>
                <a:latin typeface="Segoe UI"/>
              </a:rPr>
              <a:t>Enterprise controls, code review automation, and knowledge scaling.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endParaRPr lang="en-US" sz="900" dirty="0">
              <a:solidFill>
                <a:srgbClr val="C9D1D9"/>
              </a:solidFill>
              <a:latin typeface="Segoe UI"/>
            </a:endParaRP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900" b="1" dirty="0">
                <a:solidFill>
                  <a:srgbClr val="8B949E"/>
                </a:solidFill>
                <a:latin typeface="Segoe UI"/>
              </a:rPr>
              <a:t>SKILLS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Copilot Code Review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Scale Knowledge Using Copilot Spaces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Modernize Legacy Code with Copilot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endParaRPr lang="en-US" sz="900" dirty="0">
              <a:solidFill>
                <a:srgbClr val="C9D1D9"/>
              </a:solidFill>
              <a:latin typeface="Segoe UI"/>
            </a:endParaRP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900" b="1" dirty="0">
                <a:solidFill>
                  <a:srgbClr val="8B949E"/>
                </a:solidFill>
                <a:latin typeface="Segoe UI"/>
              </a:rPr>
              <a:t>MODULES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Responsible AI with GitHub Copilot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Management and Customization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Code Review with Copilot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endParaRPr lang="en-US" sz="900" dirty="0">
              <a:solidFill>
                <a:srgbClr val="C9D1D9"/>
              </a:solidFill>
              <a:latin typeface="Segoe UI"/>
            </a:endParaRPr>
          </a:p>
          <a:p>
            <a:pPr algn="l">
              <a:lnSpc>
                <a:spcPts val="1400"/>
              </a:lnSpc>
            </a:pPr>
            <a:r>
              <a:rPr lang="en-US" sz="900" i="1" dirty="0">
                <a:solidFill>
                  <a:srgbClr val="BC8CFF">
                    <a:alpha val="70000"/>
                  </a:srgbClr>
                </a:solidFill>
                <a:latin typeface="Segoe UI"/>
              </a:rPr>
              <a:t>For governance, rollout, and enterprise adoption</a:t>
            </a:r>
          </a:p>
        </p:txBody>
      </p:sp>
      <p:sp>
        <p:nvSpPr>
          <p:cNvPr id="84" name="FooterLink"/>
          <p:cNvSpPr/>
          <p:nvPr/>
        </p:nvSpPr>
        <p:spPr>
          <a:xfrm>
            <a:off x="457200" y="6400000"/>
            <a:ext cx="112776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45720" anchor="t"/>
          <a:lstStyle/>
          <a:p>
            <a:pPr algn="l"/>
            <a:r>
              <a:rPr lang="en-US" sz="900" dirty="0">
                <a:solidFill>
                  <a:srgbClr val="8B949E"/>
                </a:solidFill>
                <a:latin typeface="Segoe UI"/>
              </a:rPr>
              <a:t>All resources: learn.github.com/skills  |  learn.microsoft.com/training/paths/copilot/</a:t>
            </a:r>
          </a:p>
        </p:txBody>
      </p:sp>
    </p:spTree>
    <p:extLst>
      <p:ext uri="{BB962C8B-B14F-4D97-AF65-F5344CB8AC3E}">
        <p14:creationId xmlns:p14="http://schemas.microsoft.com/office/powerpoint/2010/main" val="8701730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5079339986]">
  <a:themeElements>
    <a:clrScheme name="Copilot Matrix">
      <a:dk1>
        <a:srgbClr val="E8ECF0"/>
      </a:dk1>
      <a:lt1>
        <a:srgbClr val="0D1117"/>
      </a:lt1>
      <a:dk2>
        <a:srgbClr val="A0B0C0"/>
      </a:dk2>
      <a:lt2>
        <a:srgbClr val="161B22"/>
      </a:lt2>
      <a:accent1>
        <a:srgbClr val="3FB950"/>
      </a:accent1>
      <a:accent2>
        <a:srgbClr val="58A6FF"/>
      </a:accent2>
      <a:accent3>
        <a:srgbClr val="D29922"/>
      </a:accent3>
      <a:accent4>
        <a:srgbClr val="BC8CFF"/>
      </a:accent4>
      <a:accent5>
        <a:srgbClr val="F78166"/>
      </a:accent5>
      <a:accent6>
        <a:srgbClr val="79C0FF"/>
      </a:accent6>
      <a:hlink>
        <a:srgbClr val="467886"/>
      </a:hlink>
      <a:folHlink>
        <a:srgbClr val="96607D"/>
      </a:folHlink>
    </a:clrScheme>
    <a:fontScheme name="Copilot">
      <a:majorFont>
        <a:latin typeface="Segoe UI Semi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?>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F7AC36B-7933-2145-81D6-B009D203D031}">
  <we:reference id="wa200010001" version="1.0.0.1" store="en-US" storeType="OMEX"/>
  <we:alternateReferences>
    <we:reference id="wa200010001" version="1.0.0.1" store="en-US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423</Words>
  <Application>Microsoft Macintosh PowerPoint</Application>
  <PresentationFormat>Widescreen</PresentationFormat>
  <Paragraphs>81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Aptos</vt:lpstr>
      <vt:lpstr>Arial</vt:lpstr>
      <vt:lpstr>Cascadia Code</vt:lpstr>
      <vt:lpstr>Segoe UI</vt:lpstr>
      <vt:lpstr>Segoe UI Semibold</vt:lpstr>
      <vt:lpstr>Office Theme [1775079339986]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Stephen Hogg - Arinco</dc:creator>
  <cp:lastModifiedBy>Stephen Hogg - Arinco</cp:lastModifiedBy>
  <cp:revision>4</cp:revision>
  <dcterms:created xsi:type="dcterms:W3CDTF">2026-04-01T21:15:15Z</dcterms:created>
  <dcterms:modified xsi:type="dcterms:W3CDTF">2026-04-01T22:27:09Z</dcterms:modified>
</cp:coreProperties>
</file>