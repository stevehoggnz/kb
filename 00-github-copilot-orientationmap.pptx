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angle">
            <a:avLst/>
          </a:prstGeom>
          <a:solidFill>
            <a:srgbClr val="2F81F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Proficiency Matrix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Threads × Advancement Zones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412480" y="137160"/>
            <a:ext cx="3474720" cy="274320"/>
          </a:xfrm>
          <a:prstGeom prst="rectangle">
            <a:avLst/>
          </a:prstGeom>
          <a:solidFill>
            <a:srgbClr val="2F81F7">
              <a:alpha val="2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412480" y="137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 MAP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868680"/>
            <a:ext cx="1645920" cy="502920"/>
          </a:xfrm>
          <a:prstGeom prst="rectangle">
            <a:avLst/>
          </a:prstGeom>
          <a:solidFill>
            <a:srgbClr val="161B22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8686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→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212848" y="868680"/>
            <a:ext cx="3017520" cy="502920"/>
          </a:xfrm>
          <a:prstGeom prst="rectangle">
            <a:avLst/>
          </a:prstGeom>
          <a:solidFill>
            <a:srgbClr val="161B22"/>
          </a:solidFill>
          <a:ln/>
        </p:spPr>
      </p:sp>
      <p:sp>
        <p:nvSpPr>
          <p:cNvPr id="10" name="Shape 8"/>
          <p:cNvSpPr/>
          <p:nvPr/>
        </p:nvSpPr>
        <p:spPr>
          <a:xfrm>
            <a:off x="2212848" y="868680"/>
            <a:ext cx="3017520" cy="36576"/>
          </a:xfrm>
          <a:prstGeom prst="rectangl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2212848" y="923544"/>
            <a:ext cx="30175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1: Foundational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Assistive • IDE Editor Level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340096" y="868680"/>
            <a:ext cx="3017520" cy="502920"/>
          </a:xfrm>
          <a:prstGeom prst="rectangle">
            <a:avLst/>
          </a:prstGeom>
          <a:solidFill>
            <a:srgbClr val="161B22"/>
          </a:solidFill>
          <a:ln/>
        </p:spPr>
      </p:sp>
      <p:sp>
        <p:nvSpPr>
          <p:cNvPr id="13" name="Shape 11"/>
          <p:cNvSpPr/>
          <p:nvPr/>
        </p:nvSpPr>
        <p:spPr>
          <a:xfrm>
            <a:off x="5340096" y="868680"/>
            <a:ext cx="3017520" cy="36576"/>
          </a:xfrm>
          <a:prstGeom prst="rectangle">
            <a:avLst/>
          </a:prstGeom>
          <a:solidFill>
            <a:srgbClr val="D29922"/>
          </a:solidFill>
          <a:ln/>
        </p:spPr>
      </p:sp>
      <p:sp>
        <p:nvSpPr>
          <p:cNvPr id="14" name="Text 12"/>
          <p:cNvSpPr/>
          <p:nvPr/>
        </p:nvSpPr>
        <p:spPr>
          <a:xfrm>
            <a:off x="5340096" y="923544"/>
            <a:ext cx="30175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2: Intermediate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Collaborative • Repo/Team Level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467344" y="868680"/>
            <a:ext cx="3017520" cy="502920"/>
          </a:xfrm>
          <a:prstGeom prst="rectangle">
            <a:avLst/>
          </a:prstGeom>
          <a:solidFill>
            <a:srgbClr val="161B22"/>
          </a:solidFill>
          <a:ln/>
        </p:spPr>
      </p:sp>
      <p:sp>
        <p:nvSpPr>
          <p:cNvPr id="16" name="Shape 14"/>
          <p:cNvSpPr/>
          <p:nvPr/>
        </p:nvSpPr>
        <p:spPr>
          <a:xfrm>
            <a:off x="8467344" y="868680"/>
            <a:ext cx="3017520" cy="36576"/>
          </a:xfrm>
          <a:prstGeom prst="rectangle">
            <a:avLst/>
          </a:prstGeom>
          <a:solidFill>
            <a:srgbClr val="F85149"/>
          </a:solidFill>
          <a:ln/>
        </p:spPr>
      </p:sp>
      <p:sp>
        <p:nvSpPr>
          <p:cNvPr id="17" name="Text 15"/>
          <p:cNvSpPr/>
          <p:nvPr/>
        </p:nvSpPr>
        <p:spPr>
          <a:xfrm>
            <a:off x="8467344" y="923544"/>
            <a:ext cx="30175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3: Advanced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• Architect/Org Level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1481328"/>
            <a:ext cx="1645920" cy="1143000"/>
          </a:xfrm>
          <a:prstGeom prst="rectangle">
            <a:avLst/>
          </a:prstGeom>
          <a:solidFill>
            <a:srgbClr val="161B22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1481328"/>
            <a:ext cx="1463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Workflow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Editor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212848" y="1481328"/>
            <a:ext cx="3017520" cy="1143000"/>
          </a:xfrm>
          <a:prstGeom prst="rectangle">
            <a:avLst/>
          </a:prstGeom>
          <a:solidFill>
            <a:srgbClr val="1C2333"/>
          </a:solidFill>
          <a:ln/>
        </p:spPr>
      </p:sp>
      <p:sp>
        <p:nvSpPr>
          <p:cNvPr id="21" name="Shape 19"/>
          <p:cNvSpPr/>
          <p:nvPr/>
        </p:nvSpPr>
        <p:spPr>
          <a:xfrm>
            <a:off x="2212848" y="1481328"/>
            <a:ext cx="36576" cy="1143000"/>
          </a:xfrm>
          <a:prstGeom prst="rectangle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2350008" y="1554480"/>
            <a:ext cx="278892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 Text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code and comment completion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40096" y="1481328"/>
            <a:ext cx="3017520" cy="1143000"/>
          </a:xfrm>
          <a:prstGeom prst="rectangle">
            <a:avLst/>
          </a:prstGeom>
          <a:solidFill>
            <a:srgbClr val="1C2333"/>
          </a:solidFill>
          <a:ln/>
        </p:spPr>
      </p:sp>
      <p:sp>
        <p:nvSpPr>
          <p:cNvPr id="24" name="Shape 22"/>
          <p:cNvSpPr/>
          <p:nvPr/>
        </p:nvSpPr>
        <p:spPr>
          <a:xfrm>
            <a:off x="5340096" y="1481328"/>
            <a:ext cx="36576" cy="1143000"/>
          </a:xfrm>
          <a:prstGeom prst="rectangle">
            <a:avLst/>
          </a:prstGeom>
          <a:solidFill>
            <a:srgbClr val="D29922"/>
          </a:solidFill>
          <a:ln/>
        </p:spPr>
      </p:sp>
      <p:sp>
        <p:nvSpPr>
          <p:cNvPr id="25" name="Text 23"/>
          <p:cNvSpPr/>
          <p:nvPr/>
        </p:nvSpPr>
        <p:spPr>
          <a:xfrm>
            <a:off x="5477256" y="1554480"/>
            <a:ext cx="278892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&amp; Workspace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Multi-file context via @workspace. /explain and /tests commands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467344" y="1481328"/>
            <a:ext cx="3017520" cy="1143000"/>
          </a:xfrm>
          <a:prstGeom prst="rectangle">
            <a:avLst/>
          </a:prstGeom>
          <a:solidFill>
            <a:srgbClr val="1C2333"/>
          </a:solidFill>
          <a:ln/>
        </p:spPr>
      </p:sp>
      <p:sp>
        <p:nvSpPr>
          <p:cNvPr id="27" name="Shape 25"/>
          <p:cNvSpPr/>
          <p:nvPr/>
        </p:nvSpPr>
        <p:spPr>
          <a:xfrm>
            <a:off x="8467344" y="1481328"/>
            <a:ext cx="36576" cy="1143000"/>
          </a:xfrm>
          <a:prstGeom prst="rectangle">
            <a:avLst/>
          </a:prstGeom>
          <a:solidFill>
            <a:srgbClr val="F85149"/>
          </a:solidFill>
          <a:ln/>
        </p:spPr>
      </p:sp>
      <p:sp>
        <p:nvSpPr>
          <p:cNvPr id="28" name="Text 26"/>
          <p:cNvSpPr/>
          <p:nvPr/>
        </p:nvSpPr>
        <p:spPr>
          <a:xfrm>
            <a:off x="8604504" y="1554480"/>
            <a:ext cx="278892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Spaces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workspace for architecture visualization and complex refactoring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2734056"/>
            <a:ext cx="1645920" cy="1143000"/>
          </a:xfrm>
          <a:prstGeom prst="rectangle">
            <a:avLst/>
          </a:prstGeom>
          <a:solidFill>
            <a:srgbClr val="161B22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2734056"/>
            <a:ext cx="1463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Automation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&amp; SDK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212848" y="2734056"/>
            <a:ext cx="3017520" cy="1143000"/>
          </a:xfrm>
          <a:prstGeom prst="rectangle">
            <a:avLst/>
          </a:prstGeom>
          <a:solidFill>
            <a:srgbClr val="1C2333"/>
          </a:solidFill>
          <a:ln/>
        </p:spPr>
      </p:sp>
      <p:sp>
        <p:nvSpPr>
          <p:cNvPr id="32" name="Shape 30"/>
          <p:cNvSpPr/>
          <p:nvPr/>
        </p:nvSpPr>
        <p:spPr>
          <a:xfrm>
            <a:off x="2212848" y="2734056"/>
            <a:ext cx="36576" cy="1143000"/>
          </a:xfrm>
          <a:prstGeom prst="rectangle">
            <a:avLst/>
          </a:prstGeom>
          <a:solidFill>
            <a:srgbClr val="3FB950"/>
          </a:solidFill>
          <a:ln/>
        </p:spPr>
      </p:sp>
      <p:sp>
        <p:nvSpPr>
          <p:cNvPr id="33" name="Text 31"/>
          <p:cNvSpPr/>
          <p:nvPr/>
        </p:nvSpPr>
        <p:spPr>
          <a:xfrm>
            <a:off x="2350008" y="2807208"/>
            <a:ext cx="278892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Suggestion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gh copilot suggest in terminal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340096" y="2734056"/>
            <a:ext cx="3017520" cy="1143000"/>
          </a:xfrm>
          <a:prstGeom prst="rectangle">
            <a:avLst/>
          </a:prstGeom>
          <a:solidFill>
            <a:srgbClr val="1C2333"/>
          </a:solidFill>
          <a:ln/>
        </p:spPr>
      </p:sp>
      <p:sp>
        <p:nvSpPr>
          <p:cNvPr id="35" name="Shape 33"/>
          <p:cNvSpPr/>
          <p:nvPr/>
        </p:nvSpPr>
        <p:spPr>
          <a:xfrm>
            <a:off x="5340096" y="2734056"/>
            <a:ext cx="36576" cy="1143000"/>
          </a:xfrm>
          <a:prstGeom prst="rectangle">
            <a:avLst/>
          </a:prstGeom>
          <a:solidFill>
            <a:srgbClr val="D29922"/>
          </a:solidFill>
          <a:ln/>
        </p:spPr>
      </p:sp>
      <p:sp>
        <p:nvSpPr>
          <p:cNvPr id="36" name="Text 34"/>
          <p:cNvSpPr/>
          <p:nvPr/>
        </p:nvSpPr>
        <p:spPr>
          <a:xfrm>
            <a:off x="5477256" y="2807208"/>
            <a:ext cx="278892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CLI Chat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 terminal errors and shell scripts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467344" y="2734056"/>
            <a:ext cx="3017520" cy="1143000"/>
          </a:xfrm>
          <a:prstGeom prst="rectangle">
            <a:avLst/>
          </a:prstGeom>
          <a:solidFill>
            <a:srgbClr val="1C2333"/>
          </a:solidFill>
          <a:ln/>
        </p:spPr>
      </p:sp>
      <p:sp>
        <p:nvSpPr>
          <p:cNvPr id="38" name="Shape 36"/>
          <p:cNvSpPr/>
          <p:nvPr/>
        </p:nvSpPr>
        <p:spPr>
          <a:xfrm>
            <a:off x="8467344" y="2734056"/>
            <a:ext cx="36576" cy="1143000"/>
          </a:xfrm>
          <a:prstGeom prst="rectangle">
            <a:avLst/>
          </a:prstGeom>
          <a:solidFill>
            <a:srgbClr val="F85149"/>
          </a:solidFill>
          <a:ln/>
        </p:spPr>
      </p:sp>
      <p:sp>
        <p:nvSpPr>
          <p:cNvPr id="39" name="Text 37"/>
          <p:cNvSpPr/>
          <p:nvPr/>
        </p:nvSpPr>
        <p:spPr>
          <a:xfrm>
            <a:off x="8604504" y="2807208"/>
            <a:ext cx="278892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Autopilot Mode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plan-act-review loops for complex file operations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3986784"/>
            <a:ext cx="1645920" cy="1143000"/>
          </a:xfrm>
          <a:prstGeom prst="rectangle">
            <a:avLst/>
          </a:prstGeom>
          <a:solidFill>
            <a:srgbClr val="161B22"/>
          </a:solidFill>
          <a:ln/>
        </p:spPr>
      </p:sp>
      <p:sp>
        <p:nvSpPr>
          <p:cNvPr id="41" name="Text 39"/>
          <p:cNvSpPr/>
          <p:nvPr/>
        </p:nvSpPr>
        <p:spPr>
          <a:xfrm>
            <a:off x="548640" y="3986784"/>
            <a:ext cx="1463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Knowledge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2212848" y="3986784"/>
            <a:ext cx="3017520" cy="1143000"/>
          </a:xfrm>
          <a:prstGeom prst="rectangle">
            <a:avLst/>
          </a:prstGeom>
          <a:solidFill>
            <a:srgbClr val="1C2333"/>
          </a:solidFill>
          <a:ln/>
        </p:spPr>
      </p:sp>
      <p:sp>
        <p:nvSpPr>
          <p:cNvPr id="43" name="Shape 41"/>
          <p:cNvSpPr/>
          <p:nvPr/>
        </p:nvSpPr>
        <p:spPr>
          <a:xfrm>
            <a:off x="2212848" y="3986784"/>
            <a:ext cx="36576" cy="1143000"/>
          </a:xfrm>
          <a:prstGeom prst="rectangle">
            <a:avLst/>
          </a:prstGeom>
          <a:solidFill>
            <a:srgbClr val="3FB950"/>
          </a:solidFill>
          <a:ln/>
        </p:spPr>
      </p:sp>
      <p:sp>
        <p:nvSpPr>
          <p:cNvPr id="44" name="Text 42"/>
          <p:cNvSpPr/>
          <p:nvPr/>
        </p:nvSpPr>
        <p:spPr>
          <a:xfrm>
            <a:off x="2350008" y="4059936"/>
            <a:ext cx="278892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Exclusion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safety controls on file visibility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340096" y="3986784"/>
            <a:ext cx="3017520" cy="1143000"/>
          </a:xfrm>
          <a:prstGeom prst="rectangle">
            <a:avLst/>
          </a:prstGeom>
          <a:solidFill>
            <a:srgbClr val="1C2333"/>
          </a:solidFill>
          <a:ln/>
        </p:spPr>
      </p:sp>
      <p:sp>
        <p:nvSpPr>
          <p:cNvPr id="46" name="Shape 44"/>
          <p:cNvSpPr/>
          <p:nvPr/>
        </p:nvSpPr>
        <p:spPr>
          <a:xfrm>
            <a:off x="5340096" y="3986784"/>
            <a:ext cx="36576" cy="1143000"/>
          </a:xfrm>
          <a:prstGeom prst="rectangle">
            <a:avLst/>
          </a:prstGeom>
          <a:solidFill>
            <a:srgbClr val="D29922"/>
          </a:solidFill>
          <a:ln/>
        </p:spPr>
      </p:sp>
      <p:sp>
        <p:nvSpPr>
          <p:cNvPr id="47" name="Text 45"/>
          <p:cNvSpPr/>
          <p:nvPr/>
        </p:nvSpPr>
        <p:spPr>
          <a:xfrm>
            <a:off x="5477256" y="4059936"/>
            <a:ext cx="278892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Bases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Indexing internal docs/Wikis for contextual answers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467344" y="3986784"/>
            <a:ext cx="3017520" cy="1143000"/>
          </a:xfrm>
          <a:prstGeom prst="rectangle">
            <a:avLst/>
          </a:prstGeom>
          <a:solidFill>
            <a:srgbClr val="1C2333"/>
          </a:solidFill>
          <a:ln/>
        </p:spPr>
      </p:sp>
      <p:sp>
        <p:nvSpPr>
          <p:cNvPr id="49" name="Shape 47"/>
          <p:cNvSpPr/>
          <p:nvPr/>
        </p:nvSpPr>
        <p:spPr>
          <a:xfrm>
            <a:off x="8467344" y="3986784"/>
            <a:ext cx="36576" cy="1143000"/>
          </a:xfrm>
          <a:prstGeom prst="rectangle">
            <a:avLst/>
          </a:prstGeom>
          <a:solidFill>
            <a:srgbClr val="F85149"/>
          </a:solidFill>
          <a:ln/>
        </p:spPr>
      </p:sp>
      <p:sp>
        <p:nvSpPr>
          <p:cNvPr id="50" name="Text 48"/>
          <p:cNvSpPr/>
          <p:nvPr/>
        </p:nvSpPr>
        <p:spPr>
          <a:xfrm>
            <a:off x="8604504" y="4059936"/>
            <a:ext cx="278892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Code Review Agent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security and standards auditing on PRs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5239512"/>
            <a:ext cx="1645920" cy="1143000"/>
          </a:xfrm>
          <a:prstGeom prst="rectangle">
            <a:avLst/>
          </a:prstGeom>
          <a:solidFill>
            <a:srgbClr val="161B22"/>
          </a:solidFill>
          <a:ln/>
        </p:spPr>
      </p:sp>
      <p:sp>
        <p:nvSpPr>
          <p:cNvPr id="52" name="Text 50"/>
          <p:cNvSpPr/>
          <p:nvPr/>
        </p:nvSpPr>
        <p:spPr>
          <a:xfrm>
            <a:off x="548640" y="5239512"/>
            <a:ext cx="1463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&amp; Modernization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212848" y="5239512"/>
            <a:ext cx="3017520" cy="1143000"/>
          </a:xfrm>
          <a:prstGeom prst="rectangle">
            <a:avLst/>
          </a:prstGeom>
          <a:solidFill>
            <a:srgbClr val="1C2333"/>
          </a:solidFill>
          <a:ln/>
        </p:spPr>
      </p:sp>
      <p:sp>
        <p:nvSpPr>
          <p:cNvPr id="54" name="Shape 52"/>
          <p:cNvSpPr/>
          <p:nvPr/>
        </p:nvSpPr>
        <p:spPr>
          <a:xfrm>
            <a:off x="2212848" y="5239512"/>
            <a:ext cx="36576" cy="1143000"/>
          </a:xfrm>
          <a:prstGeom prst="rectangle">
            <a:avLst/>
          </a:prstGeom>
          <a:solidFill>
            <a:srgbClr val="3FB950"/>
          </a:solidFill>
          <a:ln/>
        </p:spPr>
      </p:sp>
      <p:sp>
        <p:nvSpPr>
          <p:cNvPr id="55" name="Text 53"/>
          <p:cNvSpPr/>
          <p:nvPr/>
        </p:nvSpPr>
        <p:spPr>
          <a:xfrm>
            <a:off x="2350008" y="5312664"/>
            <a:ext cx="278892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 Commands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code refactoring (/fix)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5340096" y="5239512"/>
            <a:ext cx="3017520" cy="1143000"/>
          </a:xfrm>
          <a:prstGeom prst="rectangle">
            <a:avLst/>
          </a:prstGeom>
          <a:solidFill>
            <a:srgbClr val="1C2333"/>
          </a:solidFill>
          <a:ln/>
        </p:spPr>
      </p:sp>
      <p:sp>
        <p:nvSpPr>
          <p:cNvPr id="57" name="Shape 55"/>
          <p:cNvSpPr/>
          <p:nvPr/>
        </p:nvSpPr>
        <p:spPr>
          <a:xfrm>
            <a:off x="5340096" y="5239512"/>
            <a:ext cx="36576" cy="1143000"/>
          </a:xfrm>
          <a:prstGeom prst="rectangle">
            <a:avLst/>
          </a:prstGeom>
          <a:solidFill>
            <a:srgbClr val="D29922"/>
          </a:solidFill>
          <a:ln/>
        </p:spPr>
      </p:sp>
      <p:sp>
        <p:nvSpPr>
          <p:cNvPr id="58" name="Text 56"/>
          <p:cNvSpPr/>
          <p:nvPr/>
        </p:nvSpPr>
        <p:spPr>
          <a:xfrm>
            <a:off x="5477256" y="5312664"/>
            <a:ext cx="278892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Party Extensions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to Azure Database, Teams, and more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8467344" y="5239512"/>
            <a:ext cx="3017520" cy="1143000"/>
          </a:xfrm>
          <a:prstGeom prst="rectangle">
            <a:avLst/>
          </a:prstGeom>
          <a:solidFill>
            <a:srgbClr val="1C2333"/>
          </a:solidFill>
          <a:ln/>
        </p:spPr>
      </p:sp>
      <p:sp>
        <p:nvSpPr>
          <p:cNvPr id="60" name="Shape 58"/>
          <p:cNvSpPr/>
          <p:nvPr/>
        </p:nvSpPr>
        <p:spPr>
          <a:xfrm>
            <a:off x="8467344" y="5239512"/>
            <a:ext cx="36576" cy="1143000"/>
          </a:xfrm>
          <a:prstGeom prst="rectangle">
            <a:avLst/>
          </a:prstGeom>
          <a:solidFill>
            <a:srgbClr val="F85149"/>
          </a:solidFill>
          <a:ln/>
        </p:spPr>
      </p:sp>
      <p:sp>
        <p:nvSpPr>
          <p:cNvPr id="61" name="Text 59"/>
          <p:cNvSpPr/>
          <p:nvPr/>
        </p:nvSpPr>
        <p:spPr>
          <a:xfrm>
            <a:off x="8604504" y="5312664"/>
            <a:ext cx="278892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Modernization Agent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→ Plan → Execute: .NET/Java to Azure migration + Vibe Coding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2212848" y="65379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Reactive • Single-task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5340096" y="65379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Multi-file • Context-aware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8467344" y="65379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• Goal-oriented ▶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457200" y="65379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4S Prompting Method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angle">
            <a:avLst/>
          </a:prstGeom>
          <a:solidFill>
            <a:srgbClr val="2F81F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Start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Learning Paths by Role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412480" y="137160"/>
            <a:ext cx="3474720" cy="274320"/>
          </a:xfrm>
          <a:prstGeom prst="rectangle">
            <a:avLst/>
          </a:prstGeom>
          <a:solidFill>
            <a:srgbClr val="2F81F7">
              <a:alpha val="2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412480" y="137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YOUR PATH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0" y="777240"/>
            <a:ext cx="12188952" cy="5166360"/>
          </a:xfrm>
          <a:prstGeom prst="rectangle">
            <a:avLst/>
          </a:prstGeom>
          <a:solidFill>
            <a:srgbClr val="161B22">
              <a:alpha val="50000"/>
            </a:srgbClr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3223260"/>
            <a:ext cx="274320" cy="27432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3223260"/>
            <a:ext cx="274320" cy="274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57200" y="914400"/>
            <a:ext cx="3474720" cy="4892040"/>
          </a:xfrm>
          <a:prstGeom prst="rectangle">
            <a:avLst/>
          </a:prstGeom>
          <a:solidFill>
            <a:srgbClr val="0D3320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" y="914400"/>
            <a:ext cx="3474720" cy="45720"/>
          </a:xfrm>
          <a:prstGeom prst="rectangle">
            <a:avLst/>
          </a:prstGeom>
          <a:solidFill>
            <a:srgbClr val="3FB950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1430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97280" y="1143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14" name="Text 9"/>
          <p:cNvSpPr/>
          <p:nvPr/>
        </p:nvSpPr>
        <p:spPr>
          <a:xfrm>
            <a:off x="640080" y="1645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TO COPILOT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640080" y="1920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40080" y="21945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with the basics: ghost text, Chat, and prompt fundamentals.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2697480"/>
            <a:ext cx="640080" cy="201168"/>
          </a:xfrm>
          <a:prstGeom prst="rectangle">
            <a:avLst/>
          </a:prstGeom>
          <a:solidFill>
            <a:srgbClr val="3FB950">
              <a:alpha val="30000"/>
            </a:srgbClr>
          </a:solidFill>
          <a:ln/>
        </p:spPr>
      </p:sp>
      <p:sp>
        <p:nvSpPr>
          <p:cNvPr id="18" name="Text 13"/>
          <p:cNvSpPr/>
          <p:nvPr/>
        </p:nvSpPr>
        <p:spPr>
          <a:xfrm>
            <a:off x="640080" y="269748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800" dirty="0"/>
          </a:p>
        </p:txBody>
      </p:sp>
      <p:sp>
        <p:nvSpPr>
          <p:cNvPr id="19" name="Text 14"/>
          <p:cNvSpPr/>
          <p:nvPr/>
        </p:nvSpPr>
        <p:spPr>
          <a:xfrm>
            <a:off x="640080" y="29718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Getting Started with GitHub Copilot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Create Applications with Copilot CLI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Customize Your Copilot Experience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640080" y="4023360"/>
            <a:ext cx="822960" cy="201168"/>
          </a:xfrm>
          <a:prstGeom prst="rectangle">
            <a:avLst/>
          </a:prstGeom>
          <a:solidFill>
            <a:srgbClr val="3FB950">
              <a:alpha val="30000"/>
            </a:srgbClr>
          </a:solidFill>
          <a:ln/>
        </p:spPr>
      </p:sp>
      <p:sp>
        <p:nvSpPr>
          <p:cNvPr id="21" name="Text 16"/>
          <p:cNvSpPr/>
          <p:nvPr/>
        </p:nvSpPr>
        <p:spPr>
          <a:xfrm>
            <a:off x="640080" y="40233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</a:t>
            </a:r>
            <a:endParaRPr lang="en-US" sz="800" dirty="0"/>
          </a:p>
        </p:txBody>
      </p:sp>
      <p:sp>
        <p:nvSpPr>
          <p:cNvPr id="22" name="Text 17"/>
          <p:cNvSpPr/>
          <p:nvPr/>
        </p:nvSpPr>
        <p:spPr>
          <a:xfrm>
            <a:off x="640080" y="4297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Fundamentals Part 1 (full path)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Prompt Engineering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Copilot Across Environments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640080" y="5394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 if Copilot is new to your team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4297680" y="914400"/>
            <a:ext cx="3474720" cy="4892040"/>
          </a:xfrm>
          <a:prstGeom prst="rectangle">
            <a:avLst/>
          </a:prstGeom>
          <a:solidFill>
            <a:srgbClr val="2D1B00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4297680" y="914400"/>
            <a:ext cx="3474720" cy="45720"/>
          </a:xfrm>
          <a:prstGeom prst="rectangle">
            <a:avLst/>
          </a:prstGeom>
          <a:solidFill>
            <a:srgbClr val="D2992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1143000"/>
            <a:ext cx="365760" cy="36576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4937760" y="1143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28" name="Text 22"/>
          <p:cNvSpPr/>
          <p:nvPr/>
        </p:nvSpPr>
        <p:spPr>
          <a:xfrm>
            <a:off x="4480560" y="1645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USING COPILOT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4480560" y="1920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Up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4480560" y="21945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into agentic workflows, MCP, and advanced features.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480560" y="2697480"/>
            <a:ext cx="640080" cy="201168"/>
          </a:xfrm>
          <a:prstGeom prst="rectangle">
            <a:avLst/>
          </a:prstGeom>
          <a:solidFill>
            <a:srgbClr val="D29922">
              <a:alpha val="30000"/>
            </a:srgbClr>
          </a:solidFill>
          <a:ln/>
        </p:spPr>
      </p:sp>
      <p:sp>
        <p:nvSpPr>
          <p:cNvPr id="32" name="Text 26"/>
          <p:cNvSpPr/>
          <p:nvPr/>
        </p:nvSpPr>
        <p:spPr>
          <a:xfrm>
            <a:off x="4480560" y="269748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800" dirty="0"/>
          </a:p>
        </p:txBody>
      </p:sp>
      <p:sp>
        <p:nvSpPr>
          <p:cNvPr id="33" name="Text 27"/>
          <p:cNvSpPr/>
          <p:nvPr/>
        </p:nvSpPr>
        <p:spPr>
          <a:xfrm>
            <a:off x="4480560" y="29718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Build Applications w/ Agent Mode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Expand Your Team with Copilot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Integrate MCP with Copilot</a:t>
            </a:r>
            <a:endParaRPr lang="en-US" sz="900" dirty="0"/>
          </a:p>
        </p:txBody>
      </p:sp>
      <p:sp>
        <p:nvSpPr>
          <p:cNvPr id="34" name="Shape 28"/>
          <p:cNvSpPr/>
          <p:nvPr/>
        </p:nvSpPr>
        <p:spPr>
          <a:xfrm>
            <a:off x="4480560" y="4023360"/>
            <a:ext cx="822960" cy="201168"/>
          </a:xfrm>
          <a:prstGeom prst="rectangle">
            <a:avLst/>
          </a:prstGeom>
          <a:solidFill>
            <a:srgbClr val="D29922">
              <a:alpha val="30000"/>
            </a:srgbClr>
          </a:solidFill>
          <a:ln/>
        </p:spPr>
      </p:sp>
      <p:sp>
        <p:nvSpPr>
          <p:cNvPr id="35" name="Text 29"/>
          <p:cNvSpPr/>
          <p:nvPr/>
        </p:nvSpPr>
        <p:spPr>
          <a:xfrm>
            <a:off x="4480560" y="40233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</a:t>
            </a:r>
            <a:endParaRPr lang="en-US" sz="800" dirty="0"/>
          </a:p>
        </p:txBody>
      </p:sp>
      <p:sp>
        <p:nvSpPr>
          <p:cNvPr id="36" name="Text 30"/>
          <p:cNvSpPr/>
          <p:nvPr/>
        </p:nvSpPr>
        <p:spPr>
          <a:xfrm>
            <a:off x="4480560" y="4297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Fundamentals Part 2 (full path)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Copilot Coding Agent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GitHub MCP Server</a:t>
            </a:r>
            <a:endParaRPr lang="en-US" sz="900" dirty="0"/>
          </a:p>
        </p:txBody>
      </p:sp>
      <p:sp>
        <p:nvSpPr>
          <p:cNvPr id="37" name="Text 31"/>
          <p:cNvSpPr/>
          <p:nvPr/>
        </p:nvSpPr>
        <p:spPr>
          <a:xfrm>
            <a:off x="4480560" y="5394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teams already using ghost text and Chat</a:t>
            </a:r>
            <a:endParaRPr lang="en-US" sz="800" dirty="0"/>
          </a:p>
        </p:txBody>
      </p:sp>
      <p:sp>
        <p:nvSpPr>
          <p:cNvPr id="38" name="Shape 32"/>
          <p:cNvSpPr/>
          <p:nvPr/>
        </p:nvSpPr>
        <p:spPr>
          <a:xfrm>
            <a:off x="8138160" y="914400"/>
            <a:ext cx="3474720" cy="4892040"/>
          </a:xfrm>
          <a:prstGeom prst="rectangle">
            <a:avLst/>
          </a:prstGeom>
          <a:solidFill>
            <a:srgbClr val="3D1214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9" name="Shape 33"/>
          <p:cNvSpPr/>
          <p:nvPr/>
        </p:nvSpPr>
        <p:spPr>
          <a:xfrm>
            <a:off x="8138160" y="914400"/>
            <a:ext cx="3474720" cy="45720"/>
          </a:xfrm>
          <a:prstGeom prst="rectangle">
            <a:avLst/>
          </a:prstGeom>
          <a:solidFill>
            <a:srgbClr val="F85149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6760" y="1143000"/>
            <a:ext cx="365760" cy="365760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8778240" y="1143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42" name="Text 35"/>
          <p:cNvSpPr/>
          <p:nvPr/>
        </p:nvSpPr>
        <p:spPr>
          <a:xfrm>
            <a:off x="8321040" y="1645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 / ADMIN</a:t>
            </a:r>
            <a:endParaRPr lang="en-US" sz="1300" dirty="0"/>
          </a:p>
        </p:txBody>
      </p:sp>
      <p:sp>
        <p:nvSpPr>
          <p:cNvPr id="43" name="Text 36"/>
          <p:cNvSpPr/>
          <p:nvPr/>
        </p:nvSpPr>
        <p:spPr>
          <a:xfrm>
            <a:off x="8321040" y="1920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 &amp; Scale</a:t>
            </a:r>
            <a:endParaRPr lang="en-US" sz="1600" dirty="0"/>
          </a:p>
        </p:txBody>
      </p:sp>
      <p:sp>
        <p:nvSpPr>
          <p:cNvPr id="44" name="Text 37"/>
          <p:cNvSpPr/>
          <p:nvPr/>
        </p:nvSpPr>
        <p:spPr>
          <a:xfrm>
            <a:off x="8321040" y="21945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controls, code review automation, and knowledge scaling.</a:t>
            </a:r>
            <a:endParaRPr lang="en-US" sz="1000" dirty="0"/>
          </a:p>
        </p:txBody>
      </p:sp>
      <p:sp>
        <p:nvSpPr>
          <p:cNvPr id="45" name="Shape 38"/>
          <p:cNvSpPr/>
          <p:nvPr/>
        </p:nvSpPr>
        <p:spPr>
          <a:xfrm>
            <a:off x="8321040" y="2697480"/>
            <a:ext cx="640080" cy="201168"/>
          </a:xfrm>
          <a:prstGeom prst="rectangle">
            <a:avLst/>
          </a:prstGeom>
          <a:solidFill>
            <a:srgbClr val="F85149">
              <a:alpha val="30000"/>
            </a:srgbClr>
          </a:solidFill>
          <a:ln/>
        </p:spPr>
      </p:sp>
      <p:sp>
        <p:nvSpPr>
          <p:cNvPr id="46" name="Text 39"/>
          <p:cNvSpPr/>
          <p:nvPr/>
        </p:nvSpPr>
        <p:spPr>
          <a:xfrm>
            <a:off x="8321040" y="269748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800" dirty="0"/>
          </a:p>
        </p:txBody>
      </p:sp>
      <p:sp>
        <p:nvSpPr>
          <p:cNvPr id="47" name="Text 40"/>
          <p:cNvSpPr/>
          <p:nvPr/>
        </p:nvSpPr>
        <p:spPr>
          <a:xfrm>
            <a:off x="8321040" y="29718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Copilot Code Review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Scale Knowledge Using Copilot Spaces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Modernize Legacy Code with Copilot</a:t>
            </a:r>
            <a:endParaRPr lang="en-US" sz="900" dirty="0"/>
          </a:p>
        </p:txBody>
      </p:sp>
      <p:sp>
        <p:nvSpPr>
          <p:cNvPr id="48" name="Shape 41"/>
          <p:cNvSpPr/>
          <p:nvPr/>
        </p:nvSpPr>
        <p:spPr>
          <a:xfrm>
            <a:off x="8321040" y="4023360"/>
            <a:ext cx="822960" cy="201168"/>
          </a:xfrm>
          <a:prstGeom prst="rectangle">
            <a:avLst/>
          </a:prstGeom>
          <a:solidFill>
            <a:srgbClr val="F85149">
              <a:alpha val="30000"/>
            </a:srgbClr>
          </a:solidFill>
          <a:ln/>
        </p:spPr>
      </p:sp>
      <p:sp>
        <p:nvSpPr>
          <p:cNvPr id="49" name="Text 42"/>
          <p:cNvSpPr/>
          <p:nvPr/>
        </p:nvSpPr>
        <p:spPr>
          <a:xfrm>
            <a:off x="8321040" y="40233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</a:t>
            </a:r>
            <a:endParaRPr lang="en-US" sz="800" dirty="0"/>
          </a:p>
        </p:txBody>
      </p:sp>
      <p:sp>
        <p:nvSpPr>
          <p:cNvPr id="50" name="Text 43"/>
          <p:cNvSpPr/>
          <p:nvPr/>
        </p:nvSpPr>
        <p:spPr>
          <a:xfrm>
            <a:off x="8321040" y="4297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Responsible AI with GitHub Copilot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Management and Customization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Code Review with Copilot</a:t>
            </a:r>
            <a:endParaRPr lang="en-US" sz="900" dirty="0"/>
          </a:p>
        </p:txBody>
      </p:sp>
      <p:sp>
        <p:nvSpPr>
          <p:cNvPr id="51" name="Text 44"/>
          <p:cNvSpPr/>
          <p:nvPr/>
        </p:nvSpPr>
        <p:spPr>
          <a:xfrm>
            <a:off x="8321040" y="5394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governance, rollout, and enterprise adoption</a:t>
            </a:r>
            <a:endParaRPr lang="en-US" sz="800" dirty="0"/>
          </a:p>
        </p:txBody>
      </p:sp>
      <p:sp>
        <p:nvSpPr>
          <p:cNvPr id="52" name="Text 45"/>
          <p:cNvSpPr/>
          <p:nvPr/>
        </p:nvSpPr>
        <p:spPr>
          <a:xfrm>
            <a:off x="457200" y="640080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resources: learn.github.com/skills  |  learn.microsoft.com/training/paths/copilot/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angle">
            <a:avLst/>
          </a:prstGeom>
          <a:solidFill>
            <a:srgbClr val="2F81F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4S Prompting Framework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Crafting for GitHub Copilot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412480" y="137160"/>
            <a:ext cx="3474720" cy="274320"/>
          </a:xfrm>
          <a:prstGeom prst="rectangle">
            <a:avLst/>
          </a:prstGeom>
          <a:solidFill>
            <a:srgbClr val="3FB950">
              <a:alpha val="2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412480" y="137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1: FOUNDATIONAL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868680"/>
            <a:ext cx="5394960" cy="2788920"/>
          </a:xfrm>
          <a:prstGeom prst="rectangle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868680"/>
            <a:ext cx="36576" cy="2788920"/>
          </a:xfrm>
          <a:prstGeom prst="rectangle">
            <a:avLst/>
          </a:prstGeom>
          <a:solidFill>
            <a:srgbClr val="2F81F7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005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</a:t>
            </a:r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One task, one prompt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" y="146304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complex requests into atomic tasks.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"Add OAuth, write tests, update README"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"Add OAuth2 login using passport for Express"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Foundation for Agent Mode decomposition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989320" y="868680"/>
            <a:ext cx="5394960" cy="2788920"/>
          </a:xfrm>
          <a:prstGeom prst="rectangle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89320" y="868680"/>
            <a:ext cx="36576" cy="2788920"/>
          </a:xfrm>
          <a:prstGeom prst="rectangle">
            <a:avLst/>
          </a:prstGeom>
          <a:solidFill>
            <a:srgbClr val="2F81F7"/>
          </a:solidFill>
          <a:ln/>
        </p:spPr>
      </p:sp>
      <p:sp>
        <p:nvSpPr>
          <p:cNvPr id="13" name="Text 11"/>
          <p:cNvSpPr/>
          <p:nvPr/>
        </p:nvSpPr>
        <p:spPr>
          <a:xfrm>
            <a:off x="6172200" y="1005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</a:t>
            </a:r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Define constraints and versions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172200" y="146304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exact libraries, versions, and patterns.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"Connect to the database"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"Create a PostgreSQL 16 pool via pg-pool, SSL on"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Drives precision in Knowledge Base queries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794760"/>
            <a:ext cx="5394960" cy="2788920"/>
          </a:xfrm>
          <a:prstGeom prst="rectangle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794760"/>
            <a:ext cx="36576" cy="2788920"/>
          </a:xfrm>
          <a:prstGeom prst="rectangle">
            <a:avLst/>
          </a:prstGeom>
          <a:solidFill>
            <a:srgbClr val="2F81F7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931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</a:t>
            </a:r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Protect the context window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0080" y="438912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points over paragraphs. Concise = focused output.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"I need a function that filters users by age, sorts by name..."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"Filter users: age &gt; 25, sort name, limit 10"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Maximizes Copilot’s extended context window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989320" y="3794760"/>
            <a:ext cx="5394960" cy="2788920"/>
          </a:xfrm>
          <a:prstGeom prst="rectangle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989320" y="3794760"/>
            <a:ext cx="36576" cy="2788920"/>
          </a:xfrm>
          <a:prstGeom prst="rectangle">
            <a:avLst/>
          </a:prstGeom>
          <a:solidFill>
            <a:srgbClr val="2F81F7"/>
          </a:solidFill>
          <a:ln/>
        </p:spPr>
      </p:sp>
      <p:sp>
        <p:nvSpPr>
          <p:cNvPr id="21" name="Text 19"/>
          <p:cNvSpPr/>
          <p:nvPr/>
        </p:nvSpPr>
        <p:spPr>
          <a:xfrm>
            <a:off x="6172200" y="3931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SURROUND</a:t>
            </a:r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Ground the AI with open files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172200" y="438912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reads your Active File + Open Tabs for context.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Only target file open — Copilot guesses types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types.ts + config.ts + target.ts all open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Precursor to Copilot Spaces orchestration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angle">
            <a:avLst/>
          </a:prstGeom>
          <a:solidFill>
            <a:srgbClr val="2F81F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Learning Path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Resources for GitHub Copilot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412480" y="137160"/>
            <a:ext cx="3474720" cy="274320"/>
          </a:xfrm>
          <a:prstGeom prst="rectangle">
            <a:avLst/>
          </a:prstGeom>
          <a:solidFill>
            <a:srgbClr val="2F81F7">
              <a:alpha val="2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412480" y="137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ZONES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868680"/>
            <a:ext cx="5394960" cy="5166360"/>
          </a:xfrm>
          <a:prstGeom prst="rectangle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868680"/>
            <a:ext cx="5394960" cy="36576"/>
          </a:xfrm>
          <a:prstGeom prst="rectangle">
            <a:avLst/>
          </a:prstGeom>
          <a:solidFill>
            <a:srgbClr val="3FB95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0058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SKILLS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Hands-on Labs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132588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Interactive, in-repo exercises on github.com/skills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85800" y="1645920"/>
            <a:ext cx="493776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Getting Started with GitHub Copilot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Build Applications w/ Copilot Agent Mode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Create Applications with Copilot CLI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Expand Your Team with Copilot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Copilot Code Review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Scale Knowledge Using Copilot Spaces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Integrate MCP with Copilot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Customize Your Copilot Experience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Modernize Legacy Code with Copilot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Create AI-Powered Actions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89320" y="868680"/>
            <a:ext cx="5394960" cy="5166360"/>
          </a:xfrm>
          <a:prstGeom prst="rectangle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89320" y="868680"/>
            <a:ext cx="5394960" cy="36576"/>
          </a:xfrm>
          <a:prstGeom prst="rectangle">
            <a:avLst/>
          </a:prstGeom>
          <a:solidFill>
            <a:srgbClr val="D29922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10058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LEARN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Structured Modules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0" y="13716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— Foundations &amp; Setup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64592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Responsible AI with GitHub Copilot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Prompt Engineering with GitHub Copilot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Introduction to Copilot Spaces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Create Unit Tests with Copilot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GitHub Copilot and Productivity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Copilot Across Environments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Management and Customization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217920" y="38862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Advanced &amp; Agentic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217920" y="41605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Copilot Coding Agent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GitHub MCP Server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Code Review with Copilot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angle">
            <a:avLst/>
          </a:prstGeom>
          <a:solidFill>
            <a:srgbClr val="2F81F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Skills: Foundational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1: Assistive / IDE Editor Level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412480" y="137160"/>
            <a:ext cx="3474720" cy="274320"/>
          </a:xfrm>
          <a:prstGeom prst="rectangle">
            <a:avLst/>
          </a:prstGeom>
          <a:solidFill>
            <a:srgbClr val="3FB950">
              <a:alpha val="2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412480" y="137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1: FOUNDATIONAL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LABS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3520440" cy="4663440"/>
          </a:xfrm>
          <a:prstGeom prst="rectangle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143000"/>
            <a:ext cx="3520440" cy="45720"/>
          </a:xfrm>
          <a:prstGeom prst="rectangle">
            <a:avLst/>
          </a:prstGeom>
          <a:solidFill>
            <a:srgbClr val="3FB950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3716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 with GitHub Copilot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19659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entry point. Learn code completion, ghost text suggestions, and basic Copilot Chat interactions in your IDE.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24612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85800" y="34747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Workflow → Ghost Text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" y="53035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B4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github.com/skills/getting-started-with-github-copilot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206240" y="1143000"/>
            <a:ext cx="3520440" cy="4663440"/>
          </a:xfrm>
          <a:prstGeom prst="rectangle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206240" y="1143000"/>
            <a:ext cx="3520440" cy="45720"/>
          </a:xfrm>
          <a:prstGeom prst="rectangl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4434840" y="13716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Applications with Copilot CLI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434840" y="19659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GitHub Copilot in the terminal to manage issues and build a Node.js calculator application.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34840" y="324612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434840" y="34747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&amp; SDK → Command Suggestion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434840" y="53035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B4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github.com/skills/create-applications-with-the-copilot-cli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955280" y="1143000"/>
            <a:ext cx="3520440" cy="4663440"/>
          </a:xfrm>
          <a:prstGeom prst="rectangle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955280" y="1143000"/>
            <a:ext cx="3520440" cy="45720"/>
          </a:xfrm>
          <a:prstGeom prst="rectangle">
            <a:avLst/>
          </a:prstGeom>
          <a:solidFill>
            <a:srgbClr val="3FB950"/>
          </a:solidFill>
          <a:ln/>
        </p:spPr>
      </p:sp>
      <p:sp>
        <p:nvSpPr>
          <p:cNvPr id="24" name="Text 22"/>
          <p:cNvSpPr/>
          <p:nvPr/>
        </p:nvSpPr>
        <p:spPr>
          <a:xfrm>
            <a:off x="8183880" y="13716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Customize Your Copilot Experience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183880" y="19659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custom instructions, prompts, and chat modes for your specific development workflows.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183880" y="324612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183880" y="34747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Workflow → Chat &amp; Workspace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183880" y="53035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B4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github.com/skills/customize-your-github-copilot-experience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angle">
            <a:avLst/>
          </a:prstGeom>
          <a:solidFill>
            <a:srgbClr val="2F81F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Skills: Intermediate → Advanced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Zones 2–3: Collaborative &amp; Agentic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412480" y="137160"/>
            <a:ext cx="3474720" cy="274320"/>
          </a:xfrm>
          <a:prstGeom prst="rectangle">
            <a:avLst/>
          </a:prstGeom>
          <a:solidFill>
            <a:srgbClr val="D29922">
              <a:alpha val="2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412480" y="137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ZONES 2–3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868680"/>
            <a:ext cx="2606040" cy="2286000"/>
          </a:xfrm>
          <a:prstGeom prst="rectangle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868680"/>
            <a:ext cx="2606040" cy="36576"/>
          </a:xfrm>
          <a:prstGeom prst="rectangle">
            <a:avLst/>
          </a:prstGeom>
          <a:solidFill>
            <a:srgbClr val="F85149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005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Mode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13716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applications using Copilot Agent Mode with autonomous plan-act-review loops.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8892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3: Agentic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246120" y="868680"/>
            <a:ext cx="2606040" cy="2286000"/>
          </a:xfrm>
          <a:prstGeom prst="rectangle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46120" y="868680"/>
            <a:ext cx="2606040" cy="36576"/>
          </a:xfrm>
          <a:prstGeom prst="rectangle">
            <a:avLst/>
          </a:prstGeom>
          <a:solidFill>
            <a:srgbClr val="F85149"/>
          </a:solidFill>
          <a:ln/>
        </p:spPr>
      </p:sp>
      <p:sp>
        <p:nvSpPr>
          <p:cNvPr id="14" name="Text 12"/>
          <p:cNvSpPr/>
          <p:nvPr/>
        </p:nvSpPr>
        <p:spPr>
          <a:xfrm>
            <a:off x="3429000" y="1005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Agent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29000" y="13716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Copilot coding agent tackle issues directly on GitHub. No IDE needed.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9000" y="278892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3: Agentic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035040" y="868680"/>
            <a:ext cx="2606040" cy="2286000"/>
          </a:xfrm>
          <a:prstGeom prst="rectangle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35040" y="868680"/>
            <a:ext cx="2606040" cy="36576"/>
          </a:xfrm>
          <a:prstGeom prst="rectangle">
            <a:avLst/>
          </a:prstGeom>
          <a:solidFill>
            <a:srgbClr val="F85149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0" y="1005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17920" y="13716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Copilot code review to promote quality and catch issues before production.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217920" y="278892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3: Enterprise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8823960" y="868680"/>
            <a:ext cx="2606040" cy="2286000"/>
          </a:xfrm>
          <a:prstGeom prst="rectangle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823960" y="868680"/>
            <a:ext cx="2606040" cy="36576"/>
          </a:xfrm>
          <a:prstGeom prst="rectangle">
            <a:avLst/>
          </a:prstGeom>
          <a:solidFill>
            <a:srgbClr val="D29922"/>
          </a:solidFill>
          <a:ln/>
        </p:spPr>
      </p:sp>
      <p:sp>
        <p:nvSpPr>
          <p:cNvPr id="24" name="Text 22"/>
          <p:cNvSpPr/>
          <p:nvPr/>
        </p:nvSpPr>
        <p:spPr>
          <a:xfrm>
            <a:off x="9006840" y="1005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Spaces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006840" y="13716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institutional knowledge and streamline organizational processes with Spaces.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006840" y="278892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2–3: Enterprise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57200" y="3383280"/>
            <a:ext cx="3520440" cy="2286000"/>
          </a:xfrm>
          <a:prstGeom prst="rectangle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" y="3383280"/>
            <a:ext cx="3520440" cy="36576"/>
          </a:xfrm>
          <a:prstGeom prst="rectangle">
            <a:avLst/>
          </a:prstGeom>
          <a:solidFill>
            <a:srgbClr val="F85149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52044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Integration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0080" y="388620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how to use MCP Servers with GitHub Copilot to extend its capabilities with external tools.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" y="530352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3: Extensions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06240" y="3383280"/>
            <a:ext cx="3520440" cy="2286000"/>
          </a:xfrm>
          <a:prstGeom prst="rectangle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206240" y="3383280"/>
            <a:ext cx="3520440" cy="36576"/>
          </a:xfrm>
          <a:prstGeom prst="rectangle">
            <a:avLst/>
          </a:prstGeom>
          <a:solidFill>
            <a:srgbClr val="F85149"/>
          </a:solidFill>
          <a:ln/>
        </p:spPr>
      </p:sp>
      <p:sp>
        <p:nvSpPr>
          <p:cNvPr id="34" name="Text 32"/>
          <p:cNvSpPr/>
          <p:nvPr/>
        </p:nvSpPr>
        <p:spPr>
          <a:xfrm>
            <a:off x="4389120" y="352044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Modernization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389120" y="388620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Modernize a legacy COBOL accounting system to Node.js with Copilot assistance.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389120" y="530352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3: Modernization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7955280" y="3383280"/>
            <a:ext cx="3520440" cy="2286000"/>
          </a:xfrm>
          <a:prstGeom prst="rectangle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955280" y="3383280"/>
            <a:ext cx="3520440" cy="36576"/>
          </a:xfrm>
          <a:prstGeom prst="rectangle">
            <a:avLst/>
          </a:prstGeom>
          <a:solidFill>
            <a:srgbClr val="D29922"/>
          </a:solidFill>
          <a:ln/>
        </p:spPr>
      </p:sp>
      <p:sp>
        <p:nvSpPr>
          <p:cNvPr id="39" name="Text 37"/>
          <p:cNvSpPr/>
          <p:nvPr/>
        </p:nvSpPr>
        <p:spPr>
          <a:xfrm>
            <a:off x="8138160" y="352044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Actions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138160" y="388620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intelligent GitHub Actions that leverage GitHub Models for AI in CI/CD.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138160" y="530352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2–3: Extensions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angle">
            <a:avLst/>
          </a:prstGeom>
          <a:solidFill>
            <a:srgbClr val="2F81F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Fundamentals Part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&amp; Concepts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412480" y="137160"/>
            <a:ext cx="3474720" cy="274320"/>
          </a:xfrm>
          <a:prstGeom prst="rectangle">
            <a:avLst/>
          </a:prstGeom>
          <a:solidFill>
            <a:srgbClr val="3FB950">
              <a:alpha val="2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412480" y="137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1: FOUNDATIONAL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10972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learn.microsoft.com/training/paths/copilot/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051560"/>
            <a:ext cx="10607040" cy="621792"/>
          </a:xfrm>
          <a:prstGeom prst="rectangle">
            <a:avLst/>
          </a:prstGeom>
          <a:solidFill>
            <a:srgbClr val="161B2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051560"/>
            <a:ext cx="36576" cy="621792"/>
          </a:xfrm>
          <a:prstGeom prst="rectangle">
            <a:avLst/>
          </a:prstGeom>
          <a:solidFill>
            <a:srgbClr val="3FB950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051560"/>
            <a:ext cx="411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11247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with GitHub Copilot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1371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AI use, risk mitigation, and operational safety considerations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601200" y="1207008"/>
            <a:ext cx="1280160" cy="274320"/>
          </a:xfrm>
          <a:prstGeom prst="rectangle">
            <a:avLst/>
          </a:prstGeom>
          <a:solidFill>
            <a:srgbClr val="3FB950">
              <a:alpha val="2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0" y="12070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57200" y="1746504"/>
            <a:ext cx="10607040" cy="621792"/>
          </a:xfrm>
          <a:prstGeom prst="rectangle">
            <a:avLst/>
          </a:prstGeom>
          <a:solidFill>
            <a:srgbClr val="161B22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1746504"/>
            <a:ext cx="36576" cy="621792"/>
          </a:xfrm>
          <a:prstGeom prst="rectangl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1746504"/>
            <a:ext cx="411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97280" y="181965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with GitHub Copilot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97280" y="206654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principles and best practices for creating effective prompts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601200" y="1901952"/>
            <a:ext cx="1280160" cy="274320"/>
          </a:xfrm>
          <a:prstGeom prst="rectangle">
            <a:avLst/>
          </a:prstGeom>
          <a:solidFill>
            <a:srgbClr val="3FB950">
              <a:alpha val="2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0" y="1901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Workflow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" y="2441448"/>
            <a:ext cx="10607040" cy="621792"/>
          </a:xfrm>
          <a:prstGeom prst="rectangle">
            <a:avLst/>
          </a:prstGeom>
          <a:solidFill>
            <a:srgbClr val="161B22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2441448"/>
            <a:ext cx="36576" cy="621792"/>
          </a:xfrm>
          <a:prstGeom prst="rectangle">
            <a:avLst/>
          </a:prstGeom>
          <a:solidFill>
            <a:srgbClr val="3FB95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441448"/>
            <a:ext cx="411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97280" y="2514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Copilot Spaces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97280" y="27614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Create, configure, and use Spaces for high-quality, grounded responses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601200" y="2596896"/>
            <a:ext cx="1280160" cy="274320"/>
          </a:xfrm>
          <a:prstGeom prst="rectangle">
            <a:avLst/>
          </a:prstGeom>
          <a:solidFill>
            <a:srgbClr val="3FB950">
              <a:alpha val="25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9601200" y="259689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Workflow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57200" y="3136392"/>
            <a:ext cx="10607040" cy="621792"/>
          </a:xfrm>
          <a:prstGeom prst="rectangle">
            <a:avLst/>
          </a:prstGeom>
          <a:solidFill>
            <a:srgbClr val="161B22"/>
          </a:solidFill>
          <a:ln/>
        </p:spPr>
      </p:sp>
      <p:sp>
        <p:nvSpPr>
          <p:cNvPr id="30" name="Shape 28"/>
          <p:cNvSpPr/>
          <p:nvPr/>
        </p:nvSpPr>
        <p:spPr>
          <a:xfrm>
            <a:off x="457200" y="3136392"/>
            <a:ext cx="36576" cy="621792"/>
          </a:xfrm>
          <a:prstGeom prst="rectangle">
            <a:avLst/>
          </a:prstGeom>
          <a:solidFill>
            <a:srgbClr val="3FB950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3136392"/>
            <a:ext cx="411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97280" y="320954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Unit Tests with GitHub Copilot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97280" y="345643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Copilot and Copilot Chat to generate and refine unit tests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9601200" y="3291840"/>
            <a:ext cx="1280160" cy="274320"/>
          </a:xfrm>
          <a:prstGeom prst="rectangle">
            <a:avLst/>
          </a:prstGeom>
          <a:solidFill>
            <a:srgbClr val="3FB950">
              <a:alpha val="25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9601200" y="3291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Workflow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57200" y="3831336"/>
            <a:ext cx="10607040" cy="621792"/>
          </a:xfrm>
          <a:prstGeom prst="rectangle">
            <a:avLst/>
          </a:prstGeom>
          <a:solidFill>
            <a:srgbClr val="161B22"/>
          </a:solidFill>
          <a:ln/>
        </p:spPr>
      </p:sp>
      <p:sp>
        <p:nvSpPr>
          <p:cNvPr id="37" name="Shape 35"/>
          <p:cNvSpPr/>
          <p:nvPr/>
        </p:nvSpPr>
        <p:spPr>
          <a:xfrm>
            <a:off x="457200" y="3831336"/>
            <a:ext cx="36576" cy="621792"/>
          </a:xfrm>
          <a:prstGeom prst="rectangle">
            <a:avLst/>
          </a:prstGeom>
          <a:solidFill>
            <a:srgbClr val="3FB950"/>
          </a:solidFill>
          <a:ln/>
        </p:spPr>
      </p:sp>
      <p:sp>
        <p:nvSpPr>
          <p:cNvPr id="38" name="Text 36"/>
          <p:cNvSpPr/>
          <p:nvPr/>
        </p:nvSpPr>
        <p:spPr>
          <a:xfrm>
            <a:off x="640080" y="3831336"/>
            <a:ext cx="411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097280" y="3904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and Productivity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097280" y="4151376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impact, developer preferences, limitations, and measuring gains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601200" y="3986784"/>
            <a:ext cx="1280160" cy="274320"/>
          </a:xfrm>
          <a:prstGeom prst="rectangle">
            <a:avLst/>
          </a:prstGeom>
          <a:solidFill>
            <a:srgbClr val="3FB950">
              <a:alpha val="25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9601200" y="398678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Foundational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57200" y="4526280"/>
            <a:ext cx="10607040" cy="621792"/>
          </a:xfrm>
          <a:prstGeom prst="rectangle">
            <a:avLst/>
          </a:prstGeom>
          <a:solidFill>
            <a:srgbClr val="161B22"/>
          </a:solidFill>
          <a:ln/>
        </p:spPr>
      </p:sp>
      <p:sp>
        <p:nvSpPr>
          <p:cNvPr id="44" name="Shape 42"/>
          <p:cNvSpPr/>
          <p:nvPr/>
        </p:nvSpPr>
        <p:spPr>
          <a:xfrm>
            <a:off x="457200" y="4526280"/>
            <a:ext cx="36576" cy="621792"/>
          </a:xfrm>
          <a:prstGeom prst="rectangle">
            <a:avLst/>
          </a:prstGeom>
          <a:solidFill>
            <a:srgbClr val="3FB950"/>
          </a:solidFill>
          <a:ln/>
        </p:spPr>
      </p:sp>
      <p:sp>
        <p:nvSpPr>
          <p:cNvPr id="45" name="Text 43"/>
          <p:cNvSpPr/>
          <p:nvPr/>
        </p:nvSpPr>
        <p:spPr>
          <a:xfrm>
            <a:off x="640080" y="4526280"/>
            <a:ext cx="411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097280" y="45994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Across Environments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09728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coding in IDE, Chat, and CLI across development environments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601200" y="4681728"/>
            <a:ext cx="1280160" cy="274320"/>
          </a:xfrm>
          <a:prstGeom prst="rectangle">
            <a:avLst/>
          </a:prstGeom>
          <a:solidFill>
            <a:srgbClr val="3FB950">
              <a:alpha val="25000"/>
            </a:srgbClr>
          </a:solidFill>
          <a:ln/>
        </p:spPr>
      </p:sp>
      <p:sp>
        <p:nvSpPr>
          <p:cNvPr id="49" name="Text 47"/>
          <p:cNvSpPr/>
          <p:nvPr/>
        </p:nvSpPr>
        <p:spPr>
          <a:xfrm>
            <a:off x="9601200" y="46817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Threads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457200" y="5221224"/>
            <a:ext cx="10607040" cy="621792"/>
          </a:xfrm>
          <a:prstGeom prst="rectangle">
            <a:avLst/>
          </a:prstGeom>
          <a:solidFill>
            <a:srgbClr val="161B22"/>
          </a:solidFill>
          <a:ln/>
        </p:spPr>
      </p:sp>
      <p:sp>
        <p:nvSpPr>
          <p:cNvPr id="51" name="Shape 49"/>
          <p:cNvSpPr/>
          <p:nvPr/>
        </p:nvSpPr>
        <p:spPr>
          <a:xfrm>
            <a:off x="457200" y="5221224"/>
            <a:ext cx="36576" cy="621792"/>
          </a:xfrm>
          <a:prstGeom prst="rectangle">
            <a:avLst/>
          </a:prstGeom>
          <a:solidFill>
            <a:srgbClr val="3FB950"/>
          </a:solidFill>
          <a:ln/>
        </p:spPr>
      </p:sp>
      <p:sp>
        <p:nvSpPr>
          <p:cNvPr id="52" name="Text 50"/>
          <p:cNvSpPr/>
          <p:nvPr/>
        </p:nvSpPr>
        <p:spPr>
          <a:xfrm>
            <a:off x="640080" y="5221224"/>
            <a:ext cx="411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1097280" y="5294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and Customization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097280" y="554126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admin controls, content exclusion, and customization options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9601200" y="5376672"/>
            <a:ext cx="1280160" cy="274320"/>
          </a:xfrm>
          <a:prstGeom prst="rectangle">
            <a:avLst/>
          </a:prstGeom>
          <a:solidFill>
            <a:srgbClr val="3FB950">
              <a:alpha val="25000"/>
            </a:srgbClr>
          </a:solidFill>
          <a:ln/>
        </p:spPr>
      </p:sp>
      <p:sp>
        <p:nvSpPr>
          <p:cNvPr id="56" name="Text 54"/>
          <p:cNvSpPr/>
          <p:nvPr/>
        </p:nvSpPr>
        <p:spPr>
          <a:xfrm>
            <a:off x="9601200" y="5376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angle">
            <a:avLst/>
          </a:prstGeom>
          <a:solidFill>
            <a:srgbClr val="2F81F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Fundamentals Part 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&amp; Enterprise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412480" y="137160"/>
            <a:ext cx="3474720" cy="274320"/>
          </a:xfrm>
          <a:prstGeom prst="rectangle">
            <a:avLst/>
          </a:prstGeom>
          <a:solidFill>
            <a:srgbClr val="F85149">
              <a:alpha val="2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412480" y="137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3: ADVANCED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10972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learn.microsoft.com/training/paths/gh-copilot-2/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097280"/>
            <a:ext cx="3520440" cy="4663440"/>
          </a:xfrm>
          <a:prstGeom prst="rectangle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097280"/>
            <a:ext cx="3520440" cy="45720"/>
          </a:xfrm>
          <a:prstGeom prst="rectangle">
            <a:avLst/>
          </a:prstGeom>
          <a:solidFill>
            <a:srgbClr val="F85149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2801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40080" y="17373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Coding Agent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214884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tasks, streamline development, and combine automation with your team expertise for faster outcomes.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01752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TOPICS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329184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Assign issues to Copilot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Track PR sessions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Iterate with @copilot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Environment setup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Responsible-use practices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5303520"/>
            <a:ext cx="3154680" cy="256032"/>
          </a:xfrm>
          <a:prstGeom prst="rectangle">
            <a:avLst/>
          </a:prstGeom>
          <a:solidFill>
            <a:srgbClr val="F85149">
              <a:alpha val="15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530352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3: Agentic Automation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206240" y="1097280"/>
            <a:ext cx="3520440" cy="4663440"/>
          </a:xfrm>
          <a:prstGeom prst="rectangle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206240" y="1097280"/>
            <a:ext cx="3520440" cy="45720"/>
          </a:xfrm>
          <a:prstGeom prst="rectangle">
            <a:avLst/>
          </a:prstGeom>
          <a:solidFill>
            <a:srgbClr val="F85149"/>
          </a:solidFill>
          <a:ln/>
        </p:spPr>
      </p:sp>
      <p:sp>
        <p:nvSpPr>
          <p:cNvPr id="19" name="Text 17"/>
          <p:cNvSpPr/>
          <p:nvPr/>
        </p:nvSpPr>
        <p:spPr>
          <a:xfrm>
            <a:off x="4389120" y="12801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389120" y="17373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MCP Server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389120" y="214884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secure, scalable way to integrate GitHub features into your AI tools via the Model Context Protocol.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389120" y="301752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TOPICS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389120" y="329184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What is MCP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Configure in VS Code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Use with Copilot Chat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Troubleshoot issues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89120" y="5303520"/>
            <a:ext cx="3154680" cy="256032"/>
          </a:xfrm>
          <a:prstGeom prst="rectangle">
            <a:avLst/>
          </a:prstGeom>
          <a:solidFill>
            <a:srgbClr val="F85149">
              <a:alpha val="1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389120" y="530352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3: Extensions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955280" y="1097280"/>
            <a:ext cx="3520440" cy="4663440"/>
          </a:xfrm>
          <a:prstGeom prst="rectangle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955280" y="1097280"/>
            <a:ext cx="3520440" cy="45720"/>
          </a:xfrm>
          <a:prstGeom prst="rectangle">
            <a:avLst/>
          </a:prstGeom>
          <a:solidFill>
            <a:srgbClr val="F85149"/>
          </a:solidFill>
          <a:ln/>
        </p:spPr>
      </p:sp>
      <p:sp>
        <p:nvSpPr>
          <p:cNvPr id="28" name="Text 26"/>
          <p:cNvSpPr/>
          <p:nvPr/>
        </p:nvSpPr>
        <p:spPr>
          <a:xfrm>
            <a:off x="8138160" y="12801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138160" y="17373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138160" y="214884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review cycles, catch issues early, and enforce best practices with AI-assisted code review.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138160" y="301752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TOPICS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138160" y="329184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AI review configuration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Review best practices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Standards enforcement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Team workflow integration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138160" y="5303520"/>
            <a:ext cx="3154680" cy="256032"/>
          </a:xfrm>
          <a:prstGeom prst="rectangle">
            <a:avLst/>
          </a:prstGeom>
          <a:solidFill>
            <a:srgbClr val="F85149">
              <a:alpha val="15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8138160" y="530352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3: Enterprise Knowledge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Copilot Proficiency Orientation Map</dc:title>
  <dc:subject>PptxGenJS Presentation</dc:subject>
  <dc:creator>Steve</dc:creator>
  <cp:lastModifiedBy>Steve</cp:lastModifiedBy>
  <cp:revision>1</cp:revision>
  <dcterms:created xsi:type="dcterms:W3CDTF">2026-04-02T01:45:31Z</dcterms:created>
  <dcterms:modified xsi:type="dcterms:W3CDTF">2026-04-02T01:45:31Z</dcterms:modified>
</cp:coreProperties>
</file>