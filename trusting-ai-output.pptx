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Trusting AI Output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Hallucination to Verification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731520" y="3291840"/>
            <a:ext cx="2286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Workshop  |  April 2026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Enterprise Trust Problem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hallucinations are the #1 barrier to AI adoption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Cost of Hallucinations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71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enterprise pilots stall due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trust concerns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118872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1371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56616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single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high-profile AI error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5603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188720"/>
            <a:ext cx="54864" cy="18288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3716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A90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4×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rebuild trust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to establish 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just wrong answers — it's eroded trust, abandoned pilots, and shadow AI workarounds.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illustrative composites from industry reports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Hallucination Actually Is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18288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don't retrieve facts — they predict plausible next tokens. A model can be highly confident about text that is completely fabricated.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108960"/>
            <a:ext cx="41148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" y="310896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68680" y="35661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≠ Accuracy. The model's certainty about its output has no direct relationship with factual correctness.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303520" y="1188720"/>
            <a:ext cx="338328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57784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577840" y="1691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→ Find fact → Return answer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577840" y="2194560"/>
            <a:ext cx="2834640" cy="18288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17" name="Text 14"/>
          <p:cNvSpPr/>
          <p:nvPr/>
        </p:nvSpPr>
        <p:spPr>
          <a:xfrm>
            <a:off x="557784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57784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prompt → Predict likely tokens → Construct plausible text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577840" y="3291840"/>
            <a:ext cx="2834640" cy="18288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20" name="Text 17"/>
          <p:cNvSpPr/>
          <p:nvPr/>
        </p:nvSpPr>
        <p:spPr>
          <a:xfrm>
            <a:off x="55778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"Plausible" ≠ "True"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optimises for coherence, not correctness.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Taxonomy of Failure Modes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128016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Fabricated Facts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3444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Invents citations, statistics, or events that never existed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18872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18872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173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371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Attribution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44068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real statements to the wrong source or context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283464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8640" y="2834640"/>
            <a:ext cx="54864" cy="1280160"/>
          </a:xfrm>
          <a:prstGeom prst="rect">
            <a:avLst/>
          </a:prstGeom>
          <a:solidFill>
            <a:srgbClr val="1A1F3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0632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34440" y="3017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Subtle Drift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234440" y="34290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correct with small inaccuracies mixed in — hardest to catch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754880" y="283464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2834640"/>
            <a:ext cx="54864" cy="128016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0632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40680" y="3017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Confident Nonsense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5440680" y="34290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plausible answers that are entirely wrong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40080" y="4297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which type you're dealing with shapes the prevention strategy.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Hallucinations Bite Hardest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1155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0" y="11155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Level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03520" y="11155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600200"/>
            <a:ext cx="8046720" cy="64008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3000" y="1645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Content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657600" y="1645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303520" y="1645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damage, legal liability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solidFill>
            <a:srgbClr val="E8ECF2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43000" y="2331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Knowledge Retrieval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65760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30352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decisions from bad data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48640" y="2971800"/>
            <a:ext cx="8046720" cy="64008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0896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143000" y="3017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3657600" y="3017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530352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vulnerabilities, subtle bugs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548640" y="3657600"/>
            <a:ext cx="8046720" cy="640080"/>
          </a:xfrm>
          <a:prstGeom prst="rect">
            <a:avLst/>
          </a:prstGeom>
          <a:solidFill>
            <a:srgbClr val="E8ECF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9476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143000" y="3703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Legal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3657600" y="37033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303520" y="37033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violations, fines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640080" y="4297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risk profile determines which prevention techniques to prioritise.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Trust Spectrum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8046720" cy="73152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783080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377440"/>
            <a:ext cx="1828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37744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146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Writes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Assists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Autocomplete, suggestions,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spelling/grammar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1783080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2651760" y="2377440"/>
            <a:ext cx="1828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51760" y="2377440"/>
            <a:ext cx="54864" cy="1645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25146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Drafts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Edits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3464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drafts, summaries,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suggestions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34640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32120" y="1783080"/>
            <a:ext cx="320040" cy="320040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2377440"/>
            <a:ext cx="1828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377440"/>
            <a:ext cx="54864" cy="164592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25146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Writes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Reviews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3776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Reports, emails,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responses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35240" y="1783080"/>
            <a:ext cx="320040" cy="3200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0" y="2377440"/>
            <a:ext cx="1828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8000" y="2377440"/>
            <a:ext cx="54864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8" name="Text 26"/>
          <p:cNvSpPr/>
          <p:nvPr/>
        </p:nvSpPr>
        <p:spPr>
          <a:xfrm>
            <a:off x="7040880" y="25146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Acts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Autonomously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04088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automated decisions,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responses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3703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risk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AUTONOMY 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4389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your workflows on this spectrum? Each level demands different verification.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Prevention Techniques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layers of defence against hallucination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Defence in Depth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technique is sufficient. Layer them like security controls.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06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" cy="2377440"/>
          </a:xfrm>
          <a:prstGeom prst="rect">
            <a:avLst/>
          </a:prstGeom>
          <a:solidFill>
            <a:srgbClr val="4A90D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5740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6060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inputs, ground in sources, structure outputs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29000" y="1828800"/>
            <a:ext cx="2606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29000" y="1828800"/>
            <a:ext cx="54864" cy="23774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05740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1605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57600" y="26060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Self-verification, multi-pass validation, automated checks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309360" y="1828800"/>
            <a:ext cx="2606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309360" y="1828800"/>
            <a:ext cx="54864" cy="23774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0574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0408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537960" y="26060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human-in-the-loop, risk-based review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1: Constrain the Input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less room to improvise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82880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828800"/>
            <a:ext cx="54864" cy="6858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Prompts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743200" y="19202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explicit constraints: "Only answer based on the provided context. If unsure, say so."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265176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2651760"/>
            <a:ext cx="54864" cy="6858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Prompts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743200" y="27432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templates with clear sections. Reduce ambiguity about what's expected.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347472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3474720"/>
            <a:ext cx="54864" cy="6858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3566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Few-Shot Examples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743200" y="35661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model exactly what good output looks like — including how to handle uncertainty.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0080" y="4389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input → Narrower output space → Fewer hallucinations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2: Ground in Source Material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model work from evidence, not memory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828800"/>
            <a:ext cx="41148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1965960"/>
            <a:ext cx="54864" cy="3657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" y="19659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Query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37744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a question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14400" y="2468880"/>
            <a:ext cx="54864" cy="3657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24688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Retrieve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377440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your knowledge base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14400" y="2971800"/>
            <a:ext cx="54864" cy="3657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6" name="Text 13"/>
          <p:cNvSpPr/>
          <p:nvPr/>
        </p:nvSpPr>
        <p:spPr>
          <a:xfrm>
            <a:off x="1143000" y="2971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Augment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37744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relevant docs into prompt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14400" y="3474720"/>
            <a:ext cx="54864" cy="3657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9" name="Text 16"/>
          <p:cNvSpPr/>
          <p:nvPr/>
        </p:nvSpPr>
        <p:spPr>
          <a:xfrm>
            <a:off x="1143000" y="3474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Generate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377440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answers from the context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029200" y="1828800"/>
            <a:ext cx="35661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029200" y="182880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 Requirements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303520" y="2331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the model to cite sources for every claim. If it can't cite, it shouldn't state.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029200" y="3200400"/>
            <a:ext cx="35661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029200" y="3200400"/>
            <a:ext cx="54864" cy="1188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4"/>
          <p:cNvSpPr/>
          <p:nvPr/>
        </p:nvSpPr>
        <p:spPr>
          <a:xfrm>
            <a:off x="5303520" y="3337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Window Management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303520" y="3703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context isn't always better. Curate what you inject — irrelevant context dilutes signal.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3: Structured Output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responses into verifiable shapes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82880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828800"/>
            <a:ext cx="54864" cy="12801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JSON Schemas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68680" y="23774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exact fields and types. Invalid outputs are caught immediately.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828800"/>
            <a:ext cx="54864" cy="12801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1"/>
          <p:cNvSpPr/>
          <p:nvPr/>
        </p:nvSpPr>
        <p:spPr>
          <a:xfrm>
            <a:off x="498348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 Calling / Tool Use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983480" y="23774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must call defined functions with typed parameters. No freeform hallucination.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3383280"/>
            <a:ext cx="79552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3383280"/>
            <a:ext cx="7955280" cy="1097280"/>
          </a:xfrm>
          <a:prstGeom prst="rect">
            <a:avLst/>
          </a:prstGeom>
          <a:solidFill>
            <a:srgbClr val="12152E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35204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"answer": "...", "confidence": 0.92, "sources": ["doc_14", "doc_7"], "caveats": ["..."] }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4: Self-Verification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check its own work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82880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82880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Chain-of-Thought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926080" y="18745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step-by-step reasoning before the final answer. Errors in reasoning are easier to spot than errors in conclusions.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265176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265176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743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Prompts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926080" y="269748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your answer. Are there any claims you're not confident about? Flag them." Models can often identify their own weak points.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3474720"/>
            <a:ext cx="786384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34747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Confidence Scoring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926080" y="352044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rate its confidence per claim. Low-confidence outputs get routed to human review.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20624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96012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but not sufficient alone — models can confidently validate their own hallucinations.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5: Multi-Pass Validation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second call to verify the first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828800"/>
            <a:ext cx="21945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828800"/>
            <a:ext cx="54864" cy="146304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produces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response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108960" y="1828800"/>
            <a:ext cx="21945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108960" y="182880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333756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337560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 reviews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accuracy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577840" y="1828800"/>
            <a:ext cx="21945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77840" y="182880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580644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806440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Pass, flag for review,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regenerate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88036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4A3B8"/>
                </a:solidFill>
              </a:rPr>
              <a:t>→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5349240" y="21945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4A3B8"/>
                </a:solidFill>
              </a:rPr>
              <a:t>→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40080" y="356616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566160"/>
            <a:ext cx="54864" cy="9144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24" name="Text 21"/>
          <p:cNvSpPr/>
          <p:nvPr/>
        </p:nvSpPr>
        <p:spPr>
          <a:xfrm>
            <a:off x="91440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LLM-as-Judge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1440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model evaluates output quality against defined criteria.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754880" y="356616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754880" y="3566160"/>
            <a:ext cx="54864" cy="9144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28" name="Text 25"/>
          <p:cNvSpPr/>
          <p:nvPr/>
        </p:nvSpPr>
        <p:spPr>
          <a:xfrm>
            <a:off x="502920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Cross-Model Verification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02920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different vendor's model as the evaluator to avoid correlated errors.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6: Guardrails and Filters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boring stuff that actually works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828800"/>
            <a:ext cx="3840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828800"/>
            <a:ext cx="54864" cy="1005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 Validation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22860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patterns, schema checks, type validation. Reject malformed responses before they reach users.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840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828800"/>
            <a:ext cx="54864" cy="1005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498348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 Rules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983480" y="22860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checks: valid date ranges, real product codes, known entity names.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3017520"/>
            <a:ext cx="3840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3017520"/>
            <a:ext cx="54864" cy="1005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Blocklists &amp; Allowlists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6868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specific phrases, require certain disclaimers, enforce output boundaries.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54880" y="3017520"/>
            <a:ext cx="3840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754880" y="3017520"/>
            <a:ext cx="54864" cy="1005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498348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Assertion Testing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98348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that run against every output. Treat AI output like code — test it.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0080" y="4297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deterministic checks — they never hallucinate themselves.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 7: Human-in-the-Loop Design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what matters, not everything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1828800"/>
            <a:ext cx="78638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68680" y="2011680"/>
            <a:ext cx="109728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103120" y="19659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56032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75488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summaries, draft suggestions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68680" y="2743200"/>
            <a:ext cx="109728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2743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Risk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103120" y="2697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256032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Spot-check sampling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754880" y="2743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 answers, code reviews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68680" y="3474720"/>
            <a:ext cx="109728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10312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2560320" y="3474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human review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754880" y="3474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comms, legal, compliance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Layering It Together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pipeline applies multiple techniques at each stage: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1554480" cy="4572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286000"/>
            <a:ext cx="1554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377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examples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template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74520" y="1737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03120" y="1737360"/>
            <a:ext cx="1554480" cy="4572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3" name="Text 11"/>
          <p:cNvSpPr/>
          <p:nvPr/>
        </p:nvSpPr>
        <p:spPr>
          <a:xfrm>
            <a:off x="2103120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03120" y="2286000"/>
            <a:ext cx="1554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194560" y="2377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curation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injection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1737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840480" y="1737360"/>
            <a:ext cx="155448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3840480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840480" y="2286000"/>
            <a:ext cx="1554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931920" y="2377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49240" y="1737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577840" y="1737360"/>
            <a:ext cx="155448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5577840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2286000"/>
            <a:ext cx="1554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669280" y="2377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Multi-pass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checks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rules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86600" y="17373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315200" y="1737360"/>
            <a:ext cx="155448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0" y="2286000"/>
            <a:ext cx="1554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06640" y="23774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routing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logging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3977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catches different failure modes. Together, they reduce hallucination risk by orders of magnitude.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These Techniques Work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behind the methods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Constraining Reduces Surface Area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funnel. Each constraint narrows the space of possible outputs.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2560320" cy="1828800"/>
          </a:xfrm>
          <a:prstGeom prst="rect">
            <a:avLst/>
          </a:prstGeom>
          <a:solidFill>
            <a:srgbClr val="EF4444">
              <a:alpha val="15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Constraints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possible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sequences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2377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840480" y="1828800"/>
            <a:ext cx="2011680" cy="1828800"/>
          </a:xfrm>
          <a:prstGeom prst="rect">
            <a:avLst/>
          </a:prstGeom>
          <a:solidFill>
            <a:srgbClr val="F59E0B">
              <a:alpha val="15000"/>
            </a:srgbClr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Prompt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responses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26480" y="2377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949440" y="1828800"/>
            <a:ext cx="1463040" cy="1828800"/>
          </a:xfrm>
          <a:prstGeom prst="rect">
            <a:avLst/>
          </a:prstGeom>
          <a:solidFill>
            <a:srgbClr val="10B981">
              <a:alpha val="15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Grounding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possible outputs = fewer wrong ones. Constraints are your first line of defence.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Grounding Shifts Recall to Extraction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18872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188720"/>
            <a:ext cx="54864" cy="2926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GROUNDING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Task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1945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our refund policy?"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reconstructs answer from training data. May confuse your policy with another company's. High hallucination risk.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840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88720"/>
            <a:ext cx="54864" cy="2926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GROUNDING (RAG)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Extraction Task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0" y="219456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"Based on this document, what is our refund policy?"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finds the answer in provided text. Much harder to fabricate when the source is right there.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25112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is fundamentally more reliable than recall. RAG changes the task, not just the context.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Exploits Model Strengths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are better at evaluating claims than generating them from scratch.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54864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an answer about X"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Open-ended, many degrees of freedom, must construct from learned patterns.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82880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82880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2331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this answer correct given this source?"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Constrained, binary-ish, comparison against evidence. Much simpler cognitive task.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4747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multi-pass validation works: you're giving the model an easier job the second time around. And by using a different model or a different prompt, you get independent verification — correlated errors are less likely.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F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Compound Effect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catches different failure modes. Error rates compound favourably: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7315200" cy="34747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9164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 (no mitigation)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92440" y="1691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error rate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4572000" cy="34747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1945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Structured prompting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49240" y="2194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8–12% error rate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97480"/>
            <a:ext cx="2286000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697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RAG grounding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63240" y="26974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3–5% error rate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1097280" cy="347472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7" name="Text 15"/>
          <p:cNvSpPr/>
          <p:nvPr/>
        </p:nvSpPr>
        <p:spPr>
          <a:xfrm>
            <a:off x="1874520" y="32004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Structured output  —  1–3% error rate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03320"/>
            <a:ext cx="457200" cy="3474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37033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Multi-pass validation  —  &lt;1% error rate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rates — actual numbers depend on your domain and implementation quality.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checks with uncorrelated errors compound multiplicatively. Five imperfect layers beat one perfect one.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15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7373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Is a System,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Prompt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30175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solve hallucination with a single technique.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design systems where hallucination is caught before it matters.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31520" y="4023360"/>
            <a:ext cx="228600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47091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Trusting AI Output: Preventing Hallucinations</dc:title>
  <dc:subject>PptxGenJS Presentation</dc:subject>
  <dc:creator>Steve</dc:creator>
  <cp:lastModifiedBy>Steve</cp:lastModifiedBy>
  <cp:revision>1</cp:revision>
  <dcterms:created xsi:type="dcterms:W3CDTF">2026-04-01T22:58:56Z</dcterms:created>
  <dcterms:modified xsi:type="dcterms:W3CDTF">2026-04-01T22:58:56Z</dcterms:modified>
</cp:coreProperties>
</file>